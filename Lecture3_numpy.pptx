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68"/>
  </p:notesMasterIdLst>
  <p:sldIdLst>
    <p:sldId id="259" r:id="rId5"/>
    <p:sldId id="256" r:id="rId6"/>
    <p:sldId id="307" r:id="rId7"/>
    <p:sldId id="305" r:id="rId8"/>
    <p:sldId id="260" r:id="rId9"/>
    <p:sldId id="348" r:id="rId10"/>
    <p:sldId id="351" r:id="rId11"/>
    <p:sldId id="323" r:id="rId12"/>
    <p:sldId id="341" r:id="rId13"/>
    <p:sldId id="342" r:id="rId14"/>
    <p:sldId id="344" r:id="rId15"/>
    <p:sldId id="343" r:id="rId16"/>
    <p:sldId id="345" r:id="rId17"/>
    <p:sldId id="346" r:id="rId18"/>
    <p:sldId id="347" r:id="rId19"/>
    <p:sldId id="349" r:id="rId20"/>
    <p:sldId id="392" r:id="rId21"/>
    <p:sldId id="350" r:id="rId22"/>
    <p:sldId id="352" r:id="rId23"/>
    <p:sldId id="353" r:id="rId24"/>
    <p:sldId id="354" r:id="rId25"/>
    <p:sldId id="355" r:id="rId26"/>
    <p:sldId id="357" r:id="rId27"/>
    <p:sldId id="356" r:id="rId28"/>
    <p:sldId id="358" r:id="rId29"/>
    <p:sldId id="360" r:id="rId30"/>
    <p:sldId id="359" r:id="rId31"/>
    <p:sldId id="393" r:id="rId32"/>
    <p:sldId id="397" r:id="rId33"/>
    <p:sldId id="361" r:id="rId34"/>
    <p:sldId id="390" r:id="rId35"/>
    <p:sldId id="362" r:id="rId36"/>
    <p:sldId id="363" r:id="rId37"/>
    <p:sldId id="391" r:id="rId38"/>
    <p:sldId id="394" r:id="rId39"/>
    <p:sldId id="364" r:id="rId40"/>
    <p:sldId id="365" r:id="rId41"/>
    <p:sldId id="366" r:id="rId42"/>
    <p:sldId id="368" r:id="rId43"/>
    <p:sldId id="395" r:id="rId44"/>
    <p:sldId id="387" r:id="rId45"/>
    <p:sldId id="367" r:id="rId46"/>
    <p:sldId id="369" r:id="rId47"/>
    <p:sldId id="370" r:id="rId48"/>
    <p:sldId id="396" r:id="rId49"/>
    <p:sldId id="388" r:id="rId50"/>
    <p:sldId id="371" r:id="rId51"/>
    <p:sldId id="372" r:id="rId52"/>
    <p:sldId id="373" r:id="rId53"/>
    <p:sldId id="374" r:id="rId54"/>
    <p:sldId id="375" r:id="rId55"/>
    <p:sldId id="378" r:id="rId56"/>
    <p:sldId id="377" r:id="rId57"/>
    <p:sldId id="379" r:id="rId58"/>
    <p:sldId id="389" r:id="rId59"/>
    <p:sldId id="380" r:id="rId60"/>
    <p:sldId id="381" r:id="rId61"/>
    <p:sldId id="382" r:id="rId62"/>
    <p:sldId id="383" r:id="rId63"/>
    <p:sldId id="386" r:id="rId64"/>
    <p:sldId id="376" r:id="rId65"/>
    <p:sldId id="384" r:id="rId66"/>
    <p:sldId id="264" r:id="rId67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Verwaeren" initials="JV" lastIdx="1" clrIdx="0">
    <p:extLst>
      <p:ext uri="{19B8F6BF-5375-455C-9EA6-DF929625EA0E}">
        <p15:presenceInfo xmlns:p15="http://schemas.microsoft.com/office/powerpoint/2012/main" userId="S-1-5-21-4030456262-320625612-449655040-99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FF3300"/>
    <a:srgbClr val="FF0000"/>
    <a:srgbClr val="1E64C8"/>
    <a:srgbClr val="BFBFBF"/>
    <a:srgbClr val="669900"/>
    <a:srgbClr val="99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69D21-57C1-40E7-B923-F5784D5DA469}" v="102" dt="2025-12-04T12:21:21.522"/>
    <p1510:client id="{842EF97F-21CB-4149-B993-841B1FD34BD6}" v="38" dt="2025-12-04T16:51:17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94" autoAdjust="0"/>
  </p:normalViewPr>
  <p:slideViewPr>
    <p:cSldViewPr snapToGrid="0" showGuides="1">
      <p:cViewPr varScale="1">
        <p:scale>
          <a:sx n="87" d="100"/>
          <a:sy n="87" d="100"/>
        </p:scale>
        <p:origin x="108" y="186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ir Ali Köse" userId="e78592c7-3e25-4a07-a30e-9e5137f59316" providerId="ADAL" clId="{DFD3AC31-B77D-4E39-925D-B2D87BEE52C3}"/>
    <pc:docChg chg="undo custSel modSld">
      <pc:chgData name="Demir Ali Köse" userId="e78592c7-3e25-4a07-a30e-9e5137f59316" providerId="ADAL" clId="{DFD3AC31-B77D-4E39-925D-B2D87BEE52C3}" dt="2025-12-04T12:22:36.178" v="184" actId="729"/>
      <pc:docMkLst>
        <pc:docMk/>
      </pc:docMkLst>
      <pc:sldChg chg="delSp modSp mod">
        <pc:chgData name="Demir Ali Köse" userId="e78592c7-3e25-4a07-a30e-9e5137f59316" providerId="ADAL" clId="{DFD3AC31-B77D-4E39-925D-B2D87BEE52C3}" dt="2025-12-04T11:39:32.308" v="1" actId="6549"/>
        <pc:sldMkLst>
          <pc:docMk/>
          <pc:sldMk cId="3355618083" sldId="256"/>
        </pc:sldMkLst>
        <pc:spChg chg="del">
          <ac:chgData name="Demir Ali Köse" userId="e78592c7-3e25-4a07-a30e-9e5137f59316" providerId="ADAL" clId="{DFD3AC31-B77D-4E39-925D-B2D87BEE52C3}" dt="2025-12-04T11:39:25.937" v="0" actId="478"/>
          <ac:spMkLst>
            <pc:docMk/>
            <pc:sldMk cId="3355618083" sldId="256"/>
            <ac:spMk id="5" creationId="{F2AA4F54-29D1-43C0-881E-A72D595AC235}"/>
          </ac:spMkLst>
        </pc:spChg>
        <pc:spChg chg="mod">
          <ac:chgData name="Demir Ali Köse" userId="e78592c7-3e25-4a07-a30e-9e5137f59316" providerId="ADAL" clId="{DFD3AC31-B77D-4E39-925D-B2D87BEE52C3}" dt="2025-12-04T11:39:32.308" v="1" actId="6549"/>
          <ac:spMkLst>
            <pc:docMk/>
            <pc:sldMk cId="3355618083" sldId="256"/>
            <ac:spMk id="17" creationId="{00000000-0000-0000-0000-000000000000}"/>
          </ac:spMkLst>
        </pc:spChg>
      </pc:sldChg>
      <pc:sldChg chg="modSp mod">
        <pc:chgData name="Demir Ali Köse" userId="e78592c7-3e25-4a07-a30e-9e5137f59316" providerId="ADAL" clId="{DFD3AC31-B77D-4E39-925D-B2D87BEE52C3}" dt="2025-12-04T11:50:20.704" v="10" actId="6549"/>
        <pc:sldMkLst>
          <pc:docMk/>
          <pc:sldMk cId="2760186874" sldId="260"/>
        </pc:sldMkLst>
        <pc:spChg chg="mod">
          <ac:chgData name="Demir Ali Köse" userId="e78592c7-3e25-4a07-a30e-9e5137f59316" providerId="ADAL" clId="{DFD3AC31-B77D-4E39-925D-B2D87BEE52C3}" dt="2025-12-04T11:50:20.704" v="10" actId="6549"/>
          <ac:spMkLst>
            <pc:docMk/>
            <pc:sldMk cId="2760186874" sldId="260"/>
            <ac:spMk id="8" creationId="{00000000-0000-0000-0000-000000000000}"/>
          </ac:spMkLst>
        </pc:spChg>
      </pc:sldChg>
      <pc:sldChg chg="delSp modSp mod">
        <pc:chgData name="Demir Ali Köse" userId="e78592c7-3e25-4a07-a30e-9e5137f59316" providerId="ADAL" clId="{DFD3AC31-B77D-4E39-925D-B2D87BEE52C3}" dt="2025-12-04T11:50:15.386" v="8" actId="20577"/>
        <pc:sldMkLst>
          <pc:docMk/>
          <pc:sldMk cId="1695929721" sldId="305"/>
        </pc:sldMkLst>
        <pc:spChg chg="del">
          <ac:chgData name="Demir Ali Köse" userId="e78592c7-3e25-4a07-a30e-9e5137f59316" providerId="ADAL" clId="{DFD3AC31-B77D-4E39-925D-B2D87BEE52C3}" dt="2025-12-04T11:39:52.613" v="4" actId="478"/>
          <ac:spMkLst>
            <pc:docMk/>
            <pc:sldMk cId="1695929721" sldId="305"/>
            <ac:spMk id="6" creationId="{5001559B-D37F-4D73-86B7-D3433560EC43}"/>
          </ac:spMkLst>
        </pc:spChg>
        <pc:spChg chg="del">
          <ac:chgData name="Demir Ali Köse" userId="e78592c7-3e25-4a07-a30e-9e5137f59316" providerId="ADAL" clId="{DFD3AC31-B77D-4E39-925D-B2D87BEE52C3}" dt="2025-12-04T11:39:54.629" v="6" actId="478"/>
          <ac:spMkLst>
            <pc:docMk/>
            <pc:sldMk cId="1695929721" sldId="305"/>
            <ac:spMk id="9" creationId="{579D49EF-19EE-4371-B152-1B9B022F8D22}"/>
          </ac:spMkLst>
        </pc:spChg>
        <pc:spChg chg="del">
          <ac:chgData name="Demir Ali Köse" userId="e78592c7-3e25-4a07-a30e-9e5137f59316" providerId="ADAL" clId="{DFD3AC31-B77D-4E39-925D-B2D87BEE52C3}" dt="2025-12-04T11:39:42.837" v="2" actId="478"/>
          <ac:spMkLst>
            <pc:docMk/>
            <pc:sldMk cId="1695929721" sldId="305"/>
            <ac:spMk id="10" creationId="{328EB569-7DDD-4800-B2C2-4AC9EF0572CC}"/>
          </ac:spMkLst>
        </pc:spChg>
        <pc:spChg chg="mod">
          <ac:chgData name="Demir Ali Köse" userId="e78592c7-3e25-4a07-a30e-9e5137f59316" providerId="ADAL" clId="{DFD3AC31-B77D-4E39-925D-B2D87BEE52C3}" dt="2025-12-04T11:50:15.386" v="8" actId="20577"/>
          <ac:spMkLst>
            <pc:docMk/>
            <pc:sldMk cId="1695929721" sldId="305"/>
            <ac:spMk id="20" creationId="{8DBD8D0F-2F51-4073-A750-56216B8F3CF6}"/>
          </ac:spMkLst>
        </pc:spChg>
        <pc:picChg chg="del">
          <ac:chgData name="Demir Ali Köse" userId="e78592c7-3e25-4a07-a30e-9e5137f59316" providerId="ADAL" clId="{DFD3AC31-B77D-4E39-925D-B2D87BEE52C3}" dt="2025-12-04T11:39:51.308" v="3" actId="478"/>
          <ac:picMkLst>
            <pc:docMk/>
            <pc:sldMk cId="1695929721" sldId="305"/>
            <ac:picMk id="21" creationId="{B2E0FF34-7617-41DF-8EB3-3665CA12F628}"/>
          </ac:picMkLst>
        </pc:picChg>
        <pc:cxnChg chg="del mod">
          <ac:chgData name="Demir Ali Köse" userId="e78592c7-3e25-4a07-a30e-9e5137f59316" providerId="ADAL" clId="{DFD3AC31-B77D-4E39-925D-B2D87BEE52C3}" dt="2025-12-04T11:39:53.611" v="5" actId="478"/>
          <ac:cxnSpMkLst>
            <pc:docMk/>
            <pc:sldMk cId="1695929721" sldId="305"/>
            <ac:cxnSpMk id="4" creationId="{FD510129-7796-4699-902F-AB05363790D6}"/>
          </ac:cxnSpMkLst>
        </pc:cxnChg>
      </pc:sldChg>
      <pc:sldChg chg="modSp mod">
        <pc:chgData name="Demir Ali Köse" userId="e78592c7-3e25-4a07-a30e-9e5137f59316" providerId="ADAL" clId="{DFD3AC31-B77D-4E39-925D-B2D87BEE52C3}" dt="2025-12-04T11:51:28.243" v="16" actId="20577"/>
        <pc:sldMkLst>
          <pc:docMk/>
          <pc:sldMk cId="1341626124" sldId="323"/>
        </pc:sldMkLst>
        <pc:spChg chg="mod">
          <ac:chgData name="Demir Ali Köse" userId="e78592c7-3e25-4a07-a30e-9e5137f59316" providerId="ADAL" clId="{DFD3AC31-B77D-4E39-925D-B2D87BEE52C3}" dt="2025-12-04T11:51:28.243" v="16" actId="20577"/>
          <ac:spMkLst>
            <pc:docMk/>
            <pc:sldMk cId="1341626124" sldId="323"/>
            <ac:spMk id="3" creationId="{630FFAC3-BE2E-46A5-9453-729499EFD444}"/>
          </ac:spMkLst>
        </pc:spChg>
        <pc:spChg chg="mod">
          <ac:chgData name="Demir Ali Köse" userId="e78592c7-3e25-4a07-a30e-9e5137f59316" providerId="ADAL" clId="{DFD3AC31-B77D-4E39-925D-B2D87BEE52C3}" dt="2025-12-04T11:51:12.358" v="14" actId="20577"/>
          <ac:spMkLst>
            <pc:docMk/>
            <pc:sldMk cId="1341626124" sldId="323"/>
            <ac:spMk id="18" creationId="{4D467E5D-3727-4C34-AF12-71E2B077E384}"/>
          </ac:spMkLst>
        </pc:spChg>
      </pc:sldChg>
      <pc:sldChg chg="modSp">
        <pc:chgData name="Demir Ali Köse" userId="e78592c7-3e25-4a07-a30e-9e5137f59316" providerId="ADAL" clId="{DFD3AC31-B77D-4E39-925D-B2D87BEE52C3}" dt="2025-12-04T11:55:58.146" v="42" actId="20577"/>
        <pc:sldMkLst>
          <pc:docMk/>
          <pc:sldMk cId="3650016285" sldId="347"/>
        </pc:sldMkLst>
        <pc:spChg chg="mod">
          <ac:chgData name="Demir Ali Köse" userId="e78592c7-3e25-4a07-a30e-9e5137f59316" providerId="ADAL" clId="{DFD3AC31-B77D-4E39-925D-B2D87BEE52C3}" dt="2025-12-04T11:55:58.146" v="42" actId="20577"/>
          <ac:spMkLst>
            <pc:docMk/>
            <pc:sldMk cId="3650016285" sldId="347"/>
            <ac:spMk id="20" creationId="{2DABA89B-D081-4CFC-8ABE-B054290667B6}"/>
          </ac:spMkLst>
        </pc:spChg>
      </pc:sldChg>
      <pc:sldChg chg="addSp delSp modSp mod">
        <pc:chgData name="Demir Ali Köse" userId="e78592c7-3e25-4a07-a30e-9e5137f59316" providerId="ADAL" clId="{DFD3AC31-B77D-4E39-925D-B2D87BEE52C3}" dt="2025-12-04T11:53:03.164" v="21" actId="21"/>
        <pc:sldMkLst>
          <pc:docMk/>
          <pc:sldMk cId="1986239210" sldId="348"/>
        </pc:sldMkLst>
        <pc:spChg chg="mod">
          <ac:chgData name="Demir Ali Köse" userId="e78592c7-3e25-4a07-a30e-9e5137f59316" providerId="ADAL" clId="{DFD3AC31-B77D-4E39-925D-B2D87BEE52C3}" dt="2025-12-04T11:51:01.151" v="13" actId="20577"/>
          <ac:spMkLst>
            <pc:docMk/>
            <pc:sldMk cId="1986239210" sldId="348"/>
            <ac:spMk id="2" creationId="{00000000-0000-0000-0000-000000000000}"/>
          </ac:spMkLst>
        </pc:spChg>
        <pc:spChg chg="add del">
          <ac:chgData name="Demir Ali Köse" userId="e78592c7-3e25-4a07-a30e-9e5137f59316" providerId="ADAL" clId="{DFD3AC31-B77D-4E39-925D-B2D87BEE52C3}" dt="2025-12-04T11:52:40.183" v="18" actId="478"/>
          <ac:spMkLst>
            <pc:docMk/>
            <pc:sldMk cId="1986239210" sldId="348"/>
            <ac:spMk id="4" creationId="{EDA25597-67A1-9DA8-D60F-5D5DD0D17307}"/>
          </ac:spMkLst>
        </pc:spChg>
        <pc:picChg chg="add del mod">
          <ac:chgData name="Demir Ali Köse" userId="e78592c7-3e25-4a07-a30e-9e5137f59316" providerId="ADAL" clId="{DFD3AC31-B77D-4E39-925D-B2D87BEE52C3}" dt="2025-12-04T11:53:03.164" v="21" actId="21"/>
          <ac:picMkLst>
            <pc:docMk/>
            <pc:sldMk cId="1986239210" sldId="348"/>
            <ac:picMk id="6" creationId="{C9DEF780-B88A-286A-AC2E-55F09FE339E6}"/>
          </ac:picMkLst>
        </pc:picChg>
      </pc:sldChg>
      <pc:sldChg chg="modSp mod">
        <pc:chgData name="Demir Ali Köse" userId="e78592c7-3e25-4a07-a30e-9e5137f59316" providerId="ADAL" clId="{DFD3AC31-B77D-4E39-925D-B2D87BEE52C3}" dt="2025-12-04T11:56:20.596" v="63" actId="6549"/>
        <pc:sldMkLst>
          <pc:docMk/>
          <pc:sldMk cId="3932804450" sldId="349"/>
        </pc:sldMkLst>
        <pc:spChg chg="mod">
          <ac:chgData name="Demir Ali Köse" userId="e78592c7-3e25-4a07-a30e-9e5137f59316" providerId="ADAL" clId="{DFD3AC31-B77D-4E39-925D-B2D87BEE52C3}" dt="2025-12-04T11:56:20.596" v="63" actId="6549"/>
          <ac:spMkLst>
            <pc:docMk/>
            <pc:sldMk cId="3932804450" sldId="349"/>
            <ac:spMk id="20" creationId="{2DABA89B-D081-4CFC-8ABE-B054290667B6}"/>
          </ac:spMkLst>
        </pc:spChg>
      </pc:sldChg>
      <pc:sldChg chg="modSp mod">
        <pc:chgData name="Demir Ali Köse" userId="e78592c7-3e25-4a07-a30e-9e5137f59316" providerId="ADAL" clId="{DFD3AC31-B77D-4E39-925D-B2D87BEE52C3}" dt="2025-12-04T12:02:42.236" v="86" actId="20577"/>
        <pc:sldMkLst>
          <pc:docMk/>
          <pc:sldMk cId="1677967020" sldId="350"/>
        </pc:sldMkLst>
        <pc:spChg chg="mod">
          <ac:chgData name="Demir Ali Köse" userId="e78592c7-3e25-4a07-a30e-9e5137f59316" providerId="ADAL" clId="{DFD3AC31-B77D-4E39-925D-B2D87BEE52C3}" dt="2025-12-04T12:02:42.236" v="86" actId="20577"/>
          <ac:spMkLst>
            <pc:docMk/>
            <pc:sldMk cId="1677967020" sldId="350"/>
            <ac:spMk id="5" creationId="{69D3B66A-25C6-4DC4-B3EC-91F19A309B4B}"/>
          </ac:spMkLst>
        </pc:spChg>
        <pc:spChg chg="mod">
          <ac:chgData name="Demir Ali Köse" userId="e78592c7-3e25-4a07-a30e-9e5137f59316" providerId="ADAL" clId="{DFD3AC31-B77D-4E39-925D-B2D87BEE52C3}" dt="2025-12-04T12:02:23.540" v="80" actId="20577"/>
          <ac:spMkLst>
            <pc:docMk/>
            <pc:sldMk cId="1677967020" sldId="350"/>
            <ac:spMk id="19" creationId="{D44F6A1B-4265-4C4D-BCB1-9142D3EE924E}"/>
          </ac:spMkLst>
        </pc:spChg>
      </pc:sldChg>
      <pc:sldChg chg="modSp mod">
        <pc:chgData name="Demir Ali Köse" userId="e78592c7-3e25-4a07-a30e-9e5137f59316" providerId="ADAL" clId="{DFD3AC31-B77D-4E39-925D-B2D87BEE52C3}" dt="2025-12-04T12:05:22.439" v="93" actId="1076"/>
        <pc:sldMkLst>
          <pc:docMk/>
          <pc:sldMk cId="509399549" sldId="355"/>
        </pc:sldMkLst>
        <pc:spChg chg="mod">
          <ac:chgData name="Demir Ali Köse" userId="e78592c7-3e25-4a07-a30e-9e5137f59316" providerId="ADAL" clId="{DFD3AC31-B77D-4E39-925D-B2D87BEE52C3}" dt="2025-12-04T12:05:22.439" v="93" actId="1076"/>
          <ac:spMkLst>
            <pc:docMk/>
            <pc:sldMk cId="509399549" sldId="355"/>
            <ac:spMk id="14" creationId="{32EF19E7-BD9A-4A6E-960A-58CF763A15A3}"/>
          </ac:spMkLst>
        </pc:spChg>
        <pc:spChg chg="mod">
          <ac:chgData name="Demir Ali Köse" userId="e78592c7-3e25-4a07-a30e-9e5137f59316" providerId="ADAL" clId="{DFD3AC31-B77D-4E39-925D-B2D87BEE52C3}" dt="2025-12-04T12:04:55.775" v="88" actId="20577"/>
          <ac:spMkLst>
            <pc:docMk/>
            <pc:sldMk cId="509399549" sldId="355"/>
            <ac:spMk id="28" creationId="{395E605E-B81F-4B95-8021-2D4166DA9A14}"/>
          </ac:spMkLst>
        </pc:spChg>
      </pc:sldChg>
      <pc:sldChg chg="modSp mod">
        <pc:chgData name="Demir Ali Köse" userId="e78592c7-3e25-4a07-a30e-9e5137f59316" providerId="ADAL" clId="{DFD3AC31-B77D-4E39-925D-B2D87BEE52C3}" dt="2025-12-04T12:07:38.920" v="102" actId="20577"/>
        <pc:sldMkLst>
          <pc:docMk/>
          <pc:sldMk cId="2341781012" sldId="357"/>
        </pc:sldMkLst>
        <pc:spChg chg="mod">
          <ac:chgData name="Demir Ali Köse" userId="e78592c7-3e25-4a07-a30e-9e5137f59316" providerId="ADAL" clId="{DFD3AC31-B77D-4E39-925D-B2D87BEE52C3}" dt="2025-12-04T12:06:57.708" v="98" actId="692"/>
          <ac:spMkLst>
            <pc:docMk/>
            <pc:sldMk cId="2341781012" sldId="357"/>
            <ac:spMk id="4" creationId="{94AA36C3-B8C5-4FC6-84DE-EB3905450EC1}"/>
          </ac:spMkLst>
        </pc:spChg>
        <pc:spChg chg="mod">
          <ac:chgData name="Demir Ali Köse" userId="e78592c7-3e25-4a07-a30e-9e5137f59316" providerId="ADAL" clId="{DFD3AC31-B77D-4E39-925D-B2D87BEE52C3}" dt="2025-12-04T12:06:33.096" v="96" actId="207"/>
          <ac:spMkLst>
            <pc:docMk/>
            <pc:sldMk cId="2341781012" sldId="357"/>
            <ac:spMk id="19" creationId="{59D47392-9126-4A29-A14B-EBB7F402EA48}"/>
          </ac:spMkLst>
        </pc:spChg>
        <pc:spChg chg="mod">
          <ac:chgData name="Demir Ali Köse" userId="e78592c7-3e25-4a07-a30e-9e5137f59316" providerId="ADAL" clId="{DFD3AC31-B77D-4E39-925D-B2D87BEE52C3}" dt="2025-12-04T12:07:38.920" v="102" actId="20577"/>
          <ac:spMkLst>
            <pc:docMk/>
            <pc:sldMk cId="2341781012" sldId="357"/>
            <ac:spMk id="28" creationId="{395E605E-B81F-4B95-8021-2D4166DA9A14}"/>
          </ac:spMkLst>
        </pc:spChg>
        <pc:cxnChg chg="mod">
          <ac:chgData name="Demir Ali Köse" userId="e78592c7-3e25-4a07-a30e-9e5137f59316" providerId="ADAL" clId="{DFD3AC31-B77D-4E39-925D-B2D87BEE52C3}" dt="2025-12-04T12:06:57.321" v="97" actId="692"/>
          <ac:cxnSpMkLst>
            <pc:docMk/>
            <pc:sldMk cId="2341781012" sldId="357"/>
            <ac:cxnSpMk id="8" creationId="{1C5AC2A7-AA5A-4800-980B-A3F72D8F56B4}"/>
          </ac:cxnSpMkLst>
        </pc:cxnChg>
      </pc:sldChg>
      <pc:sldChg chg="modSp mod">
        <pc:chgData name="Demir Ali Köse" userId="e78592c7-3e25-4a07-a30e-9e5137f59316" providerId="ADAL" clId="{DFD3AC31-B77D-4E39-925D-B2D87BEE52C3}" dt="2025-12-04T12:08:17.543" v="121" actId="20577"/>
        <pc:sldMkLst>
          <pc:docMk/>
          <pc:sldMk cId="420740320" sldId="358"/>
        </pc:sldMkLst>
        <pc:spChg chg="mod">
          <ac:chgData name="Demir Ali Köse" userId="e78592c7-3e25-4a07-a30e-9e5137f59316" providerId="ADAL" clId="{DFD3AC31-B77D-4E39-925D-B2D87BEE52C3}" dt="2025-12-04T12:08:17.543" v="121" actId="20577"/>
          <ac:spMkLst>
            <pc:docMk/>
            <pc:sldMk cId="420740320" sldId="358"/>
            <ac:spMk id="30" creationId="{67CD51C9-4F0C-4460-9422-D7A15EEB9F9C}"/>
          </ac:spMkLst>
        </pc:spChg>
      </pc:sldChg>
      <pc:sldChg chg="modSp">
        <pc:chgData name="Demir Ali Köse" userId="e78592c7-3e25-4a07-a30e-9e5137f59316" providerId="ADAL" clId="{DFD3AC31-B77D-4E39-925D-B2D87BEE52C3}" dt="2025-12-04T12:09:06.859" v="164" actId="20577"/>
        <pc:sldMkLst>
          <pc:docMk/>
          <pc:sldMk cId="3109505983" sldId="360"/>
        </pc:sldMkLst>
        <pc:spChg chg="mod">
          <ac:chgData name="Demir Ali Köse" userId="e78592c7-3e25-4a07-a30e-9e5137f59316" providerId="ADAL" clId="{DFD3AC31-B77D-4E39-925D-B2D87BEE52C3}" dt="2025-12-04T12:09:06.859" v="164" actId="20577"/>
          <ac:spMkLst>
            <pc:docMk/>
            <pc:sldMk cId="3109505983" sldId="360"/>
            <ac:spMk id="14" creationId="{CDB1BDF9-8C5B-4748-A0ED-61099D22392B}"/>
          </ac:spMkLst>
        </pc:spChg>
      </pc:sldChg>
      <pc:sldChg chg="modSp mod">
        <pc:chgData name="Demir Ali Köse" userId="e78592c7-3e25-4a07-a30e-9e5137f59316" providerId="ADAL" clId="{DFD3AC31-B77D-4E39-925D-B2D87BEE52C3}" dt="2025-12-04T12:13:23.532" v="169" actId="20577"/>
        <pc:sldMkLst>
          <pc:docMk/>
          <pc:sldMk cId="3121167760" sldId="364"/>
        </pc:sldMkLst>
        <pc:spChg chg="mod">
          <ac:chgData name="Demir Ali Köse" userId="e78592c7-3e25-4a07-a30e-9e5137f59316" providerId="ADAL" clId="{DFD3AC31-B77D-4E39-925D-B2D87BEE52C3}" dt="2025-12-04T12:13:23.532" v="169" actId="20577"/>
          <ac:spMkLst>
            <pc:docMk/>
            <pc:sldMk cId="3121167760" sldId="364"/>
            <ac:spMk id="8" creationId="{00000000-0000-0000-0000-000000000000}"/>
          </ac:spMkLst>
        </pc:spChg>
      </pc:sldChg>
      <pc:sldChg chg="modSp mod">
        <pc:chgData name="Demir Ali Köse" userId="e78592c7-3e25-4a07-a30e-9e5137f59316" providerId="ADAL" clId="{DFD3AC31-B77D-4E39-925D-B2D87BEE52C3}" dt="2025-12-04T12:14:27.403" v="172"/>
        <pc:sldMkLst>
          <pc:docMk/>
          <pc:sldMk cId="1664121856" sldId="365"/>
        </pc:sldMkLst>
        <pc:spChg chg="mod">
          <ac:chgData name="Demir Ali Köse" userId="e78592c7-3e25-4a07-a30e-9e5137f59316" providerId="ADAL" clId="{DFD3AC31-B77D-4E39-925D-B2D87BEE52C3}" dt="2025-12-04T12:13:38.003" v="170" actId="207"/>
          <ac:spMkLst>
            <pc:docMk/>
            <pc:sldMk cId="1664121856" sldId="365"/>
            <ac:spMk id="8" creationId="{3DC4C10B-5BE0-45E7-9DA6-7BBF1CBAA2D7}"/>
          </ac:spMkLst>
        </pc:spChg>
        <pc:spChg chg="mod">
          <ac:chgData name="Demir Ali Köse" userId="e78592c7-3e25-4a07-a30e-9e5137f59316" providerId="ADAL" clId="{DFD3AC31-B77D-4E39-925D-B2D87BEE52C3}" dt="2025-12-04T12:14:27.403" v="172"/>
          <ac:spMkLst>
            <pc:docMk/>
            <pc:sldMk cId="1664121856" sldId="365"/>
            <ac:spMk id="11" creationId="{2ED6ED6C-966F-47D0-B0B6-97F59F40C0B2}"/>
          </ac:spMkLst>
        </pc:spChg>
      </pc:sldChg>
      <pc:sldChg chg="modSp mod">
        <pc:chgData name="Demir Ali Köse" userId="e78592c7-3e25-4a07-a30e-9e5137f59316" providerId="ADAL" clId="{DFD3AC31-B77D-4E39-925D-B2D87BEE52C3}" dt="2025-12-04T12:15:09.957" v="173" actId="1076"/>
        <pc:sldMkLst>
          <pc:docMk/>
          <pc:sldMk cId="2450713865" sldId="368"/>
        </pc:sldMkLst>
        <pc:picChg chg="mod">
          <ac:chgData name="Demir Ali Köse" userId="e78592c7-3e25-4a07-a30e-9e5137f59316" providerId="ADAL" clId="{DFD3AC31-B77D-4E39-925D-B2D87BEE52C3}" dt="2025-12-04T12:15:09.957" v="173" actId="1076"/>
          <ac:picMkLst>
            <pc:docMk/>
            <pc:sldMk cId="2450713865" sldId="368"/>
            <ac:picMk id="3" creationId="{172713E6-DEB7-4B92-AA06-5148A30B9E8F}"/>
          </ac:picMkLst>
        </pc:picChg>
      </pc:sldChg>
      <pc:sldChg chg="modSp">
        <pc:chgData name="Demir Ali Köse" userId="e78592c7-3e25-4a07-a30e-9e5137f59316" providerId="ADAL" clId="{DFD3AC31-B77D-4E39-925D-B2D87BEE52C3}" dt="2025-12-04T12:16:38.342" v="174" actId="113"/>
        <pc:sldMkLst>
          <pc:docMk/>
          <pc:sldMk cId="1841148292" sldId="371"/>
        </pc:sldMkLst>
        <pc:spChg chg="mod">
          <ac:chgData name="Demir Ali Köse" userId="e78592c7-3e25-4a07-a30e-9e5137f59316" providerId="ADAL" clId="{DFD3AC31-B77D-4E39-925D-B2D87BEE52C3}" dt="2025-12-04T12:16:38.342" v="174" actId="113"/>
          <ac:spMkLst>
            <pc:docMk/>
            <pc:sldMk cId="1841148292" sldId="371"/>
            <ac:spMk id="6" creationId="{09CDFB61-DE17-446C-A707-4DA141ABBACD}"/>
          </ac:spMkLst>
        </pc:spChg>
      </pc:sldChg>
      <pc:sldChg chg="mod modShow">
        <pc:chgData name="Demir Ali Köse" userId="e78592c7-3e25-4a07-a30e-9e5137f59316" providerId="ADAL" clId="{DFD3AC31-B77D-4E39-925D-B2D87BEE52C3}" dt="2025-12-04T11:40:57.166" v="7" actId="729"/>
        <pc:sldMkLst>
          <pc:docMk/>
          <pc:sldMk cId="3899048142" sldId="376"/>
        </pc:sldMkLst>
      </pc:sldChg>
      <pc:sldChg chg="mod modShow">
        <pc:chgData name="Demir Ali Köse" userId="e78592c7-3e25-4a07-a30e-9e5137f59316" providerId="ADAL" clId="{DFD3AC31-B77D-4E39-925D-B2D87BEE52C3}" dt="2025-12-04T12:22:36.178" v="184" actId="729"/>
        <pc:sldMkLst>
          <pc:docMk/>
          <pc:sldMk cId="283680883" sldId="380"/>
        </pc:sldMkLst>
      </pc:sldChg>
      <pc:sldChg chg="modSp">
        <pc:chgData name="Demir Ali Köse" userId="e78592c7-3e25-4a07-a30e-9e5137f59316" providerId="ADAL" clId="{DFD3AC31-B77D-4E39-925D-B2D87BEE52C3}" dt="2025-12-04T12:21:21.522" v="176" actId="20577"/>
        <pc:sldMkLst>
          <pc:docMk/>
          <pc:sldMk cId="2378136875" sldId="381"/>
        </pc:sldMkLst>
        <pc:spChg chg="mod">
          <ac:chgData name="Demir Ali Köse" userId="e78592c7-3e25-4a07-a30e-9e5137f59316" providerId="ADAL" clId="{DFD3AC31-B77D-4E39-925D-B2D87BEE52C3}" dt="2025-12-04T12:21:21.522" v="176" actId="20577"/>
          <ac:spMkLst>
            <pc:docMk/>
            <pc:sldMk cId="2378136875" sldId="381"/>
            <ac:spMk id="39" creationId="{C28343AA-A422-4123-A866-3F5C6F27013B}"/>
          </ac:spMkLst>
        </pc:spChg>
      </pc:sldChg>
      <pc:sldChg chg="mod modShow">
        <pc:chgData name="Demir Ali Köse" userId="e78592c7-3e25-4a07-a30e-9e5137f59316" providerId="ADAL" clId="{DFD3AC31-B77D-4E39-925D-B2D87BEE52C3}" dt="2025-12-04T12:22:36.178" v="184" actId="729"/>
        <pc:sldMkLst>
          <pc:docMk/>
          <pc:sldMk cId="121521843" sldId="382"/>
        </pc:sldMkLst>
      </pc:sldChg>
      <pc:sldChg chg="modSp mod modShow">
        <pc:chgData name="Demir Ali Köse" userId="e78592c7-3e25-4a07-a30e-9e5137f59316" providerId="ADAL" clId="{DFD3AC31-B77D-4E39-925D-B2D87BEE52C3}" dt="2025-12-04T12:22:36.178" v="184" actId="729"/>
        <pc:sldMkLst>
          <pc:docMk/>
          <pc:sldMk cId="1035838512" sldId="383"/>
        </pc:sldMkLst>
        <pc:spChg chg="mod">
          <ac:chgData name="Demir Ali Köse" userId="e78592c7-3e25-4a07-a30e-9e5137f59316" providerId="ADAL" clId="{DFD3AC31-B77D-4E39-925D-B2D87BEE52C3}" dt="2025-12-04T12:21:52.421" v="182" actId="20577"/>
          <ac:spMkLst>
            <pc:docMk/>
            <pc:sldMk cId="1035838512" sldId="383"/>
            <ac:spMk id="5" creationId="{90FDA3C2-72C8-444B-8595-2153587B567C}"/>
          </ac:spMkLst>
        </pc:spChg>
      </pc:sldChg>
      <pc:sldChg chg="mod modShow">
        <pc:chgData name="Demir Ali Köse" userId="e78592c7-3e25-4a07-a30e-9e5137f59316" providerId="ADAL" clId="{DFD3AC31-B77D-4E39-925D-B2D87BEE52C3}" dt="2025-12-04T11:40:57.166" v="7" actId="729"/>
        <pc:sldMkLst>
          <pc:docMk/>
          <pc:sldMk cId="615739353" sldId="384"/>
        </pc:sldMkLst>
      </pc:sldChg>
      <pc:sldChg chg="mod modShow">
        <pc:chgData name="Demir Ali Köse" userId="e78592c7-3e25-4a07-a30e-9e5137f59316" providerId="ADAL" clId="{DFD3AC31-B77D-4E39-925D-B2D87BEE52C3}" dt="2025-12-04T11:40:57.166" v="7" actId="729"/>
        <pc:sldMkLst>
          <pc:docMk/>
          <pc:sldMk cId="1464643793" sldId="386"/>
        </pc:sldMkLst>
      </pc:sldChg>
      <pc:sldChg chg="mod modShow">
        <pc:chgData name="Demir Ali Köse" userId="e78592c7-3e25-4a07-a30e-9e5137f59316" providerId="ADAL" clId="{DFD3AC31-B77D-4E39-925D-B2D87BEE52C3}" dt="2025-12-04T12:22:25.643" v="183" actId="729"/>
        <pc:sldMkLst>
          <pc:docMk/>
          <pc:sldMk cId="955501885" sldId="389"/>
        </pc:sldMkLst>
      </pc:sldChg>
      <pc:sldChg chg="delSp mod delAnim">
        <pc:chgData name="Demir Ali Köse" userId="e78592c7-3e25-4a07-a30e-9e5137f59316" providerId="ADAL" clId="{DFD3AC31-B77D-4E39-925D-B2D87BEE52C3}" dt="2025-12-04T12:01:38.707" v="65" actId="478"/>
        <pc:sldMkLst>
          <pc:docMk/>
          <pc:sldMk cId="3295091446" sldId="392"/>
        </pc:sldMkLst>
        <pc:spChg chg="del">
          <ac:chgData name="Demir Ali Köse" userId="e78592c7-3e25-4a07-a30e-9e5137f59316" providerId="ADAL" clId="{DFD3AC31-B77D-4E39-925D-B2D87BEE52C3}" dt="2025-12-04T12:01:35.113" v="64" actId="478"/>
          <ac:spMkLst>
            <pc:docMk/>
            <pc:sldMk cId="3295091446" sldId="392"/>
            <ac:spMk id="26" creationId="{7258FF4B-20AA-4CD3-811C-4CD9288F4465}"/>
          </ac:spMkLst>
        </pc:spChg>
        <pc:spChg chg="del">
          <ac:chgData name="Demir Ali Köse" userId="e78592c7-3e25-4a07-a30e-9e5137f59316" providerId="ADAL" clId="{DFD3AC31-B77D-4E39-925D-B2D87BEE52C3}" dt="2025-12-04T12:01:38.707" v="65" actId="478"/>
          <ac:spMkLst>
            <pc:docMk/>
            <pc:sldMk cId="3295091446" sldId="392"/>
            <ac:spMk id="30" creationId="{E4E53B20-63A4-47DF-8FC8-DC5139FEF28A}"/>
          </ac:spMkLst>
        </pc:spChg>
      </pc:sldChg>
      <pc:sldChg chg="modSp mod">
        <pc:chgData name="Demir Ali Köse" userId="e78592c7-3e25-4a07-a30e-9e5137f59316" providerId="ADAL" clId="{DFD3AC31-B77D-4E39-925D-B2D87BEE52C3}" dt="2025-12-04T12:10:37.576" v="168" actId="20577"/>
        <pc:sldMkLst>
          <pc:docMk/>
          <pc:sldMk cId="3196025631" sldId="393"/>
        </pc:sldMkLst>
        <pc:spChg chg="mod">
          <ac:chgData name="Demir Ali Köse" userId="e78592c7-3e25-4a07-a30e-9e5137f59316" providerId="ADAL" clId="{DFD3AC31-B77D-4E39-925D-B2D87BEE52C3}" dt="2025-12-04T12:10:37.576" v="168" actId="20577"/>
          <ac:spMkLst>
            <pc:docMk/>
            <pc:sldMk cId="3196025631" sldId="393"/>
            <ac:spMk id="23" creationId="{F7D37C71-CAC5-4CD6-AB28-6033154A4480}"/>
          </ac:spMkLst>
        </pc:spChg>
      </pc:sldChg>
    </pc:docChg>
  </pc:docChgLst>
  <pc:docChgLst>
    <pc:chgData name="Demir Ali Köse" userId="e78592c7-3e25-4a07-a30e-9e5137f59316" providerId="ADAL" clId="{25F1BD7E-B890-4E09-858D-B1345EC0C3D3}"/>
    <pc:docChg chg="modSld">
      <pc:chgData name="Demir Ali Köse" userId="e78592c7-3e25-4a07-a30e-9e5137f59316" providerId="ADAL" clId="{25F1BD7E-B890-4E09-858D-B1345EC0C3D3}" dt="2025-12-04T16:51:17.392" v="36" actId="6549"/>
      <pc:docMkLst>
        <pc:docMk/>
      </pc:docMkLst>
      <pc:sldChg chg="modSp">
        <pc:chgData name="Demir Ali Köse" userId="e78592c7-3e25-4a07-a30e-9e5137f59316" providerId="ADAL" clId="{25F1BD7E-B890-4E09-858D-B1345EC0C3D3}" dt="2025-12-04T16:51:17.392" v="36" actId="6549"/>
        <pc:sldMkLst>
          <pc:docMk/>
          <pc:sldMk cId="3650016285" sldId="347"/>
        </pc:sldMkLst>
        <pc:spChg chg="mod">
          <ac:chgData name="Demir Ali Köse" userId="e78592c7-3e25-4a07-a30e-9e5137f59316" providerId="ADAL" clId="{25F1BD7E-B890-4E09-858D-B1345EC0C3D3}" dt="2025-12-04T16:51:17.392" v="36" actId="6549"/>
          <ac:spMkLst>
            <pc:docMk/>
            <pc:sldMk cId="3650016285" sldId="347"/>
            <ac:spMk id="20" creationId="{2DABA89B-D081-4CFC-8ABE-B054290667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7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78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06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62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94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728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210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040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066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47F-ED97-47AF-A1B3-C82A179CF7F3}" type="datetime1">
              <a:rPr lang="nl-NL" smtClean="0"/>
              <a:t>4-12-2025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9" name="Logo Larg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518" y="2275285"/>
            <a:ext cx="5462027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1074" y="228600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US" noProof="0"/>
              <a:t>Click to edit Master title style</a:t>
            </a:r>
            <a:endParaRPr lang="nl-BE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3000" baseline="0">
                <a:solidFill>
                  <a:schemeClr val="accent1"/>
                </a:solidFill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nl-BE" noProof="0" dirty="0"/>
              <a:t>Klik om de ondertitel / presentator / datum [</a:t>
            </a:r>
            <a:r>
              <a:rPr lang="nl-BE" noProof="0" dirty="0" err="1"/>
              <a:t>dd</a:t>
            </a:r>
            <a:r>
              <a:rPr lang="nl-BE" noProof="0" dirty="0"/>
              <a:t>-mm-</a:t>
            </a:r>
            <a:r>
              <a:rPr lang="nl-BE" noProof="0" dirty="0" err="1"/>
              <a:t>yyyy</a:t>
            </a:r>
            <a:r>
              <a:rPr lang="nl-BE" noProof="0" dirty="0"/>
              <a:t>] te maken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rganisation Placeholder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564451" y="388531"/>
            <a:ext cx="8293993" cy="540000"/>
          </a:xfrm>
        </p:spPr>
        <p:txBody>
          <a:bodyPr anchor="b" anchorCtr="0">
            <a:normAutofit/>
          </a:bodyPr>
          <a:lstStyle>
            <a:lvl1pPr marL="0" indent="0">
              <a:lnSpc>
                <a:spcPts val="1700"/>
              </a:lnSpc>
              <a:buNone/>
              <a:defRPr sz="1400" b="1" i="0" u="sng" cap="all" baseline="0">
                <a:solidFill>
                  <a:srgbClr val="1E64C8"/>
                </a:solidFill>
                <a:uFill>
                  <a:solidFill>
                    <a:schemeClr val="bg1"/>
                  </a:solidFill>
                </a:uFill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  <a:uFill>
                  <a:solidFill>
                    <a:schemeClr val="bg1"/>
                  </a:solidFill>
                </a:uFill>
              </a:defRPr>
            </a:lvl2pPr>
          </a:lstStyle>
          <a:p>
            <a:pPr lvl="0"/>
            <a:r>
              <a:rPr lang="nl-BE" noProof="0" dirty="0"/>
              <a:t>Klik om de organisatie stijlen te bewerken</a:t>
            </a:r>
          </a:p>
          <a:p>
            <a:pPr lvl="1"/>
            <a:r>
              <a:rPr lang="nl-BE" noProof="0"/>
              <a:t>tweede niveau</a:t>
            </a:r>
            <a:endParaRPr lang="nl-BE" noProof="0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32004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Partnerlogo 1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57132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Partnerlogo 2</a:t>
            </a:r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82296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Partnerlogo 3</a:t>
            </a: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460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Partnerlogo 4</a:t>
            </a:r>
          </a:p>
        </p:txBody>
      </p:sp>
      <p:pic>
        <p:nvPicPr>
          <p:cNvPr id="4" name="Icon Faculty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5111742" cy="1394112"/>
          </a:xfrm>
          <a:prstGeom prst="rect">
            <a:avLst/>
          </a:prstGeom>
        </p:spPr>
      </p:pic>
      <p:sp>
        <p:nvSpPr>
          <p:cNvPr id="5" name="Rectangle 4" hidden="1"/>
          <p:cNvSpPr/>
          <p:nvPr userDrawn="1"/>
        </p:nvSpPr>
        <p:spPr>
          <a:xfrm>
            <a:off x="914400" y="464400"/>
            <a:ext cx="15560040" cy="4644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nl-BE" noProof="0" dirty="0"/>
              <a:t>klik om een hoofdstuktitel te maken.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nl-BE" noProof="0" smtClean="0"/>
              <a:pPr/>
              <a:t>‹nr.›</a:t>
            </a:fld>
            <a:endParaRPr lang="nl-BE" noProof="0" dirty="0"/>
          </a:p>
        </p:txBody>
      </p:sp>
      <p:sp>
        <p:nvSpPr>
          <p:cNvPr id="10" name="Rectangle 9" hidden="1"/>
          <p:cNvSpPr/>
          <p:nvPr userDrawn="1"/>
        </p:nvSpPr>
        <p:spPr>
          <a:xfrm>
            <a:off x="914400" y="464400"/>
            <a:ext cx="15560040" cy="4644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l-B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5825" y="1194364"/>
            <a:ext cx="15699575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marL="2328863" indent="-550863" defTabSz="1912938">
              <a:lnSpc>
                <a:spcPct val="120000"/>
              </a:lnSpc>
              <a:tabLst/>
              <a:defRPr/>
            </a:lvl4pPr>
            <a:lvl5pPr marL="2962275" indent="-442913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nl-BE" noProof="0" dirty="0"/>
              <a:t>Click </a:t>
            </a:r>
            <a:r>
              <a:rPr lang="nl-BE" noProof="0" dirty="0" err="1"/>
              <a:t>to</a:t>
            </a:r>
            <a:r>
              <a:rPr lang="nl-BE" noProof="0" dirty="0"/>
              <a:t> </a:t>
            </a:r>
            <a:r>
              <a:rPr lang="nl-BE" noProof="0" dirty="0" err="1"/>
              <a:t>edit</a:t>
            </a:r>
            <a:r>
              <a:rPr lang="nl-BE" noProof="0" dirty="0"/>
              <a:t> Master </a:t>
            </a:r>
            <a:r>
              <a:rPr lang="nl-BE" noProof="0" dirty="0" err="1"/>
              <a:t>text</a:t>
            </a:r>
            <a:r>
              <a:rPr lang="nl-BE" noProof="0" dirty="0"/>
              <a:t> </a:t>
            </a:r>
            <a:r>
              <a:rPr lang="nl-BE" noProof="0" dirty="0" err="1"/>
              <a:t>styles</a:t>
            </a:r>
            <a:endParaRPr lang="nl-BE" noProof="0" dirty="0"/>
          </a:p>
          <a:p>
            <a:pPr lvl="1"/>
            <a:r>
              <a:rPr lang="nl-BE" noProof="0" dirty="0"/>
              <a:t>Second level</a:t>
            </a:r>
          </a:p>
          <a:p>
            <a:pPr lvl="2"/>
            <a:r>
              <a:rPr lang="nl-BE" noProof="0" dirty="0" err="1"/>
              <a:t>Third</a:t>
            </a:r>
            <a:r>
              <a:rPr lang="nl-BE" noProof="0" dirty="0"/>
              <a:t> level</a:t>
            </a:r>
          </a:p>
          <a:p>
            <a:pPr lvl="3"/>
            <a:r>
              <a:rPr lang="nl-BE" noProof="0" dirty="0" err="1"/>
              <a:t>Fourth</a:t>
            </a:r>
            <a:r>
              <a:rPr lang="nl-BE" noProof="0" dirty="0"/>
              <a:t> level</a:t>
            </a:r>
          </a:p>
          <a:p>
            <a:pPr lvl="4"/>
            <a:r>
              <a:rPr lang="nl-BE" noProof="0" dirty="0" err="1"/>
              <a:t>Fifth</a:t>
            </a:r>
            <a:r>
              <a:rPr lang="nl-BE" noProof="0" dirty="0"/>
              <a:t>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70885-0B31-4E06-AE71-7E16801F2838}" type="datetime1">
              <a:rPr lang="nl-BE" noProof="0" smtClean="0"/>
              <a:t>4/12/2025</a:t>
            </a:fld>
            <a:endParaRPr lang="nl-BE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‹nr.›</a:t>
            </a:fld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l-BE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0F60-8C93-4C37-B51A-4DDAE36F7E9B}" type="datetime1">
              <a:rPr lang="nl-BE" noProof="0" smtClean="0"/>
              <a:t>4/12/2025</a:t>
            </a:fld>
            <a:endParaRPr lang="nl-BE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104438" y="1371918"/>
            <a:ext cx="6300000" cy="6498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nl-BE" noProof="0" smtClean="0"/>
              <a:pPr/>
              <a:t>‹nr.›</a:t>
            </a:fld>
            <a:endParaRPr lang="nl-BE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5825" y="1194364"/>
            <a:ext cx="8442000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defTabSz="457200">
              <a:lnSpc>
                <a:spcPct val="120000"/>
              </a:lnSpc>
              <a:defRPr/>
            </a:lvl4pPr>
            <a:lvl5pPr defTabSz="457200">
              <a:lnSpc>
                <a:spcPct val="120000"/>
              </a:lnSpc>
              <a:defRPr/>
            </a:lvl5pPr>
          </a:lstStyle>
          <a:p>
            <a:pPr lvl="0"/>
            <a:r>
              <a:rPr lang="nl-BE" noProof="0" dirty="0"/>
              <a:t>Click </a:t>
            </a:r>
            <a:r>
              <a:rPr lang="nl-BE" noProof="0" dirty="0" err="1"/>
              <a:t>to</a:t>
            </a:r>
            <a:r>
              <a:rPr lang="nl-BE" noProof="0" dirty="0"/>
              <a:t> </a:t>
            </a:r>
            <a:r>
              <a:rPr lang="nl-BE" noProof="0" dirty="0" err="1"/>
              <a:t>edit</a:t>
            </a:r>
            <a:r>
              <a:rPr lang="nl-BE" noProof="0" dirty="0"/>
              <a:t> Master </a:t>
            </a:r>
            <a:r>
              <a:rPr lang="nl-BE" noProof="0" dirty="0" err="1"/>
              <a:t>text</a:t>
            </a:r>
            <a:r>
              <a:rPr lang="nl-BE" noProof="0" dirty="0"/>
              <a:t> </a:t>
            </a:r>
            <a:r>
              <a:rPr lang="nl-BE" noProof="0" dirty="0" err="1"/>
              <a:t>styles</a:t>
            </a:r>
            <a:endParaRPr lang="nl-BE" noProof="0" dirty="0"/>
          </a:p>
          <a:p>
            <a:pPr lvl="1"/>
            <a:r>
              <a:rPr lang="nl-BE" noProof="0" dirty="0"/>
              <a:t>Second level</a:t>
            </a:r>
          </a:p>
          <a:p>
            <a:pPr lvl="2"/>
            <a:r>
              <a:rPr lang="nl-BE" noProof="0" dirty="0" err="1"/>
              <a:t>Third</a:t>
            </a:r>
            <a:r>
              <a:rPr lang="nl-BE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l-BE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94B6-17DF-4759-A7A5-128AFEA77F2C}" type="datetime1">
              <a:rPr lang="nl-BE" noProof="0" smtClean="0"/>
              <a:t>4/12/2025</a:t>
            </a:fld>
            <a:endParaRPr lang="nl-BE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‹nr.›</a:t>
            </a:fld>
            <a:endParaRPr lang="nl-BE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4-12-2025</a:t>
            </a:fld>
            <a:endParaRPr lang="nl-NL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  <a:endParaRPr lang="nl-BE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4-12-2025</a:t>
            </a:fld>
            <a:endParaRPr lang="nl-NL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691979"/>
            <a:ext cx="6764400" cy="5230800"/>
          </a:xfrm>
          <a:solidFill>
            <a:srgbClr val="1E64C8"/>
          </a:solidFill>
        </p:spPr>
        <p:txBody>
          <a:bodyPr anchor="b" anchorCtr="0">
            <a:noAutofit/>
          </a:bodyPr>
          <a:lstStyle>
            <a:lvl1pPr marL="85725" indent="0">
              <a:buNone/>
              <a:defRPr sz="10000" u="sng" cap="all" baseline="0">
                <a:solidFill>
                  <a:schemeClr val="bg1"/>
                </a:solidFill>
              </a:defRPr>
            </a:lvl1pPr>
            <a:lvl2pPr marL="984250" indent="-625475"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33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AD30-96E8-448B-B97A-24B00ADE12C5}"/>
              </a:ext>
            </a:extLst>
          </p:cNvPr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  <a:endParaRPr lang="nl-BE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4-12-2025</a:t>
            </a:fld>
            <a:endParaRPr lang="nl-NL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9" y="1011602"/>
            <a:ext cx="7754938" cy="6908398"/>
          </a:xfrm>
          <a:solidFill>
            <a:srgbClr val="E9F0FA"/>
          </a:solidFill>
        </p:spPr>
        <p:txBody>
          <a:bodyPr>
            <a:normAutofit/>
          </a:bodyPr>
          <a:lstStyle>
            <a:lvl1pPr marL="85725" indent="0">
              <a:buNone/>
              <a:defRPr sz="5400" u="sng" cap="all" baseline="0">
                <a:solidFill>
                  <a:srgbClr val="1E64C8"/>
                </a:solidFill>
              </a:defRPr>
            </a:lvl1pPr>
            <a:lvl2pPr marL="984250" indent="-625475">
              <a:defRPr>
                <a:solidFill>
                  <a:srgbClr val="1E64C8"/>
                </a:solidFill>
              </a:defRPr>
            </a:lvl2pPr>
            <a:lvl3pPr>
              <a:defRPr>
                <a:solidFill>
                  <a:srgbClr val="1E64C8"/>
                </a:solidFill>
              </a:defRPr>
            </a:lvl3pPr>
            <a:lvl4pPr>
              <a:defRPr>
                <a:solidFill>
                  <a:srgbClr val="1E64C8"/>
                </a:solidFill>
              </a:defRPr>
            </a:lvl4pPr>
            <a:lvl5pPr>
              <a:defRPr>
                <a:solidFill>
                  <a:srgbClr val="1E64C8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091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2168210"/>
          </a:xfrm>
        </p:spPr>
        <p:txBody>
          <a:bodyPr>
            <a:normAutofit/>
          </a:bodyPr>
          <a:lstStyle>
            <a:lvl1pPr marL="0" indent="0">
              <a:lnSpc>
                <a:spcPts val="35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namen van </a:t>
            </a:r>
            <a:r>
              <a:rPr lang="nl-NL" dirty="0" err="1"/>
              <a:t>social</a:t>
            </a:r>
            <a:r>
              <a:rPr lang="nl-NL" dirty="0"/>
              <a:t> media in te typen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7419544" cy="5769600"/>
          </a:xfrm>
        </p:spPr>
        <p:txBody>
          <a:bodyPr anchor="t" anchorCtr="0">
            <a:noAutofit/>
          </a:bodyPr>
          <a:lstStyle>
            <a:lvl1pPr algn="l" defTabSz="542925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nl-BE" noProof="0" dirty="0"/>
              <a:t>Klik om de gegevens van de presentator in </a:t>
            </a:r>
            <a:r>
              <a:rPr lang="nl-BE" noProof="0"/>
              <a:t>te typen</a:t>
            </a:r>
            <a:endParaRPr lang="nl-BE" noProof="0" dirty="0"/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Icon Faculty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5111742" cy="13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BE" noProof="0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noProof="0" dirty="0"/>
              <a:t>Click </a:t>
            </a:r>
            <a:r>
              <a:rPr lang="nl-BE" noProof="0" dirty="0" err="1"/>
              <a:t>to</a:t>
            </a:r>
            <a:r>
              <a:rPr lang="nl-BE" noProof="0" dirty="0"/>
              <a:t> </a:t>
            </a:r>
            <a:r>
              <a:rPr lang="nl-BE" noProof="0" dirty="0" err="1"/>
              <a:t>edit</a:t>
            </a:r>
            <a:r>
              <a:rPr lang="nl-BE" noProof="0" dirty="0"/>
              <a:t> Master </a:t>
            </a:r>
            <a:r>
              <a:rPr lang="nl-BE" noProof="0" dirty="0" err="1"/>
              <a:t>text</a:t>
            </a:r>
            <a:r>
              <a:rPr lang="nl-BE" noProof="0" dirty="0"/>
              <a:t> </a:t>
            </a:r>
            <a:r>
              <a:rPr lang="nl-BE" noProof="0" dirty="0" err="1"/>
              <a:t>styles</a:t>
            </a:r>
            <a:endParaRPr lang="nl-BE" noProof="0" dirty="0"/>
          </a:p>
          <a:p>
            <a:pPr lvl="1"/>
            <a:r>
              <a:rPr lang="nl-BE" noProof="0" dirty="0"/>
              <a:t>Second level</a:t>
            </a:r>
          </a:p>
          <a:p>
            <a:pPr lvl="2"/>
            <a:r>
              <a:rPr lang="nl-BE" noProof="0" dirty="0" err="1"/>
              <a:t>Third</a:t>
            </a:r>
            <a:r>
              <a:rPr lang="nl-BE" noProof="0" dirty="0"/>
              <a:t>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0D1A-A3AB-4E9F-892E-C45B5A80FDBF}" type="datetime1">
              <a:rPr lang="nl-BE" noProof="0" smtClean="0"/>
              <a:t>4/12/2025</a:t>
            </a:fld>
            <a:endParaRPr lang="nl-BE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nl-BE" noProof="0" smtClean="0"/>
              <a:pPr/>
              <a:t>‹nr.›</a:t>
            </a:fld>
            <a:endParaRPr lang="nl-BE" noProof="0" dirty="0"/>
          </a:p>
        </p:txBody>
      </p:sp>
      <p:sp>
        <p:nvSpPr>
          <p:cNvPr id="7" name="Title positioning box" hidden="1"/>
          <p:cNvSpPr/>
          <p:nvPr userDrawn="1"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 userDrawn="1"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 userDrawn="1"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17" y="7906160"/>
            <a:ext cx="2308379" cy="1847440"/>
          </a:xfrm>
          <a:prstGeom prst="rect">
            <a:avLst/>
          </a:prstGeom>
        </p:spPr>
      </p:pic>
      <p:sp>
        <p:nvSpPr>
          <p:cNvPr id="12" name="Text positoning box" hidden="1"/>
          <p:cNvSpPr/>
          <p:nvPr userDrawn="1"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 userDrawn="1"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4" r:id="rId5"/>
    <p:sldLayoutId id="2147483666" r:id="rId6"/>
    <p:sldLayoutId id="2147483675" r:id="rId7"/>
    <p:sldLayoutId id="2147483677" r:id="rId8"/>
    <p:sldLayoutId id="2147483678" r:id="rId9"/>
    <p:sldLayoutId id="2147483676" r:id="rId10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536575" indent="-45085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69988" indent="-45085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755775" indent="-45000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50863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numpy</a:t>
            </a:r>
            <a:endParaRPr lang="nl-NL" dirty="0"/>
          </a:p>
        </p:txBody>
      </p:sp>
      <p:sp>
        <p:nvSpPr>
          <p:cNvPr id="18" name="Ondertitel 1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Prof. dr. ir. Jan Verwaeren</a:t>
            </a:r>
          </a:p>
        </p:txBody>
      </p:sp>
      <p:sp>
        <p:nvSpPr>
          <p:cNvPr id="19" name="Tijdelijke aanduiding voor afbeelding 18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0" name="Tijdelijke aanduiding voor afbeelding 19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1" name="Tijdelijke aanduiding voor afbeelding 20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2" name="Tijdelijke aanduiding voor afbeelding 21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78BDA-01E1-43D6-B2E3-23C3B6B2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767" y="967941"/>
            <a:ext cx="3169558" cy="3730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D744C3-63C1-4CF4-8878-E2EB35B5B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6725" y="3800475"/>
            <a:ext cx="777362" cy="78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1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 err="1"/>
              <a:t>Lecture</a:t>
            </a:r>
            <a:r>
              <a:rPr lang="nl-NL" sz="4000" dirty="0"/>
              <a:t> </a:t>
            </a:r>
            <a:r>
              <a:rPr lang="nl-NL" sz="4000" dirty="0" err="1"/>
              <a:t>overview</a:t>
            </a:r>
            <a:endParaRPr lang="nl-NL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5162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</p:spPr>
        <p:txBody>
          <a:bodyPr/>
          <a:lstStyle/>
          <a:p>
            <a:r>
              <a:rPr lang="en-GB" dirty="0"/>
              <a:t>contents of this lecture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4</a:t>
            </a:fld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BD8D0F-2F51-4073-A750-56216B8F3CF6}"/>
              </a:ext>
            </a:extLst>
          </p:cNvPr>
          <p:cNvSpPr/>
          <p:nvPr/>
        </p:nvSpPr>
        <p:spPr>
          <a:xfrm>
            <a:off x="887190" y="2190123"/>
            <a:ext cx="2375971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Numpy</a:t>
            </a:r>
            <a:r>
              <a:rPr lang="en-US" b="1" dirty="0">
                <a:solidFill>
                  <a:schemeClr val="tx2"/>
                </a:solidFill>
              </a:rPr>
              <a:t> arrays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AFD099-A28C-4296-B357-DADEC50616B6}"/>
              </a:ext>
            </a:extLst>
          </p:cNvPr>
          <p:cNvSpPr/>
          <p:nvPr/>
        </p:nvSpPr>
        <p:spPr>
          <a:xfrm>
            <a:off x="640878" y="2898586"/>
            <a:ext cx="8667750" cy="2805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Basics of </a:t>
            </a:r>
            <a:r>
              <a:rPr lang="en-US" sz="2000" dirty="0" err="1"/>
              <a:t>Numpy</a:t>
            </a:r>
            <a:r>
              <a:rPr lang="en-US" sz="2000" dirty="0"/>
              <a:t> arrays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 err="1"/>
              <a:t>Computation</a:t>
            </a:r>
            <a:r>
              <a:rPr lang="nl-BE" sz="2000" dirty="0"/>
              <a:t> on </a:t>
            </a:r>
            <a:r>
              <a:rPr lang="nl-BE" sz="2000" dirty="0" err="1"/>
              <a:t>numpy</a:t>
            </a:r>
            <a:r>
              <a:rPr lang="nl-BE" sz="2000" dirty="0"/>
              <a:t> arrays: </a:t>
            </a:r>
            <a:r>
              <a:rPr lang="nl-BE" sz="2000" dirty="0" err="1"/>
              <a:t>universal</a:t>
            </a:r>
            <a:r>
              <a:rPr lang="nl-BE" sz="2000" dirty="0"/>
              <a:t> </a:t>
            </a:r>
            <a:r>
              <a:rPr lang="nl-BE" sz="2000" dirty="0" err="1"/>
              <a:t>functions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 err="1"/>
              <a:t>Aggregations</a:t>
            </a:r>
            <a:endParaRPr lang="nl-BE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/>
              <a:t>Array </a:t>
            </a:r>
            <a:r>
              <a:rPr lang="nl-BE" sz="2000" dirty="0" err="1"/>
              <a:t>broadcasting</a:t>
            </a:r>
            <a:endParaRPr lang="nl-BE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 err="1"/>
              <a:t>Comparisons</a:t>
            </a:r>
            <a:r>
              <a:rPr lang="nl-BE" sz="2000" dirty="0"/>
              <a:t>, </a:t>
            </a:r>
            <a:r>
              <a:rPr lang="nl-BE" sz="2000" dirty="0" err="1"/>
              <a:t>masks</a:t>
            </a:r>
            <a:r>
              <a:rPr lang="nl-BE" sz="2000" dirty="0"/>
              <a:t> </a:t>
            </a:r>
            <a:r>
              <a:rPr lang="nl-BE" sz="2000" dirty="0" err="1"/>
              <a:t>and</a:t>
            </a:r>
            <a:r>
              <a:rPr lang="nl-BE" sz="2000" dirty="0"/>
              <a:t> </a:t>
            </a:r>
            <a:r>
              <a:rPr lang="nl-BE" sz="2000" dirty="0" err="1"/>
              <a:t>boolean</a:t>
            </a:r>
            <a:r>
              <a:rPr lang="nl-BE" sz="2000" dirty="0"/>
              <a:t> logic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/>
              <a:t>Fancy </a:t>
            </a:r>
            <a:r>
              <a:rPr lang="nl-BE" sz="2000" dirty="0" err="1"/>
              <a:t>indexing</a:t>
            </a:r>
            <a:r>
              <a:rPr lang="nl-BE" sz="2000" dirty="0"/>
              <a:t> </a:t>
            </a:r>
            <a:r>
              <a:rPr lang="nl-BE" sz="2000" dirty="0" err="1"/>
              <a:t>and</a:t>
            </a:r>
            <a:r>
              <a:rPr lang="nl-BE" sz="2000" dirty="0"/>
              <a:t> </a:t>
            </a:r>
            <a:r>
              <a:rPr lang="nl-BE" sz="2000" dirty="0" err="1"/>
              <a:t>sorting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117D00-6BDE-41BD-AB32-5261D2F5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91" y="1833482"/>
            <a:ext cx="2592615" cy="11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2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 err="1"/>
              <a:t>Numpy</a:t>
            </a:r>
            <a:r>
              <a:rPr lang="nl-NL" sz="4000" dirty="0"/>
              <a:t> arrays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6018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numpy</a:t>
            </a:r>
            <a:r>
              <a:rPr lang="nl-NL" dirty="0"/>
              <a:t> arrays?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B74F28-A5DE-466E-AA51-A739B88E8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990802"/>
            <a:ext cx="15480029" cy="62650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1AF4F7-7F44-4D62-8CF8-E911FDC0E628}"/>
              </a:ext>
            </a:extLst>
          </p:cNvPr>
          <p:cNvSpPr/>
          <p:nvPr/>
        </p:nvSpPr>
        <p:spPr>
          <a:xfrm>
            <a:off x="1660290" y="5686441"/>
            <a:ext cx="4610636" cy="1351425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AA42A-486A-4E46-B769-A5A2C76A9D99}"/>
              </a:ext>
            </a:extLst>
          </p:cNvPr>
          <p:cNvSpPr/>
          <p:nvPr/>
        </p:nvSpPr>
        <p:spPr>
          <a:xfrm>
            <a:off x="692228" y="1215326"/>
            <a:ext cx="4610636" cy="771875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DD2FF6-DAED-43B2-9584-EDE3FE1DAA46}"/>
              </a:ext>
            </a:extLst>
          </p:cNvPr>
          <p:cNvSpPr/>
          <p:nvPr/>
        </p:nvSpPr>
        <p:spPr>
          <a:xfrm>
            <a:off x="10830047" y="3509911"/>
            <a:ext cx="3825025" cy="1416676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0BBD47-E7AD-4B69-BB1A-808DAEB53747}"/>
              </a:ext>
            </a:extLst>
          </p:cNvPr>
          <p:cNvSpPr/>
          <p:nvPr/>
        </p:nvSpPr>
        <p:spPr>
          <a:xfrm>
            <a:off x="14766119" y="3494885"/>
            <a:ext cx="955753" cy="1416676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8F74BD3-A594-4034-83E5-312B350AD07B}"/>
              </a:ext>
            </a:extLst>
          </p:cNvPr>
          <p:cNvSpPr/>
          <p:nvPr/>
        </p:nvSpPr>
        <p:spPr>
          <a:xfrm>
            <a:off x="12349754" y="4694767"/>
            <a:ext cx="708338" cy="1351425"/>
          </a:xfrm>
          <a:prstGeom prst="down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49964BF-9F3E-43FA-A4D5-DFC0E88825A4}"/>
              </a:ext>
            </a:extLst>
          </p:cNvPr>
          <p:cNvSpPr/>
          <p:nvPr/>
        </p:nvSpPr>
        <p:spPr>
          <a:xfrm>
            <a:off x="14872861" y="4694766"/>
            <a:ext cx="708338" cy="1351425"/>
          </a:xfrm>
          <a:prstGeom prst="down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F4C4CC-2A2A-4BBA-AC58-379AB488045E}"/>
              </a:ext>
            </a:extLst>
          </p:cNvPr>
          <p:cNvSpPr txBox="1"/>
          <p:nvPr/>
        </p:nvSpPr>
        <p:spPr>
          <a:xfrm>
            <a:off x="11317712" y="6290613"/>
            <a:ext cx="519084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Can</a:t>
            </a:r>
            <a:r>
              <a:rPr lang="nl-BE" sz="2500" dirty="0"/>
              <a:t>/</a:t>
            </a:r>
            <a:r>
              <a:rPr lang="nl-BE" sz="2500" dirty="0" err="1"/>
              <a:t>will</a:t>
            </a:r>
            <a:r>
              <a:rPr lang="nl-BE" sz="2500" dirty="0"/>
              <a:t> </a:t>
            </a:r>
            <a:r>
              <a:rPr lang="nl-BE" sz="2500" dirty="0" err="1"/>
              <a:t>be</a:t>
            </a:r>
            <a:r>
              <a:rPr lang="nl-BE" sz="2500" dirty="0"/>
              <a:t> </a:t>
            </a:r>
            <a:r>
              <a:rPr lang="nl-BE" sz="2500" dirty="0" err="1"/>
              <a:t>stored</a:t>
            </a:r>
            <a:r>
              <a:rPr lang="nl-BE" sz="2500" dirty="0"/>
              <a:t> as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690D26-F852-4E1F-874B-AF91F0079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419" y="4203223"/>
            <a:ext cx="8239512" cy="49650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2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/>
              <a:t>The basics of </a:t>
            </a:r>
            <a:r>
              <a:rPr lang="nl-NL" sz="4000" dirty="0" err="1"/>
              <a:t>numpy</a:t>
            </a:r>
            <a:r>
              <a:rPr lang="nl-NL" sz="4000" dirty="0"/>
              <a:t> arrays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739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8</a:t>
            </a:fld>
            <a:endParaRPr lang="nl-BE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FFAC3-BE2E-46A5-9453-729499EFD444}"/>
              </a:ext>
            </a:extLst>
          </p:cNvPr>
          <p:cNvSpPr/>
          <p:nvPr/>
        </p:nvSpPr>
        <p:spPr>
          <a:xfrm>
            <a:off x="521808" y="6300000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   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]])</a:t>
            </a:r>
            <a:endParaRPr lang="nl-B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('int32')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094DC-7786-4A7C-85ED-A3F61D423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503065"/>
              </p:ext>
            </p:extLst>
          </p:nvPr>
        </p:nvGraphicFramePr>
        <p:xfrm>
          <a:off x="3150826" y="3206714"/>
          <a:ext cx="3183741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30AAF3-D72D-4401-AC96-AD8C6E9A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773557"/>
              </p:ext>
            </p:extLst>
          </p:nvPr>
        </p:nvGraphicFramePr>
        <p:xfrm>
          <a:off x="11159339" y="3050021"/>
          <a:ext cx="3183741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E74E2-2A70-491E-96EA-E7D7432D625E}"/>
              </a:ext>
            </a:extLst>
          </p:cNvPr>
          <p:cNvSpPr txBox="1"/>
          <p:nvPr/>
        </p:nvSpPr>
        <p:spPr>
          <a:xfrm>
            <a:off x="1584101" y="3191312"/>
            <a:ext cx="55970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A  </a:t>
            </a:r>
            <a:endParaRPr lang="en-US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B444E-BE79-49B1-96FA-2118108B6510}"/>
              </a:ext>
            </a:extLst>
          </p:cNvPr>
          <p:cNvSpPr txBox="1"/>
          <p:nvPr/>
        </p:nvSpPr>
        <p:spPr>
          <a:xfrm>
            <a:off x="9747160" y="3290426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B  </a:t>
            </a:r>
            <a:endParaRPr lang="en-US" sz="2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9A1689-9663-4B26-AF97-91B01ACC0B06}"/>
              </a:ext>
            </a:extLst>
          </p:cNvPr>
          <p:cNvCxnSpPr>
            <a:cxnSpLocks/>
          </p:cNvCxnSpPr>
          <p:nvPr/>
        </p:nvCxnSpPr>
        <p:spPr>
          <a:xfrm>
            <a:off x="2143806" y="3454820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8C4BB0-5A5F-4664-9F65-A04E7BB92719}"/>
              </a:ext>
            </a:extLst>
          </p:cNvPr>
          <p:cNvCxnSpPr>
            <a:cxnSpLocks/>
          </p:cNvCxnSpPr>
          <p:nvPr/>
        </p:nvCxnSpPr>
        <p:spPr>
          <a:xfrm>
            <a:off x="10203834" y="3546233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3464942" y="4327180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1D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4370E-99BC-482F-8E17-F9078CFABC60}"/>
              </a:ext>
            </a:extLst>
          </p:cNvPr>
          <p:cNvSpPr txBox="1"/>
          <p:nvPr/>
        </p:nvSpPr>
        <p:spPr>
          <a:xfrm>
            <a:off x="11473455" y="4365185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2D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8C04E-C993-4A44-86CB-A25472E8EB4B}"/>
              </a:ext>
            </a:extLst>
          </p:cNvPr>
          <p:cNvSpPr txBox="1"/>
          <p:nvPr/>
        </p:nvSpPr>
        <p:spPr>
          <a:xfrm>
            <a:off x="6877319" y="5576549"/>
            <a:ext cx="269817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solidFill>
                  <a:schemeClr val="tx2"/>
                </a:solidFill>
              </a:rPr>
              <a:t>Arrays of integers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7E5D-3727-4C34-AF12-71E2B077E384}"/>
              </a:ext>
            </a:extLst>
          </p:cNvPr>
          <p:cNvSpPr/>
          <p:nvPr/>
        </p:nvSpPr>
        <p:spPr>
          <a:xfrm>
            <a:off x="9227702" y="7010151"/>
            <a:ext cx="6148723" cy="20621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A     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display in Python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array([1, 2, 3])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array([[1, 2, 3],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     [4, 5, 6]])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26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9</a:t>
            </a:fld>
            <a:endParaRPr lang="nl-BE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FFAC3-BE2E-46A5-9453-729499EFD444}"/>
              </a:ext>
            </a:extLst>
          </p:cNvPr>
          <p:cNvSpPr/>
          <p:nvPr/>
        </p:nvSpPr>
        <p:spPr>
          <a:xfrm>
            <a:off x="521808" y="6300000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'I'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'am'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'John'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'b'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'c'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        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'd'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'e'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'f'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]])</a:t>
            </a:r>
            <a:endParaRPr lang="nl-B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('&lt;U4')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094DC-7786-4A7C-85ED-A3F61D423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722859"/>
              </p:ext>
            </p:extLst>
          </p:nvPr>
        </p:nvGraphicFramePr>
        <p:xfrm>
          <a:off x="3150826" y="3206714"/>
          <a:ext cx="3183741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‘I’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‘</a:t>
                      </a:r>
                      <a:r>
                        <a:rPr lang="nl-BE" dirty="0" err="1"/>
                        <a:t>am</a:t>
                      </a:r>
                      <a:r>
                        <a:rPr lang="nl-BE" dirty="0"/>
                        <a:t>’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‘</a:t>
                      </a:r>
                      <a:r>
                        <a:rPr lang="nl-BE" dirty="0" err="1"/>
                        <a:t>john</a:t>
                      </a:r>
                      <a:r>
                        <a:rPr lang="nl-BE" dirty="0"/>
                        <a:t>’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30AAF3-D72D-4401-AC96-AD8C6E9A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17194"/>
              </p:ext>
            </p:extLst>
          </p:nvPr>
        </p:nvGraphicFramePr>
        <p:xfrm>
          <a:off x="11159339" y="3050021"/>
          <a:ext cx="3183741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‘a’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‘b’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‘c’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‘d’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‘e’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‘f’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E74E2-2A70-491E-96EA-E7D7432D625E}"/>
              </a:ext>
            </a:extLst>
          </p:cNvPr>
          <p:cNvSpPr txBox="1"/>
          <p:nvPr/>
        </p:nvSpPr>
        <p:spPr>
          <a:xfrm>
            <a:off x="1584101" y="3191312"/>
            <a:ext cx="55970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A  </a:t>
            </a:r>
            <a:endParaRPr lang="en-US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B444E-BE79-49B1-96FA-2118108B6510}"/>
              </a:ext>
            </a:extLst>
          </p:cNvPr>
          <p:cNvSpPr txBox="1"/>
          <p:nvPr/>
        </p:nvSpPr>
        <p:spPr>
          <a:xfrm>
            <a:off x="9747160" y="3290426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B  </a:t>
            </a:r>
            <a:endParaRPr lang="en-US" sz="2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9A1689-9663-4B26-AF97-91B01ACC0B06}"/>
              </a:ext>
            </a:extLst>
          </p:cNvPr>
          <p:cNvCxnSpPr>
            <a:cxnSpLocks/>
          </p:cNvCxnSpPr>
          <p:nvPr/>
        </p:nvCxnSpPr>
        <p:spPr>
          <a:xfrm>
            <a:off x="2143806" y="3454820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8C4BB0-5A5F-4664-9F65-A04E7BB92719}"/>
              </a:ext>
            </a:extLst>
          </p:cNvPr>
          <p:cNvCxnSpPr>
            <a:cxnSpLocks/>
          </p:cNvCxnSpPr>
          <p:nvPr/>
        </p:nvCxnSpPr>
        <p:spPr>
          <a:xfrm>
            <a:off x="10203834" y="3546233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3464942" y="4327180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1D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4370E-99BC-482F-8E17-F9078CFABC60}"/>
              </a:ext>
            </a:extLst>
          </p:cNvPr>
          <p:cNvSpPr txBox="1"/>
          <p:nvPr/>
        </p:nvSpPr>
        <p:spPr>
          <a:xfrm>
            <a:off x="11473455" y="4365185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2D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B56F7-DC99-4517-ADF6-2179201192BB}"/>
              </a:ext>
            </a:extLst>
          </p:cNvPr>
          <p:cNvSpPr txBox="1"/>
          <p:nvPr/>
        </p:nvSpPr>
        <p:spPr>
          <a:xfrm>
            <a:off x="7134897" y="5537913"/>
            <a:ext cx="25026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solidFill>
                  <a:schemeClr val="tx2"/>
                </a:solidFill>
              </a:rPr>
              <a:t>Arrays of strings</a:t>
            </a:r>
            <a:endParaRPr lang="en-US" sz="2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818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10</a:t>
            </a:fld>
            <a:endParaRPr lang="nl-BE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094DC-7786-4A7C-85ED-A3F61D423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11287"/>
              </p:ext>
            </p:extLst>
          </p:nvPr>
        </p:nvGraphicFramePr>
        <p:xfrm>
          <a:off x="3150826" y="3206714"/>
          <a:ext cx="3183741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1,0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2,0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3,0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30AAF3-D72D-4401-AC96-AD8C6E9A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29823"/>
              </p:ext>
            </p:extLst>
          </p:nvPr>
        </p:nvGraphicFramePr>
        <p:xfrm>
          <a:off x="11159339" y="3050021"/>
          <a:ext cx="3183741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1,0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2,0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3,0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E74E2-2A70-491E-96EA-E7D7432D625E}"/>
              </a:ext>
            </a:extLst>
          </p:cNvPr>
          <p:cNvSpPr txBox="1"/>
          <p:nvPr/>
        </p:nvSpPr>
        <p:spPr>
          <a:xfrm>
            <a:off x="1584101" y="3191312"/>
            <a:ext cx="55970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A  </a:t>
            </a:r>
            <a:endParaRPr lang="en-US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B444E-BE79-49B1-96FA-2118108B6510}"/>
              </a:ext>
            </a:extLst>
          </p:cNvPr>
          <p:cNvSpPr txBox="1"/>
          <p:nvPr/>
        </p:nvSpPr>
        <p:spPr>
          <a:xfrm>
            <a:off x="9747160" y="3290426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B  </a:t>
            </a:r>
            <a:endParaRPr lang="en-US" sz="2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9A1689-9663-4B26-AF97-91B01ACC0B06}"/>
              </a:ext>
            </a:extLst>
          </p:cNvPr>
          <p:cNvCxnSpPr>
            <a:cxnSpLocks/>
          </p:cNvCxnSpPr>
          <p:nvPr/>
        </p:nvCxnSpPr>
        <p:spPr>
          <a:xfrm>
            <a:off x="2143806" y="3454820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8C4BB0-5A5F-4664-9F65-A04E7BB92719}"/>
              </a:ext>
            </a:extLst>
          </p:cNvPr>
          <p:cNvCxnSpPr>
            <a:cxnSpLocks/>
          </p:cNvCxnSpPr>
          <p:nvPr/>
        </p:nvCxnSpPr>
        <p:spPr>
          <a:xfrm>
            <a:off x="10203834" y="3546233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3464942" y="4327180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1D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4370E-99BC-482F-8E17-F9078CFABC60}"/>
              </a:ext>
            </a:extLst>
          </p:cNvPr>
          <p:cNvSpPr txBox="1"/>
          <p:nvPr/>
        </p:nvSpPr>
        <p:spPr>
          <a:xfrm>
            <a:off x="11473455" y="4365185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2D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8C04E-C993-4A44-86CB-A25472E8EB4B}"/>
              </a:ext>
            </a:extLst>
          </p:cNvPr>
          <p:cNvSpPr txBox="1"/>
          <p:nvPr/>
        </p:nvSpPr>
        <p:spPr>
          <a:xfrm>
            <a:off x="7422485" y="5563669"/>
            <a:ext cx="232467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solidFill>
                  <a:schemeClr val="tx2"/>
                </a:solidFill>
              </a:rPr>
              <a:t>Arrays of </a:t>
            </a:r>
            <a:r>
              <a:rPr lang="nl-BE" sz="2500" dirty="0" err="1">
                <a:solidFill>
                  <a:schemeClr val="tx2"/>
                </a:solidFill>
              </a:rPr>
              <a:t>floats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6D660-8FC2-4A56-9507-783B16C7D59A}"/>
              </a:ext>
            </a:extLst>
          </p:cNvPr>
          <p:cNvSpPr/>
          <p:nvPr/>
        </p:nvSpPr>
        <p:spPr>
          <a:xfrm>
            <a:off x="521808" y="6300000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   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6.0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]])</a:t>
            </a:r>
          </a:p>
          <a:p>
            <a:r>
              <a:rPr lang="nl-BE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('float64')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6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11</a:t>
            </a:fld>
            <a:endParaRPr lang="nl-BE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094DC-7786-4A7C-85ED-A3F61D423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04619"/>
              </p:ext>
            </p:extLst>
          </p:nvPr>
        </p:nvGraphicFramePr>
        <p:xfrm>
          <a:off x="3150826" y="3206714"/>
          <a:ext cx="3183741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True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 err="1"/>
                        <a:t>False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 err="1"/>
                        <a:t>False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30AAF3-D72D-4401-AC96-AD8C6E9A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93322"/>
              </p:ext>
            </p:extLst>
          </p:nvPr>
        </p:nvGraphicFramePr>
        <p:xfrm>
          <a:off x="11159339" y="3050021"/>
          <a:ext cx="3183741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4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106124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False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False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False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E74E2-2A70-491E-96EA-E7D7432D625E}"/>
              </a:ext>
            </a:extLst>
          </p:cNvPr>
          <p:cNvSpPr txBox="1"/>
          <p:nvPr/>
        </p:nvSpPr>
        <p:spPr>
          <a:xfrm>
            <a:off x="1584101" y="3191312"/>
            <a:ext cx="55970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A  </a:t>
            </a:r>
            <a:endParaRPr lang="en-US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B444E-BE79-49B1-96FA-2118108B6510}"/>
              </a:ext>
            </a:extLst>
          </p:cNvPr>
          <p:cNvSpPr txBox="1"/>
          <p:nvPr/>
        </p:nvSpPr>
        <p:spPr>
          <a:xfrm>
            <a:off x="9747160" y="3290426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B  </a:t>
            </a:r>
            <a:endParaRPr lang="en-US" sz="25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9A1689-9663-4B26-AF97-91B01ACC0B06}"/>
              </a:ext>
            </a:extLst>
          </p:cNvPr>
          <p:cNvCxnSpPr>
            <a:cxnSpLocks/>
          </p:cNvCxnSpPr>
          <p:nvPr/>
        </p:nvCxnSpPr>
        <p:spPr>
          <a:xfrm>
            <a:off x="2143806" y="3454820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8C4BB0-5A5F-4664-9F65-A04E7BB92719}"/>
              </a:ext>
            </a:extLst>
          </p:cNvPr>
          <p:cNvCxnSpPr>
            <a:cxnSpLocks/>
          </p:cNvCxnSpPr>
          <p:nvPr/>
        </p:nvCxnSpPr>
        <p:spPr>
          <a:xfrm>
            <a:off x="10203834" y="3546233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3464942" y="4327180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1D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4370E-99BC-482F-8E17-F9078CFABC60}"/>
              </a:ext>
            </a:extLst>
          </p:cNvPr>
          <p:cNvSpPr txBox="1"/>
          <p:nvPr/>
        </p:nvSpPr>
        <p:spPr>
          <a:xfrm>
            <a:off x="11473455" y="4365185"/>
            <a:ext cx="25555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2D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endParaRPr lang="en-US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8C04E-C993-4A44-86CB-A25472E8EB4B}"/>
              </a:ext>
            </a:extLst>
          </p:cNvPr>
          <p:cNvSpPr txBox="1"/>
          <p:nvPr/>
        </p:nvSpPr>
        <p:spPr>
          <a:xfrm>
            <a:off x="7422485" y="5563669"/>
            <a:ext cx="285687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solidFill>
                  <a:schemeClr val="tx2"/>
                </a:solidFill>
              </a:rPr>
              <a:t>Arrays of </a:t>
            </a:r>
            <a:r>
              <a:rPr lang="nl-BE" sz="2500" dirty="0" err="1">
                <a:solidFill>
                  <a:schemeClr val="tx2"/>
                </a:solidFill>
              </a:rPr>
              <a:t>booleans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6D660-8FC2-4A56-9507-783B16C7D59A}"/>
              </a:ext>
            </a:extLst>
          </p:cNvPr>
          <p:cNvSpPr/>
          <p:nvPr/>
        </p:nvSpPr>
        <p:spPr>
          <a:xfrm>
            <a:off x="521808" y="6300000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B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    [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]])</a:t>
            </a:r>
          </a:p>
          <a:p>
            <a:r>
              <a:rPr lang="nl-BE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(‘bool')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5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12</a:t>
            </a:fld>
            <a:endParaRPr lang="nl-BE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830118" y="1468861"/>
            <a:ext cx="35702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Creating</a:t>
            </a:r>
            <a:r>
              <a:rPr lang="nl-BE" sz="2500" dirty="0"/>
              <a:t>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07ECD-B411-497D-86F1-2B2747ABAD3C}"/>
              </a:ext>
            </a:extLst>
          </p:cNvPr>
          <p:cNvSpPr txBox="1"/>
          <p:nvPr/>
        </p:nvSpPr>
        <p:spPr>
          <a:xfrm>
            <a:off x="1353820" y="2153613"/>
            <a:ext cx="3965154" cy="328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Python </a:t>
            </a:r>
            <a:r>
              <a:rPr lang="nl-BE" sz="2500" dirty="0" err="1"/>
              <a:t>lists</a:t>
            </a:r>
            <a:endParaRPr lang="nl-BE" sz="25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scratch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/>
              <a:t>Read </a:t>
            </a:r>
            <a:r>
              <a:rPr lang="nl-BE" sz="2500" dirty="0" err="1"/>
              <a:t>from</a:t>
            </a:r>
            <a:r>
              <a:rPr lang="nl-BE" sz="2500" dirty="0"/>
              <a:t> file</a:t>
            </a:r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A89B-D081-4CFC-8ABE-B054290667B6}"/>
              </a:ext>
            </a:extLst>
          </p:cNvPr>
          <p:cNvSpPr/>
          <p:nvPr/>
        </p:nvSpPr>
        <p:spPr>
          <a:xfrm>
            <a:off x="521808" y="6299999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280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13</a:t>
            </a:fld>
            <a:endParaRPr lang="nl-BE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830118" y="1468861"/>
            <a:ext cx="35702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Creating</a:t>
            </a:r>
            <a:r>
              <a:rPr lang="nl-BE" sz="2500" dirty="0"/>
              <a:t>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07ECD-B411-497D-86F1-2B2747ABAD3C}"/>
              </a:ext>
            </a:extLst>
          </p:cNvPr>
          <p:cNvSpPr txBox="1"/>
          <p:nvPr/>
        </p:nvSpPr>
        <p:spPr>
          <a:xfrm>
            <a:off x="1353820" y="2153613"/>
            <a:ext cx="3965154" cy="328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b="1" dirty="0" err="1">
                <a:solidFill>
                  <a:schemeClr val="tx2"/>
                </a:solidFill>
              </a:rPr>
              <a:t>From</a:t>
            </a:r>
            <a:r>
              <a:rPr lang="nl-BE" sz="2500" b="1" dirty="0">
                <a:solidFill>
                  <a:schemeClr val="tx2"/>
                </a:solidFill>
              </a:rPr>
              <a:t> Python </a:t>
            </a:r>
            <a:r>
              <a:rPr lang="nl-BE" sz="2500" b="1" dirty="0" err="1">
                <a:solidFill>
                  <a:schemeClr val="tx2"/>
                </a:solidFill>
              </a:rPr>
              <a:t>lists</a:t>
            </a:r>
            <a:endParaRPr lang="nl-BE" sz="2500" b="1" dirty="0">
              <a:solidFill>
                <a:schemeClr val="tx2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scratch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/>
              <a:t>Read </a:t>
            </a:r>
            <a:r>
              <a:rPr lang="nl-BE" sz="2500" dirty="0" err="1"/>
              <a:t>from</a:t>
            </a:r>
            <a:r>
              <a:rPr lang="nl-BE" sz="2500" dirty="0"/>
              <a:t> file</a:t>
            </a:r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A89B-D081-4CFC-8ABE-B054290667B6}"/>
              </a:ext>
            </a:extLst>
          </p:cNvPr>
          <p:cNvSpPr/>
          <p:nvPr/>
        </p:nvSpPr>
        <p:spPr>
          <a:xfrm>
            <a:off x="521808" y="6299999"/>
            <a:ext cx="16200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5EC07-7059-4C13-A5C1-F95F9C786518}"/>
              </a:ext>
            </a:extLst>
          </p:cNvPr>
          <p:cNvSpPr txBox="1"/>
          <p:nvPr/>
        </p:nvSpPr>
        <p:spPr>
          <a:xfrm>
            <a:off x="8621808" y="3196230"/>
            <a:ext cx="3140603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See </a:t>
            </a:r>
            <a:r>
              <a:rPr lang="nl-BE" sz="2500" dirty="0" err="1"/>
              <a:t>previous</a:t>
            </a:r>
            <a:r>
              <a:rPr lang="nl-BE" sz="2500" dirty="0"/>
              <a:t> slides 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017485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14</a:t>
            </a:fld>
            <a:endParaRPr lang="nl-BE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830118" y="1468861"/>
            <a:ext cx="35702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Creating</a:t>
            </a:r>
            <a:r>
              <a:rPr lang="nl-BE" sz="2500" dirty="0"/>
              <a:t>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07ECD-B411-497D-86F1-2B2747ABAD3C}"/>
              </a:ext>
            </a:extLst>
          </p:cNvPr>
          <p:cNvSpPr txBox="1"/>
          <p:nvPr/>
        </p:nvSpPr>
        <p:spPr>
          <a:xfrm>
            <a:off x="1353820" y="2153613"/>
            <a:ext cx="3965154" cy="328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Python </a:t>
            </a:r>
            <a:r>
              <a:rPr lang="nl-BE" sz="2500" dirty="0" err="1"/>
              <a:t>lists</a:t>
            </a:r>
            <a:endParaRPr lang="nl-BE" sz="25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b="1" dirty="0" err="1">
                <a:solidFill>
                  <a:schemeClr val="tx2"/>
                </a:solidFill>
              </a:rPr>
              <a:t>From</a:t>
            </a:r>
            <a:r>
              <a:rPr lang="nl-BE" sz="2500" b="1" dirty="0">
                <a:solidFill>
                  <a:schemeClr val="tx2"/>
                </a:solidFill>
              </a:rPr>
              <a:t> scratch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/>
              <a:t>Read </a:t>
            </a:r>
            <a:r>
              <a:rPr lang="nl-BE" sz="2500" dirty="0" err="1"/>
              <a:t>from</a:t>
            </a:r>
            <a:r>
              <a:rPr lang="nl-BE" sz="2500" dirty="0"/>
              <a:t> file</a:t>
            </a:r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A89B-D081-4CFC-8ABE-B054290667B6}"/>
              </a:ext>
            </a:extLst>
          </p:cNvPr>
          <p:cNvSpPr/>
          <p:nvPr/>
        </p:nvSpPr>
        <p:spPr>
          <a:xfrm>
            <a:off x="521808" y="6299999"/>
            <a:ext cx="16200000" cy="32439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'float’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3 rows, 5 columns of zeros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arange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             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from 0 to (just not) 10 in steps of 2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linspace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             # 5 equally spaced between 0 and 1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random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random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         # 3 by 3 matrix of random numbers in [0, 1]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086F6-390D-48C5-AAF1-CAB5577F07ED}"/>
              </a:ext>
            </a:extLst>
          </p:cNvPr>
          <p:cNvSpPr txBox="1"/>
          <p:nvPr/>
        </p:nvSpPr>
        <p:spPr>
          <a:xfrm>
            <a:off x="4971244" y="2160311"/>
            <a:ext cx="55970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A  </a:t>
            </a:r>
            <a:endParaRPr lang="en-US" sz="25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6C5797-1BA4-4F1F-AB86-844C7F1F2A24}"/>
              </a:ext>
            </a:extLst>
          </p:cNvPr>
          <p:cNvCxnSpPr>
            <a:cxnSpLocks/>
          </p:cNvCxnSpPr>
          <p:nvPr/>
        </p:nvCxnSpPr>
        <p:spPr>
          <a:xfrm>
            <a:off x="5530949" y="242381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56F894-BBD9-44D3-8433-F578E3D95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96770"/>
              </p:ext>
            </p:extLst>
          </p:nvPr>
        </p:nvGraphicFramePr>
        <p:xfrm>
          <a:off x="6513991" y="3777112"/>
          <a:ext cx="4573930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42254133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3117171774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9DC818-99E6-4FDE-A74C-27CCF338AC5D}"/>
              </a:ext>
            </a:extLst>
          </p:cNvPr>
          <p:cNvSpPr txBox="1"/>
          <p:nvPr/>
        </p:nvSpPr>
        <p:spPr>
          <a:xfrm>
            <a:off x="4947266" y="3761710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B  </a:t>
            </a:r>
            <a:endParaRPr lang="en-US" sz="25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02C829-1E58-4C63-B490-08055ED57973}"/>
              </a:ext>
            </a:extLst>
          </p:cNvPr>
          <p:cNvCxnSpPr>
            <a:cxnSpLocks/>
          </p:cNvCxnSpPr>
          <p:nvPr/>
        </p:nvCxnSpPr>
        <p:spPr>
          <a:xfrm>
            <a:off x="5506971" y="4025218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BD6353-BEE4-40EA-AB39-CA2AF2EA8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15319"/>
              </p:ext>
            </p:extLst>
          </p:nvPr>
        </p:nvGraphicFramePr>
        <p:xfrm>
          <a:off x="6513991" y="1671798"/>
          <a:ext cx="4573930" cy="1488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896567644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CC9F88E-AD4A-4496-B97E-F550B7AAA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67757"/>
              </p:ext>
            </p:extLst>
          </p:nvPr>
        </p:nvGraphicFramePr>
        <p:xfrm>
          <a:off x="6537969" y="4939003"/>
          <a:ext cx="4573930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42254133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3117171774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0,25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0,5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0,75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3D84B51-B1AB-46CF-932E-CFFBE6814F25}"/>
              </a:ext>
            </a:extLst>
          </p:cNvPr>
          <p:cNvSpPr txBox="1"/>
          <p:nvPr/>
        </p:nvSpPr>
        <p:spPr>
          <a:xfrm>
            <a:off x="4971244" y="4923601"/>
            <a:ext cx="59503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C  </a:t>
            </a:r>
            <a:endParaRPr lang="en-US" sz="25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F54E73-B5C6-4CB4-B59B-1A57ACAB5199}"/>
              </a:ext>
            </a:extLst>
          </p:cNvPr>
          <p:cNvCxnSpPr>
            <a:cxnSpLocks/>
          </p:cNvCxnSpPr>
          <p:nvPr/>
        </p:nvCxnSpPr>
        <p:spPr>
          <a:xfrm>
            <a:off x="5530949" y="518710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31B1BB6-94E8-4262-BEFB-C2FC22A207B2}"/>
              </a:ext>
            </a:extLst>
          </p:cNvPr>
          <p:cNvSpPr txBox="1"/>
          <p:nvPr/>
        </p:nvSpPr>
        <p:spPr>
          <a:xfrm>
            <a:off x="12019702" y="3171986"/>
            <a:ext cx="595035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D  </a:t>
            </a:r>
            <a:endParaRPr lang="en-US" sz="25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BBE1A5-5D71-4F88-B1A0-65C9BFED9985}"/>
              </a:ext>
            </a:extLst>
          </p:cNvPr>
          <p:cNvCxnSpPr>
            <a:cxnSpLocks/>
          </p:cNvCxnSpPr>
          <p:nvPr/>
        </p:nvCxnSpPr>
        <p:spPr>
          <a:xfrm>
            <a:off x="12579407" y="3435494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0F833F3-F5D8-4530-A7CD-D67364E9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352016"/>
              </p:ext>
            </p:extLst>
          </p:nvPr>
        </p:nvGraphicFramePr>
        <p:xfrm>
          <a:off x="13562449" y="2683473"/>
          <a:ext cx="2744358" cy="1488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0,36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0,78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0,33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0,65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0,98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0,45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0,48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06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2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15</a:t>
            </a:fld>
            <a:endParaRPr lang="nl-BE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830118" y="1468861"/>
            <a:ext cx="35702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Creating</a:t>
            </a:r>
            <a:r>
              <a:rPr lang="nl-BE" sz="2500" dirty="0"/>
              <a:t>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07ECD-B411-497D-86F1-2B2747ABAD3C}"/>
              </a:ext>
            </a:extLst>
          </p:cNvPr>
          <p:cNvSpPr txBox="1"/>
          <p:nvPr/>
        </p:nvSpPr>
        <p:spPr>
          <a:xfrm>
            <a:off x="1353820" y="2153613"/>
            <a:ext cx="3965154" cy="328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Python </a:t>
            </a:r>
            <a:r>
              <a:rPr lang="nl-BE" sz="2500" dirty="0" err="1"/>
              <a:t>lists</a:t>
            </a:r>
            <a:endParaRPr lang="nl-BE" sz="25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scratch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b="1" dirty="0">
                <a:solidFill>
                  <a:schemeClr val="tx2"/>
                </a:solidFill>
              </a:rPr>
              <a:t>Read </a:t>
            </a:r>
            <a:r>
              <a:rPr lang="nl-BE" sz="2500" b="1" dirty="0" err="1">
                <a:solidFill>
                  <a:schemeClr val="tx2"/>
                </a:solidFill>
              </a:rPr>
              <a:t>from</a:t>
            </a:r>
            <a:r>
              <a:rPr lang="nl-BE" sz="2500" b="1" dirty="0">
                <a:solidFill>
                  <a:schemeClr val="tx2"/>
                </a:solidFill>
              </a:rPr>
              <a:t> file</a:t>
            </a:r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A89B-D081-4CFC-8ABE-B054290667B6}"/>
              </a:ext>
            </a:extLst>
          </p:cNvPr>
          <p:cNvSpPr/>
          <p:nvPr/>
        </p:nvSpPr>
        <p:spPr>
          <a:xfrm>
            <a:off x="521808" y="6299999"/>
            <a:ext cx="16200000" cy="32778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endParaRPr lang="en-US" sz="2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chdir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US" sz="2100" dirty="0">
                <a:solidFill>
                  <a:srgbClr val="D7BA7D"/>
                </a:solidFill>
                <a:latin typeface="Consolas" panose="020B0609020204030204" pitchFamily="49" charset="0"/>
              </a:rPr>
              <a:t>/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temp</a:t>
            </a:r>
            <a:r>
              <a:rPr lang="en-US" sz="2100" dirty="0">
                <a:solidFill>
                  <a:srgbClr val="D7BA7D"/>
                </a:solidFill>
                <a:latin typeface="Consolas" panose="020B0609020204030204" pitchFamily="49" charset="0"/>
              </a:rPr>
              <a:t>/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files"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loadtxt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"iris_features.csv"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delimiter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","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skiprows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sz="2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loadtxt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"iris_labels.csv"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delimiter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","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skiprows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sz="2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sz="2100" dirty="0">
                <a:solidFill>
                  <a:srgbClr val="6A9955"/>
                </a:solidFill>
                <a:latin typeface="Consolas" panose="020B0609020204030204" pitchFamily="49" charset="0"/>
              </a:rPr>
              <a:t># mandatory</a:t>
            </a:r>
            <a:endParaRPr lang="en-US" sz="21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086F6-390D-48C5-AAF1-CAB5577F07ED}"/>
              </a:ext>
            </a:extLst>
          </p:cNvPr>
          <p:cNvSpPr txBox="1"/>
          <p:nvPr/>
        </p:nvSpPr>
        <p:spPr>
          <a:xfrm>
            <a:off x="5395906" y="2609024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X  </a:t>
            </a:r>
            <a:endParaRPr lang="en-US" sz="25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6C5797-1BA4-4F1F-AB86-844C7F1F2A24}"/>
              </a:ext>
            </a:extLst>
          </p:cNvPr>
          <p:cNvCxnSpPr>
            <a:cxnSpLocks/>
          </p:cNvCxnSpPr>
          <p:nvPr/>
        </p:nvCxnSpPr>
        <p:spPr>
          <a:xfrm>
            <a:off x="5878679" y="290346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BD6353-BEE4-40EA-AB39-CA2AF2EA8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261796"/>
              </p:ext>
            </p:extLst>
          </p:nvPr>
        </p:nvGraphicFramePr>
        <p:xfrm>
          <a:off x="6990509" y="1724668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2502567-4AEB-43A9-887D-03BA5675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313" y="5137763"/>
            <a:ext cx="6094956" cy="2726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8880C-10D0-4854-AF54-D01B22585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0796" y="6299999"/>
            <a:ext cx="3411012" cy="2726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8D103F5-558C-4260-A72A-6034112A374C}"/>
              </a:ext>
            </a:extLst>
          </p:cNvPr>
          <p:cNvSpPr txBox="1"/>
          <p:nvPr/>
        </p:nvSpPr>
        <p:spPr>
          <a:xfrm>
            <a:off x="12321188" y="2609024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Y  </a:t>
            </a:r>
            <a:endParaRPr lang="en-US" sz="25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D49B64-BA75-4F1D-BAFC-841DC6130C43}"/>
              </a:ext>
            </a:extLst>
          </p:cNvPr>
          <p:cNvCxnSpPr>
            <a:cxnSpLocks/>
          </p:cNvCxnSpPr>
          <p:nvPr/>
        </p:nvCxnSpPr>
        <p:spPr>
          <a:xfrm>
            <a:off x="12803961" y="290346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6DFD166-93CC-408E-AD68-57CC75B2D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7466"/>
              </p:ext>
            </p:extLst>
          </p:nvPr>
        </p:nvGraphicFramePr>
        <p:xfrm>
          <a:off x="13915791" y="1724668"/>
          <a:ext cx="1844296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9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01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16</a:t>
            </a:fld>
            <a:endParaRPr lang="nl-BE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0E681-F2DA-4350-815C-A4A6E5ED726C}"/>
              </a:ext>
            </a:extLst>
          </p:cNvPr>
          <p:cNvSpPr txBox="1"/>
          <p:nvPr/>
        </p:nvSpPr>
        <p:spPr>
          <a:xfrm>
            <a:off x="830118" y="1468861"/>
            <a:ext cx="357020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Creating</a:t>
            </a:r>
            <a:r>
              <a:rPr lang="nl-BE" sz="2500" dirty="0"/>
              <a:t> </a:t>
            </a:r>
            <a:r>
              <a:rPr lang="nl-BE" sz="2500" dirty="0" err="1"/>
              <a:t>Numpy</a:t>
            </a:r>
            <a:r>
              <a:rPr lang="nl-BE" sz="2500" dirty="0"/>
              <a:t> arrays</a:t>
            </a:r>
            <a:endParaRPr lang="en-US" sz="2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07ECD-B411-497D-86F1-2B2747ABAD3C}"/>
              </a:ext>
            </a:extLst>
          </p:cNvPr>
          <p:cNvSpPr txBox="1"/>
          <p:nvPr/>
        </p:nvSpPr>
        <p:spPr>
          <a:xfrm>
            <a:off x="1353820" y="2153613"/>
            <a:ext cx="3965154" cy="328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Python </a:t>
            </a:r>
            <a:r>
              <a:rPr lang="nl-BE" sz="2500" dirty="0" err="1"/>
              <a:t>lists</a:t>
            </a:r>
            <a:endParaRPr lang="nl-BE" sz="25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dirty="0" err="1"/>
              <a:t>From</a:t>
            </a:r>
            <a:r>
              <a:rPr lang="nl-BE" sz="2500" dirty="0"/>
              <a:t> scratch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BE" sz="2500" b="1" dirty="0">
                <a:solidFill>
                  <a:schemeClr val="tx2"/>
                </a:solidFill>
              </a:rPr>
              <a:t>Read </a:t>
            </a:r>
            <a:r>
              <a:rPr lang="nl-BE" sz="2500" b="1" dirty="0" err="1">
                <a:solidFill>
                  <a:schemeClr val="tx2"/>
                </a:solidFill>
              </a:rPr>
              <a:t>from</a:t>
            </a:r>
            <a:r>
              <a:rPr lang="nl-BE" sz="2500" b="1" dirty="0">
                <a:solidFill>
                  <a:schemeClr val="tx2"/>
                </a:solidFill>
              </a:rPr>
              <a:t> file</a:t>
            </a:r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nl-BE" sz="2500" dirty="0"/>
          </a:p>
          <a:p>
            <a:pPr algn="l">
              <a:lnSpc>
                <a:spcPct val="120000"/>
              </a:lnSpc>
            </a:pP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A89B-D081-4CFC-8ABE-B054290667B6}"/>
              </a:ext>
            </a:extLst>
          </p:cNvPr>
          <p:cNvSpPr/>
          <p:nvPr/>
        </p:nvSpPr>
        <p:spPr>
          <a:xfrm>
            <a:off x="521808" y="6299999"/>
            <a:ext cx="16200000" cy="32778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endParaRPr lang="en-US" sz="21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chdir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US" sz="2100" dirty="0">
                <a:solidFill>
                  <a:srgbClr val="D7BA7D"/>
                </a:solidFill>
                <a:latin typeface="Consolas" panose="020B0609020204030204" pitchFamily="49" charset="0"/>
              </a:rPr>
              <a:t>/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temp</a:t>
            </a:r>
            <a:r>
              <a:rPr lang="en-US" sz="2100" dirty="0">
                <a:solidFill>
                  <a:srgbClr val="D7BA7D"/>
                </a:solidFill>
                <a:latin typeface="Consolas" panose="020B0609020204030204" pitchFamily="49" charset="0"/>
              </a:rPr>
              <a:t>/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files"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loadtxt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"iris_features.csv"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delimiter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","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skiprows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sz="2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1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1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Consolas" panose="020B0609020204030204" pitchFamily="49" charset="0"/>
              </a:rPr>
              <a:t>loadtxt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"iris_labels.csv"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delimiter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CE9178"/>
                </a:solidFill>
                <a:latin typeface="Consolas" panose="020B0609020204030204" pitchFamily="49" charset="0"/>
              </a:rPr>
              <a:t>","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skiprows</a:t>
            </a:r>
            <a:r>
              <a:rPr lang="en-US" sz="21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sz="2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1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1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sz="21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086F6-390D-48C5-AAF1-CAB5577F07ED}"/>
              </a:ext>
            </a:extLst>
          </p:cNvPr>
          <p:cNvSpPr txBox="1"/>
          <p:nvPr/>
        </p:nvSpPr>
        <p:spPr>
          <a:xfrm>
            <a:off x="5395906" y="2609024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X  </a:t>
            </a:r>
            <a:endParaRPr lang="en-US" sz="25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6C5797-1BA4-4F1F-AB86-844C7F1F2A24}"/>
              </a:ext>
            </a:extLst>
          </p:cNvPr>
          <p:cNvCxnSpPr>
            <a:cxnSpLocks/>
          </p:cNvCxnSpPr>
          <p:nvPr/>
        </p:nvCxnSpPr>
        <p:spPr>
          <a:xfrm>
            <a:off x="5878679" y="290346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BD6353-BEE4-40EA-AB39-CA2AF2EA8BDB}"/>
              </a:ext>
            </a:extLst>
          </p:cNvPr>
          <p:cNvGraphicFramePr>
            <a:graphicFrameLocks noGrp="1"/>
          </p:cNvGraphicFramePr>
          <p:nvPr/>
        </p:nvGraphicFramePr>
        <p:xfrm>
          <a:off x="6990509" y="1724668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8D103F5-558C-4260-A72A-6034112A374C}"/>
              </a:ext>
            </a:extLst>
          </p:cNvPr>
          <p:cNvSpPr txBox="1"/>
          <p:nvPr/>
        </p:nvSpPr>
        <p:spPr>
          <a:xfrm>
            <a:off x="12321188" y="2609024"/>
            <a:ext cx="577402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Y  </a:t>
            </a:r>
            <a:endParaRPr lang="en-US" sz="25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D49B64-BA75-4F1D-BAFC-841DC6130C43}"/>
              </a:ext>
            </a:extLst>
          </p:cNvPr>
          <p:cNvCxnSpPr>
            <a:cxnSpLocks/>
          </p:cNvCxnSpPr>
          <p:nvPr/>
        </p:nvCxnSpPr>
        <p:spPr>
          <a:xfrm>
            <a:off x="12803961" y="2903469"/>
            <a:ext cx="620653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6DFD166-93CC-408E-AD68-57CC75B2D4CF}"/>
              </a:ext>
            </a:extLst>
          </p:cNvPr>
          <p:cNvGraphicFramePr>
            <a:graphicFrameLocks noGrp="1"/>
          </p:cNvGraphicFramePr>
          <p:nvPr/>
        </p:nvGraphicFramePr>
        <p:xfrm>
          <a:off x="13915791" y="1724668"/>
          <a:ext cx="1844296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9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E3183DC-84CF-444A-9D51-1B6C8281E37B}"/>
              </a:ext>
            </a:extLst>
          </p:cNvPr>
          <p:cNvSpPr/>
          <p:nvPr/>
        </p:nvSpPr>
        <p:spPr>
          <a:xfrm>
            <a:off x="8669337" y="5326637"/>
            <a:ext cx="5065339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array([[5.1, 3.5,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[4.9, 3. 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[4.7, 3.2, 1.3,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[4.6, 3.1, 1.5,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[5. , 3.6,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[5.4, 3.9, 1.7, 0.4],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[4.6, 3.4, 1.4, 0.3], …</a:t>
            </a:r>
            <a:endParaRPr lang="en-US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730AAF-6153-47D7-AE6C-46801037C9D3}"/>
              </a:ext>
            </a:extLst>
          </p:cNvPr>
          <p:cNvSpPr/>
          <p:nvPr/>
        </p:nvSpPr>
        <p:spPr>
          <a:xfrm>
            <a:off x="12019701" y="7269355"/>
            <a:ext cx="5065338" cy="1938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’, … 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2804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55D294-390A-4F35-9BF1-B2911062CE26}"/>
              </a:ext>
            </a:extLst>
          </p:cNvPr>
          <p:cNvSpPr/>
          <p:nvPr/>
        </p:nvSpPr>
        <p:spPr>
          <a:xfrm>
            <a:off x="4358078" y="1729838"/>
            <a:ext cx="8194490" cy="1642753"/>
          </a:xfrm>
          <a:prstGeom prst="roundRect">
            <a:avLst>
              <a:gd name="adj" fmla="val 6123"/>
            </a:avLst>
          </a:prstGeom>
          <a:solidFill>
            <a:srgbClr val="FFFFFF"/>
          </a:solidFill>
          <a:ln w="31750">
            <a:solidFill>
              <a:srgbClr val="1E64C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37C71-CAC5-4CD6-AB28-6033154A4480}"/>
              </a:ext>
            </a:extLst>
          </p:cNvPr>
          <p:cNvSpPr txBox="1"/>
          <p:nvPr/>
        </p:nvSpPr>
        <p:spPr>
          <a:xfrm>
            <a:off x="4502562" y="1927326"/>
            <a:ext cx="8063428" cy="12737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BE" sz="2200" b="1" dirty="0"/>
              <a:t>Question: </a:t>
            </a:r>
            <a:r>
              <a:rPr lang="nl-BE" sz="2200" dirty="0"/>
              <a:t>Load </a:t>
            </a:r>
            <a:r>
              <a:rPr lang="nl-BE" sz="2200" dirty="0" err="1"/>
              <a:t>the</a:t>
            </a:r>
            <a:r>
              <a:rPr lang="nl-BE" sz="2200" dirty="0"/>
              <a:t> files </a:t>
            </a:r>
            <a:r>
              <a:rPr lang="nl-BE" sz="2200" dirty="0">
                <a:latin typeface="Consolas" panose="020B0609020204030204" pitchFamily="49" charset="0"/>
              </a:rPr>
              <a:t>iris_features.csv </a:t>
            </a:r>
            <a:r>
              <a:rPr lang="nl-BE" sz="2200" dirty="0" err="1"/>
              <a:t>and</a:t>
            </a:r>
            <a:r>
              <a:rPr lang="nl-BE" sz="2200" dirty="0"/>
              <a:t> </a:t>
            </a:r>
            <a:r>
              <a:rPr lang="nl-BE" sz="2200" dirty="0">
                <a:latin typeface="Consolas" panose="020B0609020204030204" pitchFamily="49" charset="0"/>
              </a:rPr>
              <a:t>iris_labels.csv</a:t>
            </a:r>
            <a:r>
              <a:rPr lang="nl-BE" sz="2200" dirty="0"/>
              <a:t> </a:t>
            </a:r>
            <a:r>
              <a:rPr lang="nl-BE" sz="2200" dirty="0" err="1"/>
              <a:t>into</a:t>
            </a:r>
            <a:r>
              <a:rPr lang="nl-BE" sz="2200" dirty="0"/>
              <a:t> memory as </a:t>
            </a:r>
            <a:r>
              <a:rPr lang="nl-BE" sz="2200" dirty="0" err="1"/>
              <a:t>two</a:t>
            </a:r>
            <a:r>
              <a:rPr lang="nl-BE" sz="2200" dirty="0"/>
              <a:t> </a:t>
            </a:r>
            <a:r>
              <a:rPr lang="nl-BE" sz="2200" dirty="0" err="1"/>
              <a:t>numpy</a:t>
            </a:r>
            <a:r>
              <a:rPr lang="nl-BE" sz="2200" dirty="0"/>
              <a:t> arrays (</a:t>
            </a:r>
            <a:r>
              <a:rPr lang="nl-BE" sz="2200" dirty="0">
                <a:latin typeface="Consolas" panose="020B0609020204030204" pitchFamily="49" charset="0"/>
              </a:rPr>
              <a:t>X</a:t>
            </a:r>
            <a:r>
              <a:rPr lang="nl-BE" sz="2200" dirty="0"/>
              <a:t> </a:t>
            </a:r>
            <a:r>
              <a:rPr lang="nl-BE" sz="2200" dirty="0" err="1"/>
              <a:t>for</a:t>
            </a:r>
            <a:r>
              <a:rPr lang="nl-BE" sz="2200" dirty="0"/>
              <a:t> features </a:t>
            </a:r>
            <a:r>
              <a:rPr lang="nl-BE" sz="2200" dirty="0" err="1"/>
              <a:t>and</a:t>
            </a:r>
            <a:r>
              <a:rPr lang="nl-BE" sz="2200" dirty="0"/>
              <a:t> </a:t>
            </a:r>
            <a:r>
              <a:rPr lang="nl-BE" sz="2200" dirty="0">
                <a:latin typeface="Consolas" panose="020B0609020204030204" pitchFamily="49" charset="0"/>
              </a:rPr>
              <a:t>Y</a:t>
            </a:r>
            <a:r>
              <a:rPr lang="nl-BE" sz="2200" dirty="0"/>
              <a:t> </a:t>
            </a:r>
            <a:r>
              <a:rPr lang="nl-BE" sz="2200" dirty="0" err="1"/>
              <a:t>for</a:t>
            </a:r>
            <a:r>
              <a:rPr lang="nl-BE" sz="2200" dirty="0"/>
              <a:t> labels) </a:t>
            </a:r>
            <a:r>
              <a:rPr lang="nl-BE" sz="2200" dirty="0" err="1"/>
              <a:t>using</a:t>
            </a:r>
            <a:r>
              <a:rPr lang="nl-BE" sz="2200" dirty="0"/>
              <a:t> Google </a:t>
            </a:r>
            <a:r>
              <a:rPr lang="nl-BE" sz="2200" dirty="0" err="1"/>
              <a:t>Colab</a:t>
            </a:r>
            <a:r>
              <a:rPr lang="nl-BE" sz="2200" dirty="0"/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872C87-F0A4-4286-9D8C-BCC9CCF7D3E8}"/>
              </a:ext>
            </a:extLst>
          </p:cNvPr>
          <p:cNvSpPr/>
          <p:nvPr/>
        </p:nvSpPr>
        <p:spPr>
          <a:xfrm>
            <a:off x="4358078" y="3662142"/>
            <a:ext cx="8194490" cy="1238846"/>
          </a:xfrm>
          <a:prstGeom prst="roundRect">
            <a:avLst>
              <a:gd name="adj" fmla="val 6123"/>
            </a:avLst>
          </a:prstGeom>
          <a:solidFill>
            <a:srgbClr val="FFFFFF"/>
          </a:solidFill>
          <a:ln w="31750">
            <a:solidFill>
              <a:srgbClr val="1E64C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10129-B246-4470-87E2-7731F422A4A8}"/>
              </a:ext>
            </a:extLst>
          </p:cNvPr>
          <p:cNvSpPr txBox="1"/>
          <p:nvPr/>
        </p:nvSpPr>
        <p:spPr>
          <a:xfrm>
            <a:off x="4489140" y="4050957"/>
            <a:ext cx="8063428" cy="4612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BE" sz="2200" b="1" dirty="0"/>
              <a:t>Question: </a:t>
            </a:r>
            <a:r>
              <a:rPr lang="nl-BE" sz="2200" dirty="0" err="1"/>
              <a:t>What</a:t>
            </a:r>
            <a:r>
              <a:rPr lang="nl-BE" sz="2200" dirty="0"/>
              <a:t> is </a:t>
            </a:r>
            <a:r>
              <a:rPr lang="nl-BE" sz="2200" dirty="0" err="1"/>
              <a:t>the</a:t>
            </a:r>
            <a:r>
              <a:rPr lang="nl-BE" sz="2200" dirty="0"/>
              <a:t> data type of X </a:t>
            </a:r>
            <a:r>
              <a:rPr lang="nl-BE" sz="2200" dirty="0" err="1"/>
              <a:t>and</a:t>
            </a:r>
            <a:r>
              <a:rPr lang="nl-BE" sz="2200" dirty="0"/>
              <a:t> Y ? </a:t>
            </a:r>
          </a:p>
        </p:txBody>
      </p:sp>
    </p:spTree>
    <p:extLst>
      <p:ext uri="{BB962C8B-B14F-4D97-AF65-F5344CB8AC3E}">
        <p14:creationId xmlns:p14="http://schemas.microsoft.com/office/powerpoint/2010/main" val="329509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F6A1B-4265-4C4D-BCB1-9142D3EE924E}"/>
              </a:ext>
            </a:extLst>
          </p:cNvPr>
          <p:cNvSpPr txBox="1"/>
          <p:nvPr/>
        </p:nvSpPr>
        <p:spPr>
          <a:xfrm>
            <a:off x="497609" y="1826309"/>
            <a:ext cx="8297464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Data </a:t>
            </a:r>
            <a:r>
              <a:rPr lang="nl-BE" sz="2500" dirty="0" err="1"/>
              <a:t>manipulation</a:t>
            </a:r>
            <a:r>
              <a:rPr lang="nl-BE" sz="2500" dirty="0"/>
              <a:t> in Python ~ </a:t>
            </a:r>
            <a:r>
              <a:rPr lang="nl-BE" sz="2500" dirty="0" err="1"/>
              <a:t>Numpy</a:t>
            </a:r>
            <a:r>
              <a:rPr lang="nl-BE" sz="2500" dirty="0"/>
              <a:t> array </a:t>
            </a:r>
            <a:r>
              <a:rPr lang="nl-BE" sz="2500" dirty="0" err="1"/>
              <a:t>manipulation</a:t>
            </a:r>
            <a:endParaRPr lang="en-US" sz="2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3B66A-25C6-4DC4-B3EC-91F19A309B4B}"/>
              </a:ext>
            </a:extLst>
          </p:cNvPr>
          <p:cNvSpPr/>
          <p:nvPr/>
        </p:nvSpPr>
        <p:spPr>
          <a:xfrm>
            <a:off x="1138844" y="2899899"/>
            <a:ext cx="15918872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2"/>
                </a:solidFill>
              </a:rPr>
              <a:t> Attributes of arrays</a:t>
            </a:r>
            <a:r>
              <a:rPr lang="en-US" dirty="0"/>
              <a:t>: determining the size, shape, memory consumption, and data types of arrays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2"/>
                </a:solidFill>
              </a:rPr>
              <a:t> Indexing of arrays</a:t>
            </a:r>
            <a:r>
              <a:rPr lang="en-US" dirty="0"/>
              <a:t>: getting and setting the value of individual array elements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2"/>
                </a:solidFill>
              </a:rPr>
              <a:t> Slicing of arrays</a:t>
            </a:r>
            <a:r>
              <a:rPr lang="en-US" dirty="0"/>
              <a:t>: getting and setting smaller subarrays within a larger array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2"/>
                </a:solidFill>
              </a:rPr>
              <a:t> [Reshaping of arrays</a:t>
            </a:r>
            <a:r>
              <a:rPr lang="en-US" dirty="0"/>
              <a:t>: changing the shape of a given array]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tx2"/>
                </a:solidFill>
              </a:rPr>
              <a:t> [Joining and splitting of arrays</a:t>
            </a:r>
            <a:r>
              <a:rPr lang="en-US" dirty="0"/>
              <a:t>: combining multiple arrays into one, and splitting one array into many]</a:t>
            </a:r>
          </a:p>
        </p:txBody>
      </p:sp>
    </p:spTree>
    <p:extLst>
      <p:ext uri="{BB962C8B-B14F-4D97-AF65-F5344CB8AC3E}">
        <p14:creationId xmlns:p14="http://schemas.microsoft.com/office/powerpoint/2010/main" val="167796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F7D203-FC0F-41B6-80C4-C90BD789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508851"/>
              </p:ext>
            </p:extLst>
          </p:nvPr>
        </p:nvGraphicFramePr>
        <p:xfrm>
          <a:off x="13816015" y="3084568"/>
          <a:ext cx="2079284" cy="14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821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4,1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2,6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BA10804-CCEA-4E83-86AF-C36E67EC2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99362"/>
              </p:ext>
            </p:extLst>
          </p:nvPr>
        </p:nvGraphicFramePr>
        <p:xfrm>
          <a:off x="13444146" y="3447553"/>
          <a:ext cx="2079284" cy="14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821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6,5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2,4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 err="1"/>
              <a:t>Attributes</a:t>
            </a:r>
            <a:r>
              <a:rPr lang="nl-NL" dirty="0"/>
              <a:t> of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435377"/>
              </p:ext>
            </p:extLst>
          </p:nvPr>
        </p:nvGraphicFramePr>
        <p:xfrm>
          <a:off x="6501723" y="3020832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3D2220-5F0C-4F67-891A-FB9428BA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67" y="2950484"/>
            <a:ext cx="1050875" cy="16513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FDE06B-A2E6-48C6-8030-58994F194AB6}"/>
              </a:ext>
            </a:extLst>
          </p:cNvPr>
          <p:cNvCxnSpPr>
            <a:cxnSpLocks/>
          </p:cNvCxnSpPr>
          <p:nvPr/>
        </p:nvCxnSpPr>
        <p:spPr>
          <a:xfrm>
            <a:off x="6501723" y="2775830"/>
            <a:ext cx="1621477" cy="0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78D7B4-E7B8-4401-B4B6-61035BB5BB95}"/>
              </a:ext>
            </a:extLst>
          </p:cNvPr>
          <p:cNvCxnSpPr>
            <a:cxnSpLocks/>
          </p:cNvCxnSpPr>
          <p:nvPr/>
        </p:nvCxnSpPr>
        <p:spPr>
          <a:xfrm rot="5400000">
            <a:off x="5415526" y="3831571"/>
            <a:ext cx="1621477" cy="0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2E4DC7F-3BFA-4EEF-8AB2-067DC20E54E4}"/>
              </a:ext>
            </a:extLst>
          </p:cNvPr>
          <p:cNvSpPr/>
          <p:nvPr/>
        </p:nvSpPr>
        <p:spPr>
          <a:xfrm rot="16200000">
            <a:off x="4030569" y="3988181"/>
            <a:ext cx="31325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nl-BE" sz="2000" dirty="0" err="1"/>
              <a:t>Axis</a:t>
            </a:r>
            <a:r>
              <a:rPr lang="nl-BE" sz="2000" dirty="0"/>
              <a:t> 0</a:t>
            </a:r>
          </a:p>
          <a:p>
            <a:pPr algn="r"/>
            <a:r>
              <a:rPr lang="nl-BE" sz="2000" dirty="0"/>
              <a:t>(</a:t>
            </a:r>
            <a:r>
              <a:rPr lang="nl-BE" sz="2000" dirty="0" err="1"/>
              <a:t>direction</a:t>
            </a:r>
            <a:r>
              <a:rPr lang="nl-BE" sz="2000" dirty="0"/>
              <a:t> </a:t>
            </a:r>
            <a:r>
              <a:rPr lang="nl-BE" sz="2000" dirty="0" err="1"/>
              <a:t>along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rows</a:t>
            </a:r>
            <a:r>
              <a:rPr lang="nl-BE" sz="2000" dirty="0"/>
              <a:t>) 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8A90A-3021-40F9-B6AE-F71033CB649A}"/>
              </a:ext>
            </a:extLst>
          </p:cNvPr>
          <p:cNvSpPr/>
          <p:nvPr/>
        </p:nvSpPr>
        <p:spPr>
          <a:xfrm>
            <a:off x="6501723" y="2053165"/>
            <a:ext cx="34756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000" dirty="0" err="1"/>
              <a:t>Axis</a:t>
            </a:r>
            <a:r>
              <a:rPr lang="nl-BE" sz="2000" dirty="0"/>
              <a:t> 1 </a:t>
            </a:r>
          </a:p>
          <a:p>
            <a:r>
              <a:rPr lang="nl-BE" sz="2000" dirty="0"/>
              <a:t>(</a:t>
            </a:r>
            <a:r>
              <a:rPr lang="nl-BE" sz="2000" dirty="0" err="1"/>
              <a:t>direction</a:t>
            </a:r>
            <a:r>
              <a:rPr lang="nl-BE" sz="2000" dirty="0"/>
              <a:t> </a:t>
            </a:r>
            <a:r>
              <a:rPr lang="nl-BE" sz="2000" dirty="0" err="1"/>
              <a:t>along</a:t>
            </a:r>
            <a:r>
              <a:rPr lang="nl-BE" sz="2000" dirty="0"/>
              <a:t> </a:t>
            </a:r>
            <a:r>
              <a:rPr lang="nl-BE" sz="2000" dirty="0" err="1"/>
              <a:t>the</a:t>
            </a:r>
            <a:r>
              <a:rPr lang="nl-BE" sz="2000" dirty="0"/>
              <a:t> columns)</a:t>
            </a:r>
            <a:endParaRPr lang="en-US" sz="20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662BF-0C2D-44F4-897B-5C4F1D06D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989472"/>
              </p:ext>
            </p:extLst>
          </p:nvPr>
        </p:nvGraphicFramePr>
        <p:xfrm>
          <a:off x="13067060" y="3827165"/>
          <a:ext cx="2079284" cy="14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821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19821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281970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1960" marR="51960" marT="25980" marB="259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B8C9D7-E33A-44B1-BDF6-D7822A907A34}"/>
              </a:ext>
            </a:extLst>
          </p:cNvPr>
          <p:cNvCxnSpPr>
            <a:cxnSpLocks/>
          </p:cNvCxnSpPr>
          <p:nvPr/>
        </p:nvCxnSpPr>
        <p:spPr>
          <a:xfrm flipV="1">
            <a:off x="12765141" y="2950486"/>
            <a:ext cx="751354" cy="840634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2B495F2-839B-4977-92FD-847B8BEDD278}"/>
              </a:ext>
            </a:extLst>
          </p:cNvPr>
          <p:cNvSpPr/>
          <p:nvPr/>
        </p:nvSpPr>
        <p:spPr>
          <a:xfrm rot="18718092">
            <a:off x="12494296" y="3049474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000" dirty="0" err="1"/>
              <a:t>Axis</a:t>
            </a:r>
            <a:r>
              <a:rPr lang="nl-BE" sz="2000" dirty="0"/>
              <a:t> 2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293D183-44F1-4E05-940B-FCB4672E1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006132"/>
              </p:ext>
            </p:extLst>
          </p:nvPr>
        </p:nvGraphicFramePr>
        <p:xfrm>
          <a:off x="610173" y="3827166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03C972B-3F7D-4754-A434-5CB2234A4838}"/>
              </a:ext>
            </a:extLst>
          </p:cNvPr>
          <p:cNvSpPr txBox="1"/>
          <p:nvPr/>
        </p:nvSpPr>
        <p:spPr>
          <a:xfrm>
            <a:off x="1655074" y="155664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7389666" y="1552356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DBBB7-6D48-45F7-9945-D464E7FB9714}"/>
              </a:ext>
            </a:extLst>
          </p:cNvPr>
          <p:cNvSpPr txBox="1"/>
          <p:nvPr/>
        </p:nvSpPr>
        <p:spPr>
          <a:xfrm>
            <a:off x="13816015" y="1556792"/>
            <a:ext cx="1467068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3D array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5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.ndim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get nr of dimensions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1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.ndim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2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.shape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get shape -&gt; result is </a:t>
            </a:r>
            <a:r>
              <a:rPr lang="en-US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allways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 tuple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(150,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.shape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(150, 4)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15CFC1-1F70-4E4C-AB43-8A8840EF49CC}"/>
              </a:ext>
            </a:extLst>
          </p:cNvPr>
          <p:cNvSpPr/>
          <p:nvPr/>
        </p:nvSpPr>
        <p:spPr>
          <a:xfrm>
            <a:off x="10829960" y="7136409"/>
            <a:ext cx="5065339" cy="15696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get </a:t>
            </a:r>
            <a:r>
              <a:rPr lang="en-US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('&lt;U10')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.dtype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('float64')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147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7" grpId="0"/>
      <p:bldP spid="24" grpId="0"/>
      <p:bldP spid="25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27240"/>
              </p:ext>
            </p:extLst>
          </p:nvPr>
        </p:nvGraphicFramePr>
        <p:xfrm>
          <a:off x="8769087" y="2904453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3D2220-5F0C-4F67-891A-FB9428BA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231" y="2834105"/>
            <a:ext cx="1050875" cy="1651375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293D183-44F1-4E05-940B-FCB4672E1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45399"/>
              </p:ext>
            </p:extLst>
          </p:nvPr>
        </p:nvGraphicFramePr>
        <p:xfrm>
          <a:off x="1757209" y="3706496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03C972B-3F7D-4754-A434-5CB2234A4838}"/>
              </a:ext>
            </a:extLst>
          </p:cNvPr>
          <p:cNvSpPr txBox="1"/>
          <p:nvPr/>
        </p:nvSpPr>
        <p:spPr>
          <a:xfrm>
            <a:off x="280211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965703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[1] 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square brackets with positive integer index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‘</a:t>
            </a:r>
            <a:r>
              <a:rPr lang="nl-BE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’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[1, 2]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square brackets with positive integer indices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1.4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[-1]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negative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index -&gt; index backward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from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the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end of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axis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‘</a:t>
            </a:r>
            <a:r>
              <a:rPr lang="nl-BE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virginica</a:t>
            </a:r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’  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[1, -1]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negative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index -&gt; index backward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from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the</a:t>
            </a:r>
            <a:r>
              <a:rPr lang="nl-BE" sz="2400" dirty="0">
                <a:solidFill>
                  <a:srgbClr val="6A9955"/>
                </a:solidFill>
                <a:latin typeface="Consolas" panose="020B0609020204030204" pitchFamily="49" charset="0"/>
              </a:rPr>
              <a:t> end of </a:t>
            </a:r>
            <a:r>
              <a:rPr lang="nl-BE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axis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0.2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A36C3-B8C5-4FC6-84DE-EB3905450EC1}"/>
              </a:ext>
            </a:extLst>
          </p:cNvPr>
          <p:cNvSpPr/>
          <p:nvPr/>
        </p:nvSpPr>
        <p:spPr>
          <a:xfrm>
            <a:off x="2903027" y="3739748"/>
            <a:ext cx="839585" cy="262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5AC2A7-AA5A-4800-980B-A3F72D8F56B4}"/>
              </a:ext>
            </a:extLst>
          </p:cNvPr>
          <p:cNvCxnSpPr>
            <a:cxnSpLocks/>
          </p:cNvCxnSpPr>
          <p:nvPr/>
        </p:nvCxnSpPr>
        <p:spPr>
          <a:xfrm>
            <a:off x="3318666" y="4002445"/>
            <a:ext cx="0" cy="47874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9D47392-9126-4A29-A14B-EBB7F402EA48}"/>
              </a:ext>
            </a:extLst>
          </p:cNvPr>
          <p:cNvSpPr/>
          <p:nvPr/>
        </p:nvSpPr>
        <p:spPr>
          <a:xfrm>
            <a:off x="2903027" y="4489693"/>
            <a:ext cx="4916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Y[1] -&gt;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numpy.str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_ ~ str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8573D2-8074-4C99-85F7-8EAF8AB9A72E}"/>
              </a:ext>
            </a:extLst>
          </p:cNvPr>
          <p:cNvSpPr/>
          <p:nvPr/>
        </p:nvSpPr>
        <p:spPr>
          <a:xfrm>
            <a:off x="10641136" y="3423151"/>
            <a:ext cx="839585" cy="447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1060928" y="3870284"/>
            <a:ext cx="1" cy="166278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10608732" y="5533073"/>
            <a:ext cx="6494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X[1, 2] -&gt; numpy.float64 ~ float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81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  <p:bldP spid="26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values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/>
        </p:nvGraphicFramePr>
        <p:xfrm>
          <a:off x="8769087" y="2904453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3D2220-5F0C-4F67-891A-FB9428BA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231" y="2834105"/>
            <a:ext cx="1050875" cy="1651375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293D183-44F1-4E05-940B-FCB4672E1054}"/>
              </a:ext>
            </a:extLst>
          </p:cNvPr>
          <p:cNvGraphicFramePr>
            <a:graphicFrameLocks noGrp="1"/>
          </p:cNvGraphicFramePr>
          <p:nvPr/>
        </p:nvGraphicFramePr>
        <p:xfrm>
          <a:off x="1757209" y="3706496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03C972B-3F7D-4754-A434-5CB2234A4838}"/>
              </a:ext>
            </a:extLst>
          </p:cNvPr>
          <p:cNvSpPr txBox="1"/>
          <p:nvPr/>
        </p:nvSpPr>
        <p:spPr>
          <a:xfrm>
            <a:off x="280211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965703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'hello'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 Y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'hello',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’,…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1, 2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9.9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endParaRPr lang="en-US" sz="24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array([[5.1, 3.5,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[4.9, 3. , 9.9, 0.2],…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A36C3-B8C5-4FC6-84DE-EB3905450EC1}"/>
              </a:ext>
            </a:extLst>
          </p:cNvPr>
          <p:cNvSpPr/>
          <p:nvPr/>
        </p:nvSpPr>
        <p:spPr>
          <a:xfrm>
            <a:off x="2903027" y="3739748"/>
            <a:ext cx="839585" cy="262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5AC2A7-AA5A-4800-980B-A3F72D8F56B4}"/>
              </a:ext>
            </a:extLst>
          </p:cNvPr>
          <p:cNvCxnSpPr>
            <a:cxnSpLocks/>
          </p:cNvCxnSpPr>
          <p:nvPr/>
        </p:nvCxnSpPr>
        <p:spPr>
          <a:xfrm>
            <a:off x="3318666" y="4002445"/>
            <a:ext cx="0" cy="47874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9D47392-9126-4A29-A14B-EBB7F402EA48}"/>
              </a:ext>
            </a:extLst>
          </p:cNvPr>
          <p:cNvSpPr/>
          <p:nvPr/>
        </p:nvSpPr>
        <p:spPr>
          <a:xfrm>
            <a:off x="2903027" y="4489693"/>
            <a:ext cx="3733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Y[1] = </a:t>
            </a:r>
            <a:r>
              <a:rPr lang="en-US" sz="28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some_string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8573D2-8074-4C99-85F7-8EAF8AB9A72E}"/>
              </a:ext>
            </a:extLst>
          </p:cNvPr>
          <p:cNvSpPr/>
          <p:nvPr/>
        </p:nvSpPr>
        <p:spPr>
          <a:xfrm>
            <a:off x="10641136" y="3423151"/>
            <a:ext cx="839585" cy="4471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1060928" y="3870284"/>
            <a:ext cx="1" cy="166278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10608732" y="5533073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X[1, 2] = </a:t>
            </a:r>
            <a:r>
              <a:rPr lang="en-US" sz="28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some_float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A4F769-E649-41A1-BE20-FA913ABDA42D}"/>
              </a:ext>
            </a:extLst>
          </p:cNvPr>
          <p:cNvCxnSpPr>
            <a:cxnSpLocks/>
          </p:cNvCxnSpPr>
          <p:nvPr/>
        </p:nvCxnSpPr>
        <p:spPr>
          <a:xfrm>
            <a:off x="2903027" y="3624349"/>
            <a:ext cx="839585" cy="490451"/>
          </a:xfrm>
          <a:prstGeom prst="line">
            <a:avLst/>
          </a:prstGeom>
          <a:ln w="31750">
            <a:solidFill>
              <a:srgbClr val="FF0000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E56308-BFB3-4E14-90F4-6D94266D4F99}"/>
              </a:ext>
            </a:extLst>
          </p:cNvPr>
          <p:cNvSpPr/>
          <p:nvPr/>
        </p:nvSpPr>
        <p:spPr>
          <a:xfrm>
            <a:off x="2745809" y="3315335"/>
            <a:ext cx="118974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some_string</a:t>
            </a:r>
            <a:endParaRPr lang="en-US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C3606-CAB5-4EA6-A6BD-65812C549B05}"/>
              </a:ext>
            </a:extLst>
          </p:cNvPr>
          <p:cNvSpPr/>
          <p:nvPr/>
        </p:nvSpPr>
        <p:spPr>
          <a:xfrm>
            <a:off x="10791706" y="3347272"/>
            <a:ext cx="109837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00" i="1" dirty="0" err="1">
                <a:solidFill>
                  <a:srgbClr val="FF0000"/>
                </a:solidFill>
                <a:latin typeface="Consolas" panose="020B0609020204030204" pitchFamily="49" charset="0"/>
              </a:rPr>
              <a:t>some_float</a:t>
            </a:r>
            <a:endParaRPr lang="en-US" sz="13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36720E-6177-44FC-9F8F-3212492ED15D}"/>
              </a:ext>
            </a:extLst>
          </p:cNvPr>
          <p:cNvCxnSpPr>
            <a:cxnSpLocks/>
          </p:cNvCxnSpPr>
          <p:nvPr/>
        </p:nvCxnSpPr>
        <p:spPr>
          <a:xfrm>
            <a:off x="10619052" y="3414566"/>
            <a:ext cx="839585" cy="490451"/>
          </a:xfrm>
          <a:prstGeom prst="line">
            <a:avLst/>
          </a:prstGeom>
          <a:ln w="31750">
            <a:solidFill>
              <a:srgbClr val="FF0000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FA5C7-7EC6-4B51-929C-2119D9E00C95}"/>
              </a:ext>
            </a:extLst>
          </p:cNvPr>
          <p:cNvSpPr/>
          <p:nvPr/>
        </p:nvSpPr>
        <p:spPr>
          <a:xfrm>
            <a:off x="9091762" y="6617777"/>
            <a:ext cx="6973156" cy="26776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'hello'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--------------------------------------------------------------------------- </a:t>
            </a:r>
          </a:p>
          <a:p>
            <a:r>
              <a:rPr lang="en-US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ValueError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Traceback (most recent call last) </a:t>
            </a:r>
          </a:p>
          <a:p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Cell In [29], line 4 </a:t>
            </a:r>
          </a:p>
          <a:p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1 Y[1] = "hello" </a:t>
            </a:r>
          </a:p>
          <a:p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3 X[1, 2] = 9.9 </a:t>
            </a:r>
          </a:p>
          <a:p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----&gt; 4 X[1, 2] = 'hallo’ </a:t>
            </a:r>
          </a:p>
          <a:p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ValueError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: could not convert string to float: 'hallo'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5019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  <p:bldP spid="26" grpId="0" animBg="1"/>
      <p:bldP spid="30" grpId="0"/>
      <p:bldP spid="10" grpId="0"/>
      <p:bldP spid="20" grpId="0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Array </a:t>
            </a:r>
            <a:r>
              <a:rPr lang="nl-NL" dirty="0" err="1"/>
              <a:t>slicing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/>
        </p:nvGraphicFramePr>
        <p:xfrm>
          <a:off x="8769087" y="2904453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3D2220-5F0C-4F67-891A-FB9428BA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231" y="2834105"/>
            <a:ext cx="1050875" cy="1651375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293D183-44F1-4E05-940B-FCB4672E1054}"/>
              </a:ext>
            </a:extLst>
          </p:cNvPr>
          <p:cNvGraphicFramePr>
            <a:graphicFrameLocks noGrp="1"/>
          </p:cNvGraphicFramePr>
          <p:nvPr/>
        </p:nvGraphicFramePr>
        <p:xfrm>
          <a:off x="1757209" y="3706496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03C972B-3F7D-4754-A434-5CB2234A4838}"/>
              </a:ext>
            </a:extLst>
          </p:cNvPr>
          <p:cNvSpPr txBox="1"/>
          <p:nvPr/>
        </p:nvSpPr>
        <p:spPr>
          <a:xfrm>
            <a:off x="280211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9657030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0:2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'],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'&lt;U10')</a:t>
            </a:r>
            <a:endParaRPr lang="en-US" sz="2400" dirty="0"/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0:2, 1:4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array([[3.5,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[3. , 1.4, 0.2]])</a:t>
            </a:r>
            <a:endParaRPr lang="en-US" sz="2400" dirty="0"/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A36C3-B8C5-4FC6-84DE-EB3905450EC1}"/>
              </a:ext>
            </a:extLst>
          </p:cNvPr>
          <p:cNvSpPr/>
          <p:nvPr/>
        </p:nvSpPr>
        <p:spPr>
          <a:xfrm>
            <a:off x="1845579" y="3739748"/>
            <a:ext cx="1897034" cy="262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5AC2A7-AA5A-4800-980B-A3F72D8F56B4}"/>
              </a:ext>
            </a:extLst>
          </p:cNvPr>
          <p:cNvCxnSpPr>
            <a:cxnSpLocks/>
          </p:cNvCxnSpPr>
          <p:nvPr/>
        </p:nvCxnSpPr>
        <p:spPr>
          <a:xfrm>
            <a:off x="2903027" y="4002445"/>
            <a:ext cx="0" cy="47874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9D47392-9126-4A29-A14B-EBB7F402EA48}"/>
              </a:ext>
            </a:extLst>
          </p:cNvPr>
          <p:cNvSpPr/>
          <p:nvPr/>
        </p:nvSpPr>
        <p:spPr>
          <a:xfrm>
            <a:off x="2334750" y="4455186"/>
            <a:ext cx="4719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Y[0:2] -&gt; 1D array VIEW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8573D2-8074-4C99-85F7-8EAF8AB9A72E}"/>
              </a:ext>
            </a:extLst>
          </p:cNvPr>
          <p:cNvSpPr/>
          <p:nvPr/>
        </p:nvSpPr>
        <p:spPr>
          <a:xfrm>
            <a:off x="9815119" y="2970018"/>
            <a:ext cx="2499919" cy="875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1060929" y="3845117"/>
            <a:ext cx="4150" cy="166278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9969865" y="5524578"/>
            <a:ext cx="5705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X[0:2, 1:4] -&gt; 2D array VIEW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EF19E7-BD9A-4A6E-960A-58CF763A15A3}"/>
              </a:ext>
            </a:extLst>
          </p:cNvPr>
          <p:cNvSpPr txBox="1"/>
          <p:nvPr/>
        </p:nvSpPr>
        <p:spPr>
          <a:xfrm>
            <a:off x="942928" y="5563901"/>
            <a:ext cx="7160935" cy="696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3600" dirty="0">
                <a:highlight>
                  <a:srgbClr val="FFD200"/>
                </a:highlight>
              </a:rPr>
              <a:t>Change view == change </a:t>
            </a:r>
            <a:r>
              <a:rPr lang="nl-BE" sz="3600" dirty="0" err="1">
                <a:highlight>
                  <a:srgbClr val="FFD200"/>
                </a:highlight>
              </a:rPr>
              <a:t>original</a:t>
            </a:r>
            <a:r>
              <a:rPr lang="nl-BE" sz="3600" dirty="0">
                <a:highlight>
                  <a:srgbClr val="FFD200"/>
                </a:highlight>
              </a:rPr>
              <a:t> !!</a:t>
            </a:r>
            <a:endParaRPr lang="en-US" sz="3600" dirty="0">
              <a:highlight>
                <a:srgbClr val="FFD2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0939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  <p:bldP spid="26" grpId="0" animBg="1"/>
      <p:bldP spid="30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Array </a:t>
            </a:r>
            <a:r>
              <a:rPr lang="nl-NL" dirty="0" err="1"/>
              <a:t>slicing</a:t>
            </a:r>
            <a:endParaRPr lang="nl-NL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293D183-44F1-4E05-940B-FCB4672E1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34200"/>
              </p:ext>
            </p:extLst>
          </p:nvPr>
        </p:nvGraphicFramePr>
        <p:xfrm>
          <a:off x="5800703" y="3882664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03C972B-3F7D-4754-A434-5CB2234A4838}"/>
              </a:ext>
            </a:extLst>
          </p:cNvPr>
          <p:cNvSpPr txBox="1"/>
          <p:nvPr/>
        </p:nvSpPr>
        <p:spPr>
          <a:xfrm>
            <a:off x="6845604" y="1612145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:2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'],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'&lt;U10')</a:t>
            </a:r>
            <a:endParaRPr lang="en-US" sz="2400" dirty="0"/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2: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', '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setosa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’, …],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dtype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'&lt;U10’)</a:t>
            </a:r>
            <a:endParaRPr lang="en-US" sz="2400" dirty="0"/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A36C3-B8C5-4FC6-84DE-EB3905450EC1}"/>
              </a:ext>
            </a:extLst>
          </p:cNvPr>
          <p:cNvSpPr/>
          <p:nvPr/>
        </p:nvSpPr>
        <p:spPr>
          <a:xfrm>
            <a:off x="5889073" y="3915916"/>
            <a:ext cx="1897034" cy="262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5AC2A7-AA5A-4800-980B-A3F72D8F56B4}"/>
              </a:ext>
            </a:extLst>
          </p:cNvPr>
          <p:cNvCxnSpPr>
            <a:cxnSpLocks/>
          </p:cNvCxnSpPr>
          <p:nvPr/>
        </p:nvCxnSpPr>
        <p:spPr>
          <a:xfrm>
            <a:off x="6510294" y="4178613"/>
            <a:ext cx="0" cy="47874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9D47392-9126-4A29-A14B-EBB7F402EA48}"/>
              </a:ext>
            </a:extLst>
          </p:cNvPr>
          <p:cNvSpPr/>
          <p:nvPr/>
        </p:nvSpPr>
        <p:spPr>
          <a:xfrm>
            <a:off x="6042684" y="4658444"/>
            <a:ext cx="4522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Y[:2] -&gt; 1D array VIEW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0A3BC2-E6D2-4CCA-BE27-02C4F4A74893}"/>
              </a:ext>
            </a:extLst>
          </p:cNvPr>
          <p:cNvSpPr/>
          <p:nvPr/>
        </p:nvSpPr>
        <p:spPr>
          <a:xfrm>
            <a:off x="6977036" y="3774324"/>
            <a:ext cx="3207187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FC87B1-40C7-4917-B379-A5BF80AE6B4B}"/>
              </a:ext>
            </a:extLst>
          </p:cNvPr>
          <p:cNvCxnSpPr>
            <a:cxnSpLocks/>
          </p:cNvCxnSpPr>
          <p:nvPr/>
        </p:nvCxnSpPr>
        <p:spPr>
          <a:xfrm rot="10800000">
            <a:off x="9355560" y="3309926"/>
            <a:ext cx="0" cy="47874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58094F0-BE38-4E76-9A52-CA757F570B33}"/>
              </a:ext>
            </a:extLst>
          </p:cNvPr>
          <p:cNvSpPr/>
          <p:nvPr/>
        </p:nvSpPr>
        <p:spPr>
          <a:xfrm>
            <a:off x="8426556" y="2732536"/>
            <a:ext cx="4522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Y[2:] -&gt; 1D array VIEW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78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  <p:bldP spid="16" grpId="0" animBg="1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Array </a:t>
            </a:r>
            <a:r>
              <a:rPr lang="nl-NL" dirty="0" err="1"/>
              <a:t>slicing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022877"/>
              </p:ext>
            </p:extLst>
          </p:nvPr>
        </p:nvGraphicFramePr>
        <p:xfrm>
          <a:off x="5639993" y="2803785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6527936" y="1335309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:]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extract one row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array([4.9, 3. , 1.4, 0.2])</a:t>
            </a:r>
            <a:endParaRPr lang="en-US" sz="2400" dirty="0"/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2]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extract one column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array([1.4, 1.4, 1.3, 1.5, 1.4, 1.7, 1.4, 1.5, 1.4, 1.5, 1.5, 1.6, 1.4, 1.1, 1.2, 1.5, 1.3, 1.4, 1.7, 1.5, …</a:t>
            </a:r>
            <a:endParaRPr lang="en-US" sz="2400" dirty="0"/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8573D2-8074-4C99-85F7-8EAF8AB9A72E}"/>
              </a:ext>
            </a:extLst>
          </p:cNvPr>
          <p:cNvSpPr/>
          <p:nvPr/>
        </p:nvSpPr>
        <p:spPr>
          <a:xfrm>
            <a:off x="5721293" y="3355596"/>
            <a:ext cx="3481430" cy="388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</p:cNvCxnSpPr>
          <p:nvPr/>
        </p:nvCxnSpPr>
        <p:spPr>
          <a:xfrm>
            <a:off x="9209109" y="3543113"/>
            <a:ext cx="840902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10206904" y="3251182"/>
            <a:ext cx="69541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X[1, :] -&gt; </a:t>
            </a:r>
            <a:r>
              <a:rPr lang="en-US" sz="2800" u="sng" dirty="0">
                <a:solidFill>
                  <a:srgbClr val="FF0000"/>
                </a:solidFill>
                <a:latin typeface="Consolas" panose="020B0609020204030204" pitchFamily="49" charset="0"/>
              </a:rPr>
              <a:t>1D array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VIEW of 2</a:t>
            </a:r>
            <a:r>
              <a:rPr lang="en-US" sz="2800" baseline="30000" dirty="0">
                <a:solidFill>
                  <a:srgbClr val="FF0000"/>
                </a:solidFill>
                <a:latin typeface="Consolas" panose="020B0609020204030204" pitchFamily="49" charset="0"/>
              </a:rPr>
              <a:t>nd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row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1A94E5-082A-45D2-ADAD-164698AA88DC}"/>
              </a:ext>
            </a:extLst>
          </p:cNvPr>
          <p:cNvSpPr/>
          <p:nvPr/>
        </p:nvSpPr>
        <p:spPr>
          <a:xfrm>
            <a:off x="7520355" y="2862329"/>
            <a:ext cx="793135" cy="23472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237801-706B-4E37-9705-258D65BA9061}"/>
              </a:ext>
            </a:extLst>
          </p:cNvPr>
          <p:cNvCxnSpPr>
            <a:cxnSpLocks/>
          </p:cNvCxnSpPr>
          <p:nvPr/>
        </p:nvCxnSpPr>
        <p:spPr>
          <a:xfrm>
            <a:off x="8313490" y="5020974"/>
            <a:ext cx="1191237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BA7770A-B363-4318-8EB5-482588D5EDFE}"/>
              </a:ext>
            </a:extLst>
          </p:cNvPr>
          <p:cNvSpPr/>
          <p:nvPr/>
        </p:nvSpPr>
        <p:spPr>
          <a:xfrm>
            <a:off x="9517686" y="4726502"/>
            <a:ext cx="7677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X[:, 2] -&gt; </a:t>
            </a:r>
            <a:r>
              <a:rPr lang="en-US" sz="2800" u="sng" dirty="0">
                <a:solidFill>
                  <a:srgbClr val="FF0000"/>
                </a:solidFill>
                <a:latin typeface="Consolas" panose="020B0609020204030204" pitchFamily="49" charset="0"/>
              </a:rPr>
              <a:t>1D array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VIEW of 3rd column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99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/>
      <p:bldP spid="21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Array </a:t>
            </a:r>
            <a:r>
              <a:rPr lang="nl-NL" dirty="0" err="1"/>
              <a:t>slicing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/>
        </p:nvGraphicFramePr>
        <p:xfrm>
          <a:off x="5639993" y="2803785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D708E28-64F6-4128-81E6-262A923FE197}"/>
              </a:ext>
            </a:extLst>
          </p:cNvPr>
          <p:cNvSpPr txBox="1"/>
          <p:nvPr/>
        </p:nvSpPr>
        <p:spPr>
          <a:xfrm>
            <a:off x="6527936" y="1335309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605E-B81F-4B95-8021-2D4166DA9A14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150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array([[5.1, 1.4],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[4.7, 1.3],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[5. , 1.4],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[4.6, 1.4],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[4.4, 1.4],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[5.4, 1.5],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…</a:t>
            </a:r>
            <a:endParaRPr lang="nl-BE" sz="2400" dirty="0">
              <a:solidFill>
                <a:srgbClr val="4FC1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</p:cNvCxnSpPr>
          <p:nvPr/>
        </p:nvCxnSpPr>
        <p:spPr>
          <a:xfrm>
            <a:off x="9209109" y="3543113"/>
            <a:ext cx="840902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10164958" y="3251182"/>
            <a:ext cx="60656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X[0:150:2, 0:4:2] 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-&gt; </a:t>
            </a:r>
            <a:r>
              <a:rPr lang="en-US" sz="2800" u="sng" dirty="0">
                <a:solidFill>
                  <a:srgbClr val="FF0000"/>
                </a:solidFill>
                <a:latin typeface="Consolas" panose="020B0609020204030204" pitchFamily="49" charset="0"/>
              </a:rPr>
              <a:t>2D array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VIEW with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  odd row/col combinations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1A94E5-082A-45D2-ADAD-164698AA88DC}"/>
              </a:ext>
            </a:extLst>
          </p:cNvPr>
          <p:cNvSpPr/>
          <p:nvPr/>
        </p:nvSpPr>
        <p:spPr>
          <a:xfrm>
            <a:off x="5734801" y="2863931"/>
            <a:ext cx="793135" cy="387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CF7BF6-3FF5-4B83-844B-B57062E680EE}"/>
              </a:ext>
            </a:extLst>
          </p:cNvPr>
          <p:cNvSpPr/>
          <p:nvPr/>
        </p:nvSpPr>
        <p:spPr>
          <a:xfrm>
            <a:off x="7542196" y="2863930"/>
            <a:ext cx="793135" cy="387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3EF3C0-3D8A-4DEE-AD75-9404FD8B003F}"/>
              </a:ext>
            </a:extLst>
          </p:cNvPr>
          <p:cNvSpPr/>
          <p:nvPr/>
        </p:nvSpPr>
        <p:spPr>
          <a:xfrm>
            <a:off x="5724429" y="3850691"/>
            <a:ext cx="793135" cy="387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2F457-D089-4785-B4A0-37FA9D0C75E7}"/>
              </a:ext>
            </a:extLst>
          </p:cNvPr>
          <p:cNvSpPr/>
          <p:nvPr/>
        </p:nvSpPr>
        <p:spPr>
          <a:xfrm>
            <a:off x="7542195" y="3848403"/>
            <a:ext cx="793135" cy="387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CB7FD-E8DE-412B-817C-9E5B7014124B}"/>
              </a:ext>
            </a:extLst>
          </p:cNvPr>
          <p:cNvSpPr/>
          <p:nvPr/>
        </p:nvSpPr>
        <p:spPr>
          <a:xfrm>
            <a:off x="10637240" y="3251181"/>
            <a:ext cx="201336" cy="45719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2BD2CE-67EB-4771-8EF5-E8542F3CD1DF}"/>
              </a:ext>
            </a:extLst>
          </p:cNvPr>
          <p:cNvSpPr/>
          <p:nvPr/>
        </p:nvSpPr>
        <p:spPr>
          <a:xfrm>
            <a:off x="11052527" y="3251181"/>
            <a:ext cx="533047" cy="45719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93E3A-DD4B-47F9-8210-204AF0CB2CC6}"/>
              </a:ext>
            </a:extLst>
          </p:cNvPr>
          <p:cNvSpPr/>
          <p:nvPr/>
        </p:nvSpPr>
        <p:spPr>
          <a:xfrm>
            <a:off x="11810716" y="3251181"/>
            <a:ext cx="201336" cy="45719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46EF0-100C-4CAF-A8C2-AE616BEBF5A3}"/>
              </a:ext>
            </a:extLst>
          </p:cNvPr>
          <p:cNvSpPr txBox="1"/>
          <p:nvPr/>
        </p:nvSpPr>
        <p:spPr>
          <a:xfrm>
            <a:off x="11721638" y="2483758"/>
            <a:ext cx="712054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000" dirty="0"/>
              <a:t>Step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2FC887-DF47-4B7B-84EC-6F7873E02951}"/>
              </a:ext>
            </a:extLst>
          </p:cNvPr>
          <p:cNvSpPr txBox="1"/>
          <p:nvPr/>
        </p:nvSpPr>
        <p:spPr>
          <a:xfrm>
            <a:off x="11190995" y="2084274"/>
            <a:ext cx="712054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000" dirty="0"/>
              <a:t>Stop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7B4DB-43DB-4893-BF28-3D29A2DA87EF}"/>
              </a:ext>
            </a:extLst>
          </p:cNvPr>
          <p:cNvSpPr txBox="1"/>
          <p:nvPr/>
        </p:nvSpPr>
        <p:spPr>
          <a:xfrm>
            <a:off x="10565676" y="1654724"/>
            <a:ext cx="724878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000" dirty="0"/>
              <a:t>Start</a:t>
            </a:r>
            <a:endParaRPr lang="en-US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BB11CB-52AB-4E5E-AA9D-C1684CD0EAE8}"/>
              </a:ext>
            </a:extLst>
          </p:cNvPr>
          <p:cNvCxnSpPr>
            <a:cxnSpLocks/>
          </p:cNvCxnSpPr>
          <p:nvPr/>
        </p:nvCxnSpPr>
        <p:spPr>
          <a:xfrm flipV="1">
            <a:off x="10737908" y="2082470"/>
            <a:ext cx="0" cy="1060593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FE7238-8EEA-499A-A5AB-D27320300D92}"/>
              </a:ext>
            </a:extLst>
          </p:cNvPr>
          <p:cNvCxnSpPr>
            <a:cxnSpLocks/>
          </p:cNvCxnSpPr>
          <p:nvPr/>
        </p:nvCxnSpPr>
        <p:spPr>
          <a:xfrm flipV="1">
            <a:off x="11344400" y="2483758"/>
            <a:ext cx="0" cy="659306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06DE83-58B3-4D4D-BDB0-EDFC1AB2F7F9}"/>
              </a:ext>
            </a:extLst>
          </p:cNvPr>
          <p:cNvCxnSpPr>
            <a:cxnSpLocks/>
          </p:cNvCxnSpPr>
          <p:nvPr/>
        </p:nvCxnSpPr>
        <p:spPr>
          <a:xfrm flipV="1">
            <a:off x="11911384" y="2863930"/>
            <a:ext cx="0" cy="279134"/>
          </a:xfrm>
          <a:prstGeom prst="straightConnector1">
            <a:avLst/>
          </a:prstGeom>
          <a:ln w="31750">
            <a:solidFill>
              <a:schemeClr val="tx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4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1" grpId="0" animBg="1"/>
      <p:bldP spid="12" grpId="0" animBg="1"/>
      <p:bldP spid="13" grpId="0" animBg="1"/>
      <p:bldP spid="14" grpId="0" animBg="1"/>
      <p:bldP spid="3" grpId="0" animBg="1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7" y="252000"/>
            <a:ext cx="16508557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changing</a:t>
            </a:r>
            <a:r>
              <a:rPr lang="nl-NL" dirty="0"/>
              <a:t> multiple </a:t>
            </a:r>
            <a:r>
              <a:rPr lang="nl-NL" dirty="0" err="1"/>
              <a:t>values</a:t>
            </a:r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858832"/>
              </p:ext>
            </p:extLst>
          </p:nvPr>
        </p:nvGraphicFramePr>
        <p:xfrm>
          <a:off x="1900825" y="2533869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</p:cNvCxnSpPr>
          <p:nvPr/>
        </p:nvCxnSpPr>
        <p:spPr>
          <a:xfrm>
            <a:off x="4572000" y="2762250"/>
            <a:ext cx="1332995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91A94E5-082A-45D2-ADAD-164698AA88DC}"/>
              </a:ext>
            </a:extLst>
          </p:cNvPr>
          <p:cNvSpPr/>
          <p:nvPr/>
        </p:nvSpPr>
        <p:spPr>
          <a:xfrm>
            <a:off x="2833834" y="2560763"/>
            <a:ext cx="1738166" cy="430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64B9385-AED1-4A16-BEEC-A5F50EF0D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735222"/>
              </p:ext>
            </p:extLst>
          </p:nvPr>
        </p:nvGraphicFramePr>
        <p:xfrm>
          <a:off x="10526145" y="2533869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D0349E88-92D0-4890-AD36-63FDDB178A5D}"/>
              </a:ext>
            </a:extLst>
          </p:cNvPr>
          <p:cNvSpPr/>
          <p:nvPr/>
        </p:nvSpPr>
        <p:spPr>
          <a:xfrm>
            <a:off x="2833834" y="3084534"/>
            <a:ext cx="2652564" cy="430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B1BDF9-8C5B-4748-A0ED-61099D22392B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10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same value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 # different value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array([[ 5.1, 10. , 10. 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[ 4.9, 1. , 2. , 3. 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[ 4.7, 3.2, 1.3, 0.2],</a:t>
            </a:r>
            <a:endParaRPr lang="en-US" sz="2400" dirty="0"/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 …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6435D4-FF9C-4B18-8A89-4D34F3BC3FCF}"/>
              </a:ext>
            </a:extLst>
          </p:cNvPr>
          <p:cNvCxnSpPr>
            <a:cxnSpLocks/>
          </p:cNvCxnSpPr>
          <p:nvPr/>
        </p:nvCxnSpPr>
        <p:spPr>
          <a:xfrm>
            <a:off x="5486398" y="3305175"/>
            <a:ext cx="418597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BF9B4D1-FC2E-48AA-BC9D-0C91A4480D4C}"/>
              </a:ext>
            </a:extLst>
          </p:cNvPr>
          <p:cNvSpPr/>
          <p:nvPr/>
        </p:nvSpPr>
        <p:spPr>
          <a:xfrm>
            <a:off x="6021563" y="2529185"/>
            <a:ext cx="27334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X[0, 1:3] = 10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05F410-75EF-4A54-AAF2-310ACBC9264F}"/>
              </a:ext>
            </a:extLst>
          </p:cNvPr>
          <p:cNvSpPr/>
          <p:nvPr/>
        </p:nvSpPr>
        <p:spPr>
          <a:xfrm>
            <a:off x="6021563" y="3052956"/>
            <a:ext cx="39228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X[1, 1:4] = [1, 2, 3]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2BA6EA-3D68-4757-B9E8-431C0FBADF8F}"/>
              </a:ext>
            </a:extLst>
          </p:cNvPr>
          <p:cNvSpPr/>
          <p:nvPr/>
        </p:nvSpPr>
        <p:spPr>
          <a:xfrm>
            <a:off x="11513675" y="2557760"/>
            <a:ext cx="1738166" cy="430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F7FF4D-D1D4-44AD-8B55-C0D5377FD603}"/>
              </a:ext>
            </a:extLst>
          </p:cNvPr>
          <p:cNvSpPr/>
          <p:nvPr/>
        </p:nvSpPr>
        <p:spPr>
          <a:xfrm>
            <a:off x="11513675" y="3081531"/>
            <a:ext cx="2652564" cy="430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98BA07-41DF-4692-9B51-A5317A3D4B58}"/>
              </a:ext>
            </a:extLst>
          </p:cNvPr>
          <p:cNvSpPr/>
          <p:nvPr/>
        </p:nvSpPr>
        <p:spPr>
          <a:xfrm>
            <a:off x="7234491" y="3576727"/>
            <a:ext cx="1497012" cy="594342"/>
          </a:xfrm>
          <a:prstGeom prst="rightArrow">
            <a:avLst/>
          </a:prstGeom>
          <a:solidFill>
            <a:schemeClr val="tx2"/>
          </a:soli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50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 animBg="1"/>
      <p:bldP spid="10" grpId="0"/>
      <p:bldP spid="22" grpId="0"/>
      <p:bldP spid="24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copying</a:t>
            </a:r>
            <a:r>
              <a:rPr lang="nl-NL" dirty="0"/>
              <a:t>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258065"/>
              </p:ext>
            </p:extLst>
          </p:nvPr>
        </p:nvGraphicFramePr>
        <p:xfrm>
          <a:off x="2215150" y="3094730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0244C6-0699-405D-B6F7-27C7D5406959}"/>
              </a:ext>
            </a:extLst>
          </p:cNvPr>
          <p:cNvCxnSpPr>
            <a:cxnSpLocks/>
          </p:cNvCxnSpPr>
          <p:nvPr/>
        </p:nvCxnSpPr>
        <p:spPr>
          <a:xfrm>
            <a:off x="3569826" y="4039982"/>
            <a:ext cx="0" cy="226943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D51C9-4F0C-4460-9422-D7A15EEB9F9C}"/>
              </a:ext>
            </a:extLst>
          </p:cNvPr>
          <p:cNvSpPr/>
          <p:nvPr/>
        </p:nvSpPr>
        <p:spPr>
          <a:xfrm>
            <a:off x="2979002" y="6494153"/>
            <a:ext cx="3339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 = X[0:2, 0:3]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1A94E5-082A-45D2-ADAD-164698AA88DC}"/>
              </a:ext>
            </a:extLst>
          </p:cNvPr>
          <p:cNvSpPr/>
          <p:nvPr/>
        </p:nvSpPr>
        <p:spPr>
          <a:xfrm>
            <a:off x="2309958" y="3121624"/>
            <a:ext cx="2519737" cy="918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64B9385-AED1-4A16-BEEC-A5F50EF0D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958492"/>
              </p:ext>
            </p:extLst>
          </p:nvPr>
        </p:nvGraphicFramePr>
        <p:xfrm>
          <a:off x="9516495" y="3094730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8AC631-EEFC-4577-9F5F-9CEC55C1890F}"/>
              </a:ext>
            </a:extLst>
          </p:cNvPr>
          <p:cNvCxnSpPr>
            <a:cxnSpLocks/>
          </p:cNvCxnSpPr>
          <p:nvPr/>
        </p:nvCxnSpPr>
        <p:spPr>
          <a:xfrm>
            <a:off x="10871171" y="4039982"/>
            <a:ext cx="0" cy="2269434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09FBA68-C482-45CF-BE83-882DC57B67EC}"/>
              </a:ext>
            </a:extLst>
          </p:cNvPr>
          <p:cNvSpPr/>
          <p:nvPr/>
        </p:nvSpPr>
        <p:spPr>
          <a:xfrm>
            <a:off x="10280347" y="6494153"/>
            <a:ext cx="4719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 = X[0:2, 0:3].copy()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349E88-92D0-4890-AD36-63FDDB178A5D}"/>
              </a:ext>
            </a:extLst>
          </p:cNvPr>
          <p:cNvSpPr/>
          <p:nvPr/>
        </p:nvSpPr>
        <p:spPr>
          <a:xfrm>
            <a:off x="9611303" y="3121624"/>
            <a:ext cx="2519737" cy="918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A723CA-0713-453E-86C8-7113E7111CF7}"/>
              </a:ext>
            </a:extLst>
          </p:cNvPr>
          <p:cNvSpPr/>
          <p:nvPr/>
        </p:nvSpPr>
        <p:spPr>
          <a:xfrm>
            <a:off x="13497915" y="7017373"/>
            <a:ext cx="1091210" cy="45719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329EC-3F17-4D98-B14B-6C302C7AFF42}"/>
              </a:ext>
            </a:extLst>
          </p:cNvPr>
          <p:cNvSpPr txBox="1"/>
          <p:nvPr/>
        </p:nvSpPr>
        <p:spPr>
          <a:xfrm>
            <a:off x="2215150" y="7259399"/>
            <a:ext cx="3550844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highlight>
                  <a:srgbClr val="FFD200"/>
                </a:highlight>
              </a:rPr>
              <a:t>Change A == Change X</a:t>
            </a:r>
            <a:endParaRPr lang="en-US" sz="2500" dirty="0">
              <a:highlight>
                <a:srgbClr val="FFD2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31E737-88C7-45D9-8E06-DBA0C96A94E0}"/>
              </a:ext>
            </a:extLst>
          </p:cNvPr>
          <p:cNvSpPr txBox="1"/>
          <p:nvPr/>
        </p:nvSpPr>
        <p:spPr>
          <a:xfrm>
            <a:off x="9823568" y="7259399"/>
            <a:ext cx="3387466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>
                <a:highlight>
                  <a:srgbClr val="FFD200"/>
                </a:highlight>
              </a:rPr>
              <a:t>Change B ≠ Change X</a:t>
            </a:r>
            <a:endParaRPr lang="en-US" sz="2500" dirty="0">
              <a:highlight>
                <a:srgbClr val="FFD2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4752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923B2F-5620-4C72-A18A-FB5B06F4880D}"/>
              </a:ext>
            </a:extLst>
          </p:cNvPr>
          <p:cNvGrpSpPr/>
          <p:nvPr/>
        </p:nvGrpSpPr>
        <p:grpSpPr>
          <a:xfrm>
            <a:off x="3906815" y="4876800"/>
            <a:ext cx="8882909" cy="3953581"/>
            <a:chOff x="3883064" y="4152404"/>
            <a:chExt cx="8882909" cy="395358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D55D294-390A-4F35-9BF1-B2911062CE26}"/>
                </a:ext>
              </a:extLst>
            </p:cNvPr>
            <p:cNvSpPr/>
            <p:nvPr/>
          </p:nvSpPr>
          <p:spPr>
            <a:xfrm>
              <a:off x="3883064" y="4152404"/>
              <a:ext cx="8882909" cy="3946567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7D37C71-CAC5-4CD6-AB28-6033154A4480}"/>
                    </a:ext>
                  </a:extLst>
                </p:cNvPr>
                <p:cNvSpPr txBox="1"/>
                <p:nvPr/>
              </p:nvSpPr>
              <p:spPr>
                <a:xfrm>
                  <a:off x="4027549" y="4349892"/>
                  <a:ext cx="8512794" cy="37560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nl-BE" sz="2200" b="1" dirty="0"/>
                    <a:t>Question: </a:t>
                  </a:r>
                  <a:r>
                    <a:rPr lang="nl-BE" sz="2200" dirty="0"/>
                    <a:t>The </a:t>
                  </a:r>
                  <a:r>
                    <a:rPr lang="nl-BE" sz="2200" i="1" dirty="0" err="1"/>
                    <a:t>setosa</a:t>
                  </a:r>
                  <a:r>
                    <a:rPr lang="nl-BE" sz="2200" i="1" dirty="0"/>
                    <a:t> </a:t>
                  </a:r>
                  <a:r>
                    <a:rPr lang="nl-BE" sz="2200" dirty="0"/>
                    <a:t>species has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unique</a:t>
                  </a:r>
                  <a:r>
                    <a:rPr lang="nl-BE" sz="2200" dirty="0"/>
                    <a:t> property </a:t>
                  </a:r>
                  <a:r>
                    <a:rPr lang="nl-BE" sz="2200" dirty="0" err="1"/>
                    <a:t>that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length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of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its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sepals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/>
                    <a:t>(1st column) are more </a:t>
                  </a:r>
                  <a:r>
                    <a:rPr lang="nl-BE" sz="2200" dirty="0" err="1"/>
                    <a:t>than</a:t>
                  </a:r>
                  <a:r>
                    <a:rPr lang="nl-BE" sz="2200" dirty="0"/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two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times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the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length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of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its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petals</a:t>
                  </a:r>
                  <a:r>
                    <a:rPr lang="nl-BE" sz="2200" dirty="0"/>
                    <a:t>  (3rd column). For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remaining</a:t>
                  </a:r>
                  <a:r>
                    <a:rPr lang="nl-BE" sz="2200" dirty="0"/>
                    <a:t> species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opposite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holds</a:t>
                  </a:r>
                  <a:r>
                    <a:rPr lang="nl-BE" sz="2200" dirty="0"/>
                    <a:t>.</a:t>
                  </a:r>
                </a:p>
                <a:p>
                  <a:pPr>
                    <a:lnSpc>
                      <a:spcPct val="120000"/>
                    </a:lnSpc>
                  </a:pPr>
                  <a:endParaRPr lang="nl-BE" sz="2200" dirty="0"/>
                </a:p>
                <a:p>
                  <a:pPr>
                    <a:lnSpc>
                      <a:spcPct val="120000"/>
                    </a:lnSpc>
                  </a:pPr>
                  <a:r>
                    <a:rPr lang="nl-BE" sz="2200" dirty="0"/>
                    <a:t>Write a program </a:t>
                  </a:r>
                  <a:r>
                    <a:rPr lang="nl-BE" sz="2200" dirty="0" err="1"/>
                    <a:t>that</a:t>
                  </a:r>
                  <a:r>
                    <a:rPr lang="nl-BE" sz="2200" dirty="0"/>
                    <a:t> does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following</a:t>
                  </a:r>
                  <a:r>
                    <a:rPr lang="nl-BE" sz="2200" dirty="0"/>
                    <a:t> check:</a:t>
                  </a:r>
                </a:p>
                <a:p>
                  <a:pPr>
                    <a:lnSpc>
                      <a:spcPct val="120000"/>
                    </a:lnSpc>
                  </a:pPr>
                  <a:endParaRPr lang="nl-BE" sz="2200" dirty="0"/>
                </a:p>
                <a:p>
                  <a:pPr algn="ctr">
                    <a:lnSpc>
                      <a:spcPct val="120000"/>
                    </a:lnSpc>
                  </a:pPr>
                  <a:r>
                    <a:rPr lang="nl-BE" sz="2200" i="1" dirty="0" err="1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Sepal_length</a:t>
                  </a:r>
                  <a:r>
                    <a:rPr lang="nl-BE" sz="2200" i="1" dirty="0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 </a:t>
                  </a:r>
                  <a:r>
                    <a:rPr lang="nl-BE" sz="2200" i="1" dirty="0">
                      <a:solidFill>
                        <a:schemeClr val="tx2"/>
                      </a:solidFill>
                    </a:rPr>
                    <a:t>&gt; 2 * </a:t>
                  </a:r>
                  <a:r>
                    <a:rPr lang="nl-BE" sz="2200" i="1" dirty="0" err="1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petal_length</a:t>
                  </a:r>
                  <a:r>
                    <a:rPr lang="nl-BE" sz="2200" i="1" dirty="0">
                      <a:solidFill>
                        <a:schemeClr val="tx2"/>
                      </a:solidFill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nl-BE" sz="25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a14:m>
                  <a:r>
                    <a:rPr lang="nl-BE" sz="2200" b="1" i="1" dirty="0">
                      <a:solidFill>
                        <a:schemeClr val="tx2"/>
                      </a:solidFill>
                    </a:rPr>
                    <a:t>   </a:t>
                  </a:r>
                  <a:r>
                    <a:rPr lang="nl-BE" sz="2200" i="1" dirty="0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species</a:t>
                  </a:r>
                  <a:r>
                    <a:rPr lang="nl-BE" sz="2200" i="1" dirty="0">
                      <a:solidFill>
                        <a:schemeClr val="tx2"/>
                      </a:solidFill>
                    </a:rPr>
                    <a:t> is ‘</a:t>
                  </a:r>
                  <a:r>
                    <a:rPr lang="nl-BE" sz="2200" i="1" dirty="0" err="1">
                      <a:solidFill>
                        <a:schemeClr val="tx2"/>
                      </a:solidFill>
                    </a:rPr>
                    <a:t>setosa</a:t>
                  </a:r>
                  <a:r>
                    <a:rPr lang="nl-BE" sz="2200" i="1" dirty="0">
                      <a:solidFill>
                        <a:schemeClr val="tx2"/>
                      </a:solidFill>
                    </a:rPr>
                    <a:t>’</a:t>
                  </a:r>
                </a:p>
                <a:p>
                  <a:pPr>
                    <a:lnSpc>
                      <a:spcPct val="120000"/>
                    </a:lnSpc>
                  </a:pPr>
                  <a:endParaRPr lang="nl-BE" sz="2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7D37C71-CAC5-4CD6-AB28-6033154A4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7549" y="4349892"/>
                  <a:ext cx="8512794" cy="3756093"/>
                </a:xfrm>
                <a:prstGeom prst="rect">
                  <a:avLst/>
                </a:prstGeom>
                <a:blipFill>
                  <a:blip r:embed="rId2"/>
                  <a:stretch>
                    <a:fillRect l="-931" r="-9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E91F91-955C-4F3F-A69E-31528330242B}"/>
              </a:ext>
            </a:extLst>
          </p:cNvPr>
          <p:cNvGrpSpPr/>
          <p:nvPr/>
        </p:nvGrpSpPr>
        <p:grpSpPr>
          <a:xfrm>
            <a:off x="3906815" y="1976634"/>
            <a:ext cx="8882909" cy="1657216"/>
            <a:chOff x="3883064" y="4152405"/>
            <a:chExt cx="8882909" cy="165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A7F2FB1-5C28-41EA-A011-487F03703823}"/>
                </a:ext>
              </a:extLst>
            </p:cNvPr>
            <p:cNvSpPr/>
            <p:nvPr/>
          </p:nvSpPr>
          <p:spPr>
            <a:xfrm>
              <a:off x="3883064" y="4152405"/>
              <a:ext cx="8882909" cy="1657216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B40294-6661-460B-99E1-3EA6DEB6E97C}"/>
                </a:ext>
              </a:extLst>
            </p:cNvPr>
            <p:cNvSpPr txBox="1"/>
            <p:nvPr/>
          </p:nvSpPr>
          <p:spPr>
            <a:xfrm>
              <a:off x="4027549" y="4349892"/>
              <a:ext cx="8512794" cy="1273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200" dirty="0"/>
                <a:t>Five entries in </a:t>
              </a:r>
              <a:r>
                <a:rPr lang="nl-BE" sz="2200" dirty="0" err="1"/>
                <a:t>the</a:t>
              </a:r>
              <a:r>
                <a:rPr lang="nl-BE" sz="2200" dirty="0"/>
                <a:t> iris dataset have a </a:t>
              </a:r>
              <a:r>
                <a:rPr lang="nl-BE" sz="2200" dirty="0" err="1"/>
                <a:t>value</a:t>
              </a:r>
              <a:r>
                <a:rPr lang="nl-BE" sz="2200" dirty="0"/>
                <a:t> of 0.1. </a:t>
              </a:r>
              <a:r>
                <a:rPr lang="nl-BE" sz="2200" dirty="0" err="1"/>
                <a:t>Find</a:t>
              </a:r>
              <a:r>
                <a:rPr lang="nl-BE" sz="2200" dirty="0"/>
                <a:t> these entries </a:t>
              </a:r>
              <a:r>
                <a:rPr lang="nl-BE" sz="2200" dirty="0" err="1"/>
                <a:t>and</a:t>
              </a:r>
              <a:r>
                <a:rPr lang="nl-BE" sz="2200" dirty="0"/>
                <a:t> update </a:t>
              </a:r>
              <a:r>
                <a:rPr lang="nl-BE" sz="2200" dirty="0" err="1"/>
                <a:t>the</a:t>
              </a:r>
              <a:r>
                <a:rPr lang="nl-BE" sz="2200" dirty="0"/>
                <a:t> dataset </a:t>
              </a:r>
              <a:r>
                <a:rPr lang="nl-BE" sz="2200" dirty="0" err="1"/>
                <a:t>by</a:t>
              </a:r>
              <a:r>
                <a:rPr lang="nl-BE" sz="2200" dirty="0"/>
                <a:t> </a:t>
              </a:r>
              <a:r>
                <a:rPr lang="nl-BE" sz="2200" dirty="0" err="1"/>
                <a:t>replacing</a:t>
              </a:r>
              <a:r>
                <a:rPr lang="nl-BE" sz="2200" dirty="0"/>
                <a:t> </a:t>
              </a:r>
              <a:r>
                <a:rPr lang="nl-BE" sz="2200" dirty="0" err="1"/>
                <a:t>those</a:t>
              </a:r>
              <a:r>
                <a:rPr lang="nl-BE" sz="2200" dirty="0"/>
                <a:t> </a:t>
              </a:r>
              <a:r>
                <a:rPr lang="nl-BE" sz="2200" dirty="0" err="1"/>
                <a:t>values</a:t>
              </a:r>
              <a:r>
                <a:rPr lang="nl-BE" sz="2200" dirty="0"/>
                <a:t> </a:t>
              </a:r>
              <a:r>
                <a:rPr lang="nl-BE" sz="2200" dirty="0" err="1"/>
                <a:t>with</a:t>
              </a:r>
              <a:r>
                <a:rPr lang="nl-BE" sz="2200" dirty="0"/>
                <a:t> 0.2.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02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9D42-28B1-7D2B-D4D6-A1786990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D53D7-107D-EF1E-3D62-400D5974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: </a:t>
            </a:r>
            <a:r>
              <a:rPr lang="nl-NL" dirty="0" err="1"/>
              <a:t>hidden</a:t>
            </a:r>
            <a:r>
              <a:rPr lang="nl-NL" dirty="0"/>
              <a:t> topics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26235-B985-0100-2926-D8FDD7E1897A}"/>
              </a:ext>
            </a:extLst>
          </p:cNvPr>
          <p:cNvSpPr txBox="1"/>
          <p:nvPr/>
        </p:nvSpPr>
        <p:spPr>
          <a:xfrm>
            <a:off x="950976" y="1536192"/>
            <a:ext cx="6374822" cy="2303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nl-BE" sz="2500" dirty="0"/>
              <a:t>The </a:t>
            </a:r>
            <a:r>
              <a:rPr lang="nl-BE" sz="2500" dirty="0" err="1"/>
              <a:t>following</a:t>
            </a:r>
            <a:r>
              <a:rPr lang="nl-BE" sz="2500" dirty="0"/>
              <a:t> topics are ‘</a:t>
            </a:r>
            <a:r>
              <a:rPr lang="nl-BE" sz="2500" dirty="0" err="1"/>
              <a:t>hidden</a:t>
            </a:r>
            <a:r>
              <a:rPr lang="nl-BE" sz="2500" dirty="0"/>
              <a:t>’ slides</a:t>
            </a:r>
          </a:p>
          <a:p>
            <a:pPr marL="993084" lvl="1" indent="-342900">
              <a:lnSpc>
                <a:spcPct val="200000"/>
              </a:lnSpc>
              <a:buFontTx/>
              <a:buChar char="-"/>
            </a:pPr>
            <a:r>
              <a:rPr lang="nl-BE" sz="2500" dirty="0"/>
              <a:t>Array </a:t>
            </a:r>
            <a:r>
              <a:rPr lang="nl-BE" sz="2500" dirty="0" err="1"/>
              <a:t>reshaping</a:t>
            </a:r>
            <a:r>
              <a:rPr lang="nl-BE" sz="2500" dirty="0"/>
              <a:t> </a:t>
            </a:r>
            <a:r>
              <a:rPr lang="nl-BE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np.reshape</a:t>
            </a:r>
            <a:endParaRPr lang="nl-BE" sz="2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93084" lvl="1" indent="-342900">
              <a:lnSpc>
                <a:spcPct val="200000"/>
              </a:lnSpc>
              <a:buFontTx/>
              <a:buChar char="-"/>
            </a:pPr>
            <a:r>
              <a:rPr lang="nl-BE" sz="2500" dirty="0" err="1"/>
              <a:t>Extending</a:t>
            </a:r>
            <a:r>
              <a:rPr lang="nl-BE" sz="2500" dirty="0"/>
              <a:t> arrays </a:t>
            </a:r>
            <a:r>
              <a:rPr lang="nl-BE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np.concatenate</a:t>
            </a:r>
            <a:endParaRPr lang="nl-BE" sz="2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60EB71-47F0-D70F-3C1D-DFF0ABDFD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375452"/>
              </p:ext>
            </p:extLst>
          </p:nvPr>
        </p:nvGraphicFramePr>
        <p:xfrm>
          <a:off x="1771476" y="5659845"/>
          <a:ext cx="2200436" cy="18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26124B-80D2-5F42-40EE-7311882F2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484383"/>
              </p:ext>
            </p:extLst>
          </p:nvPr>
        </p:nvGraphicFramePr>
        <p:xfrm>
          <a:off x="5267475" y="5953578"/>
          <a:ext cx="3401862" cy="122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7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84037143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1666157478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B7B01FB0-EF93-E124-D916-5511590AFD4D}"/>
              </a:ext>
            </a:extLst>
          </p:cNvPr>
          <p:cNvSpPr/>
          <p:nvPr/>
        </p:nvSpPr>
        <p:spPr>
          <a:xfrm>
            <a:off x="4340352" y="6473863"/>
            <a:ext cx="512064" cy="329184"/>
          </a:xfrm>
          <a:prstGeom prst="right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6231C9-CCD9-88E8-C4B5-22D564878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286823"/>
              </p:ext>
            </p:extLst>
          </p:nvPr>
        </p:nvGraphicFramePr>
        <p:xfrm>
          <a:off x="11216434" y="5659845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01E17B7-A372-F4EB-1EE9-C1BCAE5B7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785919"/>
              </p:ext>
            </p:extLst>
          </p:nvPr>
        </p:nvGraphicFramePr>
        <p:xfrm>
          <a:off x="11216434" y="4667419"/>
          <a:ext cx="3659144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282705974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48417904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75362875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383694280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11680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553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EFB7C3A-5328-7CFF-914E-D81A4C97EF6D}"/>
              </a:ext>
            </a:extLst>
          </p:cNvPr>
          <p:cNvSpPr txBox="1"/>
          <p:nvPr/>
        </p:nvSpPr>
        <p:spPr>
          <a:xfrm>
            <a:off x="12217807" y="8256562"/>
            <a:ext cx="2086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800" i="1" dirty="0" err="1"/>
              <a:t>extending</a:t>
            </a:r>
            <a:endParaRPr lang="nl-BE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250FC-5689-EB79-BDC7-04287E608B40}"/>
              </a:ext>
            </a:extLst>
          </p:cNvPr>
          <p:cNvSpPr txBox="1"/>
          <p:nvPr/>
        </p:nvSpPr>
        <p:spPr>
          <a:xfrm>
            <a:off x="4077427" y="8153988"/>
            <a:ext cx="205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2800" i="1" dirty="0" err="1"/>
              <a:t>Reshaping</a:t>
            </a:r>
            <a:endParaRPr lang="nl-BE" i="1" dirty="0"/>
          </a:p>
        </p:txBody>
      </p:sp>
    </p:spTree>
    <p:extLst>
      <p:ext uri="{BB962C8B-B14F-4D97-AF65-F5344CB8AC3E}">
        <p14:creationId xmlns:p14="http://schemas.microsoft.com/office/powerpoint/2010/main" val="466528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reshaping</a:t>
            </a:r>
            <a:r>
              <a:rPr lang="nl-NL" dirty="0"/>
              <a:t>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32522"/>
              </p:ext>
            </p:extLst>
          </p:nvPr>
        </p:nvGraphicFramePr>
        <p:xfrm>
          <a:off x="2326359" y="4343198"/>
          <a:ext cx="2200436" cy="18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2824C5-41A5-46D5-8118-89F62B40B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05157"/>
              </p:ext>
            </p:extLst>
          </p:nvPr>
        </p:nvGraphicFramePr>
        <p:xfrm>
          <a:off x="4971409" y="1782977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D76882D-08AF-49F7-88FE-DFCA5AACE875}"/>
              </a:ext>
            </a:extLst>
          </p:cNvPr>
          <p:cNvSpPr/>
          <p:nvPr/>
        </p:nvSpPr>
        <p:spPr>
          <a:xfrm>
            <a:off x="2057361" y="3673962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((3, 4))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50B31-A7A9-4F5C-9C9F-CBED7D59DBF0}"/>
              </a:ext>
            </a:extLst>
          </p:cNvPr>
          <p:cNvSpPr/>
          <p:nvPr/>
        </p:nvSpPr>
        <p:spPr>
          <a:xfrm>
            <a:off x="6087918" y="1211792"/>
            <a:ext cx="5622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A 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np.arange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13) -&gt; 1D array</a:t>
            </a:r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1FD5BA-F7A7-4DA4-8C19-885F97A1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28457"/>
              </p:ext>
            </p:extLst>
          </p:nvPr>
        </p:nvGraphicFramePr>
        <p:xfrm>
          <a:off x="6968406" y="4649123"/>
          <a:ext cx="3401862" cy="122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7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84037143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1666157478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8D59CC2-53B1-44A6-9213-9E37BDFEE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67648"/>
              </p:ext>
            </p:extLst>
          </p:nvPr>
        </p:nvGraphicFramePr>
        <p:xfrm>
          <a:off x="13702548" y="3425423"/>
          <a:ext cx="1100218" cy="367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2336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8411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9301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7F64E2B-BB8F-45CE-A74C-7DF5FE3A5B22}"/>
              </a:ext>
            </a:extLst>
          </p:cNvPr>
          <p:cNvSpPr/>
          <p:nvPr/>
        </p:nvSpPr>
        <p:spPr>
          <a:xfrm>
            <a:off x="7058315" y="3673962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((2, 6))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E0CFA6-18A3-4334-8081-B636AAE65A4F}"/>
              </a:ext>
            </a:extLst>
          </p:cNvPr>
          <p:cNvSpPr/>
          <p:nvPr/>
        </p:nvSpPr>
        <p:spPr>
          <a:xfrm>
            <a:off x="12716018" y="2692887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((6, 2))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AF05262-7487-4CDB-B2BF-8D8818945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53593"/>
              </p:ext>
            </p:extLst>
          </p:nvPr>
        </p:nvGraphicFramePr>
        <p:xfrm>
          <a:off x="4971409" y="7821194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24B985A8-4206-4326-B00C-5EE8133AA6BA}"/>
              </a:ext>
            </a:extLst>
          </p:cNvPr>
          <p:cNvSpPr/>
          <p:nvPr/>
        </p:nvSpPr>
        <p:spPr>
          <a:xfrm>
            <a:off x="6087918" y="7250009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12)-&gt; 2D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  <p:bldP spid="22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reshaping</a:t>
            </a:r>
            <a:r>
              <a:rPr lang="nl-NL" dirty="0"/>
              <a:t>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670506"/>
              </p:ext>
            </p:extLst>
          </p:nvPr>
        </p:nvGraphicFramePr>
        <p:xfrm>
          <a:off x="2326359" y="4343198"/>
          <a:ext cx="2200436" cy="18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2824C5-41A5-46D5-8118-89F62B40B56A}"/>
              </a:ext>
            </a:extLst>
          </p:cNvPr>
          <p:cNvGraphicFramePr>
            <a:graphicFrameLocks noGrp="1"/>
          </p:cNvGraphicFramePr>
          <p:nvPr/>
        </p:nvGraphicFramePr>
        <p:xfrm>
          <a:off x="4971409" y="1782977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D76882D-08AF-49F7-88FE-DFCA5AACE875}"/>
              </a:ext>
            </a:extLst>
          </p:cNvPr>
          <p:cNvSpPr/>
          <p:nvPr/>
        </p:nvSpPr>
        <p:spPr>
          <a:xfrm>
            <a:off x="2057361" y="3673962"/>
            <a:ext cx="3243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((3, </a:t>
            </a:r>
            <a:r>
              <a:rPr lang="en-US" sz="2400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-1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50B31-A7A9-4F5C-9C9F-CBED7D59DBF0}"/>
              </a:ext>
            </a:extLst>
          </p:cNvPr>
          <p:cNvSpPr/>
          <p:nvPr/>
        </p:nvSpPr>
        <p:spPr>
          <a:xfrm>
            <a:off x="6087918" y="1211792"/>
            <a:ext cx="5622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A 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np.arange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13) -&gt; 1D array</a:t>
            </a:r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1FD5BA-F7A7-4DA4-8C19-885F97A1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615083"/>
              </p:ext>
            </p:extLst>
          </p:nvPr>
        </p:nvGraphicFramePr>
        <p:xfrm>
          <a:off x="6968406" y="4649123"/>
          <a:ext cx="3401862" cy="122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7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84037143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1666157478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8D59CC2-53B1-44A6-9213-9E37BDFEE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01639"/>
              </p:ext>
            </p:extLst>
          </p:nvPr>
        </p:nvGraphicFramePr>
        <p:xfrm>
          <a:off x="13702548" y="3425423"/>
          <a:ext cx="1100218" cy="367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2336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8411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9301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7F64E2B-BB8F-45CE-A74C-7DF5FE3A5B22}"/>
              </a:ext>
            </a:extLst>
          </p:cNvPr>
          <p:cNvSpPr/>
          <p:nvPr/>
        </p:nvSpPr>
        <p:spPr>
          <a:xfrm>
            <a:off x="7058315" y="3673962"/>
            <a:ext cx="3243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((2, </a:t>
            </a:r>
            <a:r>
              <a:rPr lang="en-US" sz="2400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-1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))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E0CFA6-18A3-4334-8081-B636AAE65A4F}"/>
              </a:ext>
            </a:extLst>
          </p:cNvPr>
          <p:cNvSpPr/>
          <p:nvPr/>
        </p:nvSpPr>
        <p:spPr>
          <a:xfrm>
            <a:off x="12716018" y="2692887"/>
            <a:ext cx="3243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((6, </a:t>
            </a:r>
            <a:r>
              <a:rPr lang="en-US" sz="2400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-1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))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0EB144C-EB16-482C-9E4D-2D7389F62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553787"/>
              </p:ext>
            </p:extLst>
          </p:nvPr>
        </p:nvGraphicFramePr>
        <p:xfrm>
          <a:off x="4971409" y="7821194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73D04425-D639-4454-ADA8-57A365EECB40}"/>
              </a:ext>
            </a:extLst>
          </p:cNvPr>
          <p:cNvSpPr/>
          <p:nvPr/>
        </p:nvSpPr>
        <p:spPr>
          <a:xfrm>
            <a:off x="6087918" y="7250009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</a:t>
            </a:r>
            <a:r>
              <a:rPr lang="en-US" sz="2400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-1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)-&gt; 2D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372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reshaping</a:t>
            </a:r>
            <a:r>
              <a:rPr lang="nl-NL" dirty="0"/>
              <a:t>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F99105-0A60-4A10-AA20-6CE6EB027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14660"/>
              </p:ext>
            </p:extLst>
          </p:nvPr>
        </p:nvGraphicFramePr>
        <p:xfrm>
          <a:off x="2326359" y="4343198"/>
          <a:ext cx="2200436" cy="18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2824C5-41A5-46D5-8118-89F62B40B56A}"/>
              </a:ext>
            </a:extLst>
          </p:cNvPr>
          <p:cNvGraphicFramePr>
            <a:graphicFrameLocks noGrp="1"/>
          </p:cNvGraphicFramePr>
          <p:nvPr/>
        </p:nvGraphicFramePr>
        <p:xfrm>
          <a:off x="4971409" y="1782977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D76882D-08AF-49F7-88FE-DFCA5AACE875}"/>
              </a:ext>
            </a:extLst>
          </p:cNvPr>
          <p:cNvSpPr/>
          <p:nvPr/>
        </p:nvSpPr>
        <p:spPr>
          <a:xfrm>
            <a:off x="830118" y="3616939"/>
            <a:ext cx="5282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((3, 4), </a:t>
            </a:r>
            <a:r>
              <a:rPr lang="en-US" sz="2400" u="sng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order = ‘F’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50B31-A7A9-4F5C-9C9F-CBED7D59DBF0}"/>
              </a:ext>
            </a:extLst>
          </p:cNvPr>
          <p:cNvSpPr/>
          <p:nvPr/>
        </p:nvSpPr>
        <p:spPr>
          <a:xfrm>
            <a:off x="6087918" y="1211792"/>
            <a:ext cx="5622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A 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np.arange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13) -&gt; 1D array</a:t>
            </a:r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1FD5BA-F7A7-4DA4-8C19-885F97A1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27182"/>
              </p:ext>
            </p:extLst>
          </p:nvPr>
        </p:nvGraphicFramePr>
        <p:xfrm>
          <a:off x="6968406" y="4649123"/>
          <a:ext cx="3401862" cy="122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77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3597076454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2784037143"/>
                    </a:ext>
                  </a:extLst>
                </a:gridCol>
                <a:gridCol w="566977">
                  <a:extLst>
                    <a:ext uri="{9D8B030D-6E8A-4147-A177-3AD203B41FA5}">
                      <a16:colId xmlns:a16="http://schemas.microsoft.com/office/drawing/2014/main" val="1666157478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8D59CC2-53B1-44A6-9213-9E37BDFEE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36917"/>
              </p:ext>
            </p:extLst>
          </p:nvPr>
        </p:nvGraphicFramePr>
        <p:xfrm>
          <a:off x="13702548" y="3425423"/>
          <a:ext cx="1100218" cy="367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9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50109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2336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84118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9301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7F64E2B-BB8F-45CE-A74C-7DF5FE3A5B22}"/>
              </a:ext>
            </a:extLst>
          </p:cNvPr>
          <p:cNvSpPr/>
          <p:nvPr/>
        </p:nvSpPr>
        <p:spPr>
          <a:xfrm>
            <a:off x="6427755" y="3616938"/>
            <a:ext cx="5282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((2, 6), </a:t>
            </a:r>
            <a:r>
              <a:rPr lang="en-US" sz="2400" u="sng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order = ‘F’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E0CFA6-18A3-4334-8081-B636AAE65A4F}"/>
              </a:ext>
            </a:extLst>
          </p:cNvPr>
          <p:cNvSpPr/>
          <p:nvPr/>
        </p:nvSpPr>
        <p:spPr>
          <a:xfrm>
            <a:off x="11896868" y="2775050"/>
            <a:ext cx="5282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((6, 2), </a:t>
            </a:r>
            <a:r>
              <a:rPr lang="en-US" sz="2400" u="sng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order = ‘F’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AF05262-7487-4CDB-B2BF-8D8818945A1D}"/>
              </a:ext>
            </a:extLst>
          </p:cNvPr>
          <p:cNvGraphicFramePr>
            <a:graphicFrameLocks noGrp="1"/>
          </p:cNvGraphicFramePr>
          <p:nvPr/>
        </p:nvGraphicFramePr>
        <p:xfrm>
          <a:off x="4971409" y="7821194"/>
          <a:ext cx="7247088" cy="61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9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8856343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3249780302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209770339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0990198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48345629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965392970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273393201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402264593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1999082154"/>
                    </a:ext>
                  </a:extLst>
                </a:gridCol>
                <a:gridCol w="603924">
                  <a:extLst>
                    <a:ext uri="{9D8B030D-6E8A-4147-A177-3AD203B41FA5}">
                      <a16:colId xmlns:a16="http://schemas.microsoft.com/office/drawing/2014/main" val="4196863747"/>
                    </a:ext>
                  </a:extLst>
                </a:gridCol>
              </a:tblGrid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24B985A8-4206-4326-B00C-5EE8133AA6BA}"/>
              </a:ext>
            </a:extLst>
          </p:cNvPr>
          <p:cNvSpPr/>
          <p:nvPr/>
        </p:nvSpPr>
        <p:spPr>
          <a:xfrm>
            <a:off x="5408245" y="7250009"/>
            <a:ext cx="6981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A.reshape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(1, 12, </a:t>
            </a:r>
            <a:r>
              <a:rPr lang="en-US" sz="2400" u="sng" dirty="0">
                <a:solidFill>
                  <a:srgbClr val="FF0000"/>
                </a:solidFill>
                <a:highlight>
                  <a:srgbClr val="FFD200"/>
                </a:highlight>
                <a:latin typeface="Consolas" panose="020B0609020204030204" pitchFamily="49" charset="0"/>
              </a:rPr>
              <a:t>order = ‘F’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)-&gt; 2D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04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concatenating</a:t>
            </a:r>
            <a:r>
              <a:rPr lang="nl-NL" dirty="0"/>
              <a:t> arrays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0C133F-8542-49B8-9AA9-4C85107AB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71226"/>
              </p:ext>
            </p:extLst>
          </p:nvPr>
        </p:nvGraphicFramePr>
        <p:xfrm>
          <a:off x="9826546" y="2904453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2174CF58-E352-4FE6-A67E-2BAB676B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690" y="2834105"/>
            <a:ext cx="1050875" cy="1651375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A9BC5F7-FF4F-466E-A39C-D8D454569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90851"/>
              </p:ext>
            </p:extLst>
          </p:nvPr>
        </p:nvGraphicFramePr>
        <p:xfrm>
          <a:off x="3116435" y="3778956"/>
          <a:ext cx="4161332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2114804107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261403275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712627191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3322628641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setosa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 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virginica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31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CC3D87A-AB34-4288-BAE8-1DEF39A01732}"/>
              </a:ext>
            </a:extLst>
          </p:cNvPr>
          <p:cNvSpPr txBox="1"/>
          <p:nvPr/>
        </p:nvSpPr>
        <p:spPr>
          <a:xfrm>
            <a:off x="3116435" y="1480153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1D array (Y)</a:t>
            </a:r>
            <a:endParaRPr lang="en-US" sz="25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FE63FF-69B6-47F2-99BE-53CFAB7D7AAF}"/>
              </a:ext>
            </a:extLst>
          </p:cNvPr>
          <p:cNvSpPr txBox="1"/>
          <p:nvPr/>
        </p:nvSpPr>
        <p:spPr>
          <a:xfrm>
            <a:off x="10714489" y="1435977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9BDE39-B2CA-4749-B773-994816A25297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X_extra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.array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([[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], [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8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X_new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.concatenate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X_extra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])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X_new</a:t>
            </a:r>
            <a:endParaRPr lang="en-US" sz="24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array([[1. , 2. , 3. , 4. 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[5. , 6. , 7. , 8. 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[5.1, 3.5, 1.4,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[4.9, 3. , 1.4, 0.2], …</a:t>
            </a:r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4F8B1B-3384-46E3-94EA-6169B30B2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39639"/>
              </p:ext>
            </p:extLst>
          </p:nvPr>
        </p:nvGraphicFramePr>
        <p:xfrm>
          <a:off x="9826546" y="1912027"/>
          <a:ext cx="3659144" cy="99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282705974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48417904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75362875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383694280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11680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553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AD3226-5F9B-468B-9FEC-8F928769D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08288"/>
              </p:ext>
            </p:extLst>
          </p:nvPr>
        </p:nvGraphicFramePr>
        <p:xfrm>
          <a:off x="1032217" y="3778956"/>
          <a:ext cx="2080666" cy="3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333">
                  <a:extLst>
                    <a:ext uri="{9D8B030D-6E8A-4147-A177-3AD203B41FA5}">
                      <a16:colId xmlns:a16="http://schemas.microsoft.com/office/drawing/2014/main" val="4041329889"/>
                    </a:ext>
                  </a:extLst>
                </a:gridCol>
                <a:gridCol w="1040333">
                  <a:extLst>
                    <a:ext uri="{9D8B030D-6E8A-4147-A177-3AD203B41FA5}">
                      <a16:colId xmlns:a16="http://schemas.microsoft.com/office/drawing/2014/main" val="448916915"/>
                    </a:ext>
                  </a:extLst>
                </a:gridCol>
              </a:tblGrid>
              <a:tr h="32088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new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new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5119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AEC8B5E-8152-4EED-9CF2-3C7697D05455}"/>
              </a:ext>
            </a:extLst>
          </p:cNvPr>
          <p:cNvSpPr/>
          <p:nvPr/>
        </p:nvSpPr>
        <p:spPr>
          <a:xfrm>
            <a:off x="8669337" y="7654410"/>
            <a:ext cx="7151317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Y_extra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.array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'new'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'new’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Y_new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.concatenate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Y_extra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]) </a:t>
            </a:r>
          </a:p>
        </p:txBody>
      </p:sp>
    </p:spTree>
    <p:extLst>
      <p:ext uri="{BB962C8B-B14F-4D97-AF65-F5344CB8AC3E}">
        <p14:creationId xmlns:p14="http://schemas.microsoft.com/office/powerpoint/2010/main" val="173469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Array </a:t>
            </a:r>
            <a:r>
              <a:rPr lang="nl-NL" dirty="0" err="1"/>
              <a:t>indexing</a:t>
            </a:r>
            <a:r>
              <a:rPr lang="nl-NL" dirty="0"/>
              <a:t>: </a:t>
            </a:r>
            <a:r>
              <a:rPr lang="nl-NL" dirty="0" err="1"/>
              <a:t>concatenating</a:t>
            </a:r>
            <a:r>
              <a:rPr lang="nl-NL" dirty="0"/>
              <a:t> arrays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0C133F-8542-49B8-9AA9-4C85107AB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05421"/>
              </p:ext>
            </p:extLst>
          </p:nvPr>
        </p:nvGraphicFramePr>
        <p:xfrm>
          <a:off x="5189517" y="2595695"/>
          <a:ext cx="4057620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24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811524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811524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811524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  <a:gridCol w="811524">
                  <a:extLst>
                    <a:ext uri="{9D8B030D-6E8A-4147-A177-3AD203B41FA5}">
                      <a16:colId xmlns:a16="http://schemas.microsoft.com/office/drawing/2014/main" val="4053095010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2174CF58-E352-4FE6-A67E-2BAB676B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448" y="2525347"/>
            <a:ext cx="1050875" cy="16513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DFE63FF-69B6-47F2-99BE-53CFAB7D7AAF}"/>
              </a:ext>
            </a:extLst>
          </p:cNvPr>
          <p:cNvSpPr txBox="1"/>
          <p:nvPr/>
        </p:nvSpPr>
        <p:spPr>
          <a:xfrm>
            <a:off x="7365647" y="1729238"/>
            <a:ext cx="198483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b="1" dirty="0"/>
              <a:t>2D array (X)</a:t>
            </a:r>
            <a:endParaRPr lang="en-US" sz="25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9BDE39-B2CA-4749-B773-994816A25297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.concatenate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].reshape(-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9CDCFE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D4D4D4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B5CEA8"/>
                </a:solidFill>
                <a:highlight>
                  <a:srgbClr val="800000"/>
                </a:highlight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array([[5.1, 3.5, 1.4, 0.2, 5.1],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[4.9, 3. , 1.4, 0.2, 4.9],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[4.7, 3.2, 1.3, 0.2, 4.7],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[4.6, 3.1, 1.5, 0.2, 4.6],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[5. , 3.6, 1.4, 0.2, 5. ],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5BDDA-07E3-4020-BFD5-A71B375091F7}"/>
              </a:ext>
            </a:extLst>
          </p:cNvPr>
          <p:cNvSpPr/>
          <p:nvPr/>
        </p:nvSpPr>
        <p:spPr>
          <a:xfrm>
            <a:off x="6872007" y="5186266"/>
            <a:ext cx="3621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/>
              <a:t>Copy of 1</a:t>
            </a:r>
            <a:r>
              <a:rPr lang="en-US" sz="2000" i="1" baseline="30000" dirty="0"/>
              <a:t>st</a:t>
            </a:r>
            <a:r>
              <a:rPr lang="en-US" sz="2000" i="1" dirty="0"/>
              <a:t> column added to 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ED5E15-ED14-4F9A-9D8E-9CB21E2E5312}"/>
              </a:ext>
            </a:extLst>
          </p:cNvPr>
          <p:cNvSpPr/>
          <p:nvPr/>
        </p:nvSpPr>
        <p:spPr>
          <a:xfrm>
            <a:off x="3859480" y="6858122"/>
            <a:ext cx="213756" cy="4571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04252-3D7D-458F-9DD2-E75FF7B41BFD}"/>
              </a:ext>
            </a:extLst>
          </p:cNvPr>
          <p:cNvSpPr/>
          <p:nvPr/>
        </p:nvSpPr>
        <p:spPr>
          <a:xfrm>
            <a:off x="4380015" y="6856144"/>
            <a:ext cx="3462235" cy="4571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763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/>
              <a:t>Basics of </a:t>
            </a:r>
            <a:r>
              <a:rPr lang="nl-NL" dirty="0" err="1"/>
              <a:t>Numpy</a:t>
            </a:r>
            <a:r>
              <a:rPr lang="nl-NL" dirty="0"/>
              <a:t> arrays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E91F91-955C-4F3F-A69E-31528330242B}"/>
              </a:ext>
            </a:extLst>
          </p:cNvPr>
          <p:cNvGrpSpPr/>
          <p:nvPr/>
        </p:nvGrpSpPr>
        <p:grpSpPr>
          <a:xfrm>
            <a:off x="3930566" y="2563024"/>
            <a:ext cx="8882909" cy="2900166"/>
            <a:chOff x="3883064" y="4152405"/>
            <a:chExt cx="8882909" cy="290016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A7F2FB1-5C28-41EA-A011-487F03703823}"/>
                </a:ext>
              </a:extLst>
            </p:cNvPr>
            <p:cNvSpPr/>
            <p:nvPr/>
          </p:nvSpPr>
          <p:spPr>
            <a:xfrm>
              <a:off x="3883064" y="4152405"/>
              <a:ext cx="8882909" cy="2900166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B40294-6661-460B-99E1-3EA6DEB6E97C}"/>
                </a:ext>
              </a:extLst>
            </p:cNvPr>
            <p:cNvSpPr txBox="1"/>
            <p:nvPr/>
          </p:nvSpPr>
          <p:spPr>
            <a:xfrm>
              <a:off x="4027549" y="4349892"/>
              <a:ext cx="8512794" cy="2584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200" dirty="0"/>
                <a:t>We have a </a:t>
              </a:r>
              <a:r>
                <a:rPr lang="nl-BE" sz="2200" dirty="0" err="1"/>
                <a:t>hypothetical</a:t>
              </a:r>
              <a:r>
                <a:rPr lang="nl-BE" sz="2200" dirty="0"/>
                <a:t> </a:t>
              </a:r>
              <a:r>
                <a:rPr lang="nl-BE" sz="2200" dirty="0" err="1"/>
                <a:t>flower</a:t>
              </a:r>
              <a:r>
                <a:rPr lang="nl-BE" sz="2200" dirty="0"/>
                <a:t> </a:t>
              </a:r>
              <a:r>
                <a:rPr lang="nl-BE" sz="2200" dirty="0" err="1"/>
                <a:t>with</a:t>
              </a:r>
              <a:r>
                <a:rPr lang="nl-BE" sz="2200" dirty="0"/>
                <a:t> </a:t>
              </a:r>
              <a:r>
                <a:rPr lang="nl-BE" sz="2200" dirty="0" err="1"/>
                <a:t>sepal</a:t>
              </a:r>
              <a:r>
                <a:rPr lang="nl-BE" sz="2200" dirty="0"/>
                <a:t> </a:t>
              </a:r>
              <a:r>
                <a:rPr lang="nl-BE" sz="2200" dirty="0" err="1"/>
                <a:t>lengths</a:t>
              </a:r>
              <a:r>
                <a:rPr lang="nl-BE" sz="2200" dirty="0"/>
                <a:t> </a:t>
              </a:r>
              <a:r>
                <a:rPr lang="nl-BE" sz="2200" dirty="0" err="1"/>
                <a:t>and</a:t>
              </a:r>
              <a:r>
                <a:rPr lang="nl-BE" sz="2200" dirty="0"/>
                <a:t> </a:t>
              </a:r>
              <a:r>
                <a:rPr lang="nl-BE" sz="2200" dirty="0" err="1"/>
                <a:t>widths</a:t>
              </a:r>
              <a:r>
                <a:rPr lang="nl-BE" sz="2200" dirty="0"/>
                <a:t> </a:t>
              </a:r>
              <a:r>
                <a:rPr lang="nl-BE" sz="2200" dirty="0">
                  <a:latin typeface="Consolas" panose="020B0609020204030204" pitchFamily="49" charset="0"/>
                </a:rPr>
                <a:t>(1.0, 2.0, 3.0, 4.0)</a:t>
              </a:r>
              <a:r>
                <a:rPr lang="nl-BE" sz="2200" dirty="0"/>
                <a:t>.</a:t>
              </a:r>
            </a:p>
            <a:p>
              <a:pPr>
                <a:lnSpc>
                  <a:spcPct val="120000"/>
                </a:lnSpc>
              </a:pPr>
              <a:endParaRPr lang="nl-BE" sz="500" dirty="0"/>
            </a:p>
            <a:p>
              <a:pPr>
                <a:lnSpc>
                  <a:spcPct val="120000"/>
                </a:lnSpc>
              </a:pPr>
              <a:r>
                <a:rPr lang="nl-BE" sz="2200" dirty="0" err="1"/>
                <a:t>Add</a:t>
              </a:r>
              <a:r>
                <a:rPr lang="nl-BE" sz="2200" dirty="0"/>
                <a:t> </a:t>
              </a:r>
              <a:r>
                <a:rPr lang="nl-BE" sz="2200" dirty="0" err="1"/>
                <a:t>this</a:t>
              </a:r>
              <a:r>
                <a:rPr lang="nl-BE" sz="2200" dirty="0"/>
                <a:t> new line:</a:t>
              </a:r>
            </a:p>
            <a:p>
              <a:pPr marL="993084" lvl="1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nl-BE" sz="2200" dirty="0">
                  <a:solidFill>
                    <a:schemeClr val="tx2"/>
                  </a:solidFill>
                </a:rPr>
                <a:t>At </a:t>
              </a:r>
              <a:r>
                <a:rPr lang="nl-BE" sz="2200" dirty="0" err="1">
                  <a:solidFill>
                    <a:schemeClr val="tx2"/>
                  </a:solidFill>
                </a:rPr>
                <a:t>the</a:t>
              </a:r>
              <a:r>
                <a:rPr lang="nl-BE" sz="2200" dirty="0">
                  <a:solidFill>
                    <a:schemeClr val="tx2"/>
                  </a:solidFill>
                </a:rPr>
                <a:t> end </a:t>
              </a:r>
              <a:r>
                <a:rPr lang="nl-BE" sz="2200" dirty="0"/>
                <a:t>of </a:t>
              </a:r>
              <a:r>
                <a:rPr lang="nl-BE" sz="2200" dirty="0" err="1"/>
                <a:t>the</a:t>
              </a:r>
              <a:r>
                <a:rPr lang="nl-BE" sz="2200" dirty="0"/>
                <a:t> iris array X</a:t>
              </a:r>
            </a:p>
            <a:p>
              <a:pPr marL="993084" lvl="1" indent="-34290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nl-BE" sz="2200" dirty="0" err="1">
                  <a:solidFill>
                    <a:schemeClr val="tx2"/>
                  </a:solidFill>
                </a:rPr>
                <a:t>After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>
                  <a:solidFill>
                    <a:schemeClr val="tx2"/>
                  </a:solidFill>
                </a:rPr>
                <a:t>the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>
                  <a:solidFill>
                    <a:schemeClr val="tx2"/>
                  </a:solidFill>
                </a:rPr>
                <a:t>third</a:t>
              </a:r>
              <a:r>
                <a:rPr lang="nl-BE" sz="2200" dirty="0">
                  <a:solidFill>
                    <a:schemeClr val="tx2"/>
                  </a:solidFill>
                </a:rPr>
                <a:t> versicolor </a:t>
              </a:r>
              <a:r>
                <a:rPr lang="nl-BE" sz="2200" dirty="0" err="1">
                  <a:solidFill>
                    <a:schemeClr val="tx2"/>
                  </a:solidFill>
                </a:rPr>
                <a:t>flower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/>
                <a:t>you</a:t>
              </a:r>
              <a:r>
                <a:rPr lang="nl-BE" sz="2200" dirty="0"/>
                <a:t> </a:t>
              </a:r>
              <a:r>
                <a:rPr lang="nl-BE" sz="2200" dirty="0" err="1"/>
                <a:t>encounter</a:t>
              </a:r>
              <a:r>
                <a:rPr lang="nl-BE" sz="2200" dirty="0"/>
                <a:t> in X (</a:t>
              </a:r>
              <a:r>
                <a:rPr lang="nl-BE" sz="2200" dirty="0" err="1"/>
                <a:t>when</a:t>
              </a:r>
              <a:r>
                <a:rPr lang="nl-BE" sz="2200" dirty="0"/>
                <a:t> </a:t>
              </a:r>
              <a:r>
                <a:rPr lang="nl-BE" sz="2200" dirty="0" err="1"/>
                <a:t>starting</a:t>
              </a:r>
              <a:r>
                <a:rPr lang="nl-BE" sz="2200" dirty="0"/>
                <a:t> </a:t>
              </a:r>
              <a:r>
                <a:rPr lang="nl-BE" sz="2200" dirty="0" err="1"/>
                <a:t>to</a:t>
              </a:r>
              <a:r>
                <a:rPr lang="nl-BE" sz="2200" dirty="0"/>
                <a:t> </a:t>
              </a:r>
              <a:r>
                <a:rPr lang="nl-BE" sz="2200" dirty="0" err="1"/>
                <a:t>count</a:t>
              </a:r>
              <a:r>
                <a:rPr lang="nl-BE" sz="2200" dirty="0"/>
                <a:t> </a:t>
              </a:r>
              <a:r>
                <a:rPr lang="nl-BE" sz="2200" dirty="0" err="1"/>
                <a:t>from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first </a:t>
              </a:r>
              <a:r>
                <a:rPr lang="nl-BE" sz="2200" dirty="0" err="1"/>
                <a:t>row</a:t>
              </a:r>
              <a:r>
                <a:rPr lang="nl-BE" sz="2200" dirty="0"/>
                <a:t> </a:t>
              </a:r>
              <a:r>
                <a:rPr lang="nl-BE" sz="2200" dirty="0" err="1"/>
                <a:t>downwards</a:t>
              </a:r>
              <a:r>
                <a:rPr lang="nl-BE" sz="2200" dirty="0"/>
                <a:t>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240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 err="1"/>
              <a:t>ComputationS</a:t>
            </a:r>
            <a:r>
              <a:rPr lang="nl-NL" sz="4000" dirty="0"/>
              <a:t> on </a:t>
            </a:r>
            <a:r>
              <a:rPr lang="nl-NL" sz="4000" dirty="0" err="1"/>
              <a:t>numpy</a:t>
            </a:r>
            <a:r>
              <a:rPr lang="nl-NL" sz="4000" dirty="0"/>
              <a:t> arrays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36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21167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Numpy</a:t>
            </a:r>
            <a:r>
              <a:rPr lang="nl-NL" dirty="0"/>
              <a:t> </a:t>
            </a:r>
            <a:r>
              <a:rPr lang="nl-NL" dirty="0" err="1"/>
              <a:t>universal</a:t>
            </a:r>
            <a:r>
              <a:rPr lang="nl-NL" dirty="0"/>
              <a:t> </a:t>
            </a:r>
            <a:r>
              <a:rPr lang="nl-NL" dirty="0" err="1"/>
              <a:t>functions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4C10B-5BE0-45E7-9DA6-7BBF1CBAA2D7}"/>
              </a:ext>
            </a:extLst>
          </p:cNvPr>
          <p:cNvSpPr/>
          <p:nvPr/>
        </p:nvSpPr>
        <p:spPr>
          <a:xfrm>
            <a:off x="514234" y="1346145"/>
            <a:ext cx="15553112" cy="166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universal function (or associated operator) </a:t>
            </a:r>
            <a:r>
              <a:rPr lang="en-US" dirty="0"/>
              <a:t>(or </a:t>
            </a:r>
            <a:r>
              <a:rPr lang="en-US" dirty="0" err="1"/>
              <a:t>ufunc</a:t>
            </a:r>
            <a:r>
              <a:rPr lang="en-US" dirty="0"/>
              <a:t> for short) is a </a:t>
            </a:r>
            <a:r>
              <a:rPr lang="en-US" dirty="0">
                <a:solidFill>
                  <a:schemeClr val="tx2"/>
                </a:solidFill>
              </a:rPr>
              <a:t>function that operates on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ndarrays</a:t>
            </a:r>
            <a:r>
              <a:rPr lang="en-US" dirty="0">
                <a:solidFill>
                  <a:schemeClr val="tx2"/>
                </a:solidFill>
              </a:rPr>
              <a:t> in an </a:t>
            </a:r>
            <a:r>
              <a:rPr lang="en-US" dirty="0">
                <a:solidFill>
                  <a:srgbClr val="FF0000"/>
                </a:solidFill>
              </a:rPr>
              <a:t>element-by-element</a:t>
            </a:r>
            <a:r>
              <a:rPr lang="en-US" dirty="0">
                <a:solidFill>
                  <a:schemeClr val="tx2"/>
                </a:solidFill>
              </a:rPr>
              <a:t> fashion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supporting array broadcasting, type casting, and several other standard features. That is, a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ufunc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is a “vectorized” wrapper for a function that takes a fixed number of specific inputs and produces a fixed number of specific outputs. – </a:t>
            </a:r>
            <a:r>
              <a:rPr lang="en-US" i="1" dirty="0" err="1">
                <a:solidFill>
                  <a:schemeClr val="bg1">
                    <a:lumMod val="85000"/>
                  </a:schemeClr>
                </a:solidFill>
              </a:rPr>
              <a:t>Numpy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 docs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6ED6C-966F-47D0-B0B6-97F59F40C0B2}"/>
              </a:ext>
            </a:extLst>
          </p:cNvPr>
          <p:cNvSpPr/>
          <p:nvPr/>
        </p:nvSpPr>
        <p:spPr>
          <a:xfrm>
            <a:off x="830118" y="5690878"/>
            <a:ext cx="5075430" cy="15696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.zeros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150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 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150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   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]**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94152-62E4-4DAC-AE1B-E9039AE1E304}"/>
              </a:ext>
            </a:extLst>
          </p:cNvPr>
          <p:cNvSpPr/>
          <p:nvPr/>
        </p:nvSpPr>
        <p:spPr>
          <a:xfrm>
            <a:off x="10466600" y="5690878"/>
            <a:ext cx="5075430" cy="15696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B = 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]**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</a:p>
          <a:p>
            <a:endParaRPr lang="nl-BE" sz="2400" dirty="0">
              <a:solidFill>
                <a:srgbClr val="B5CEA8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.power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AE817A8-DFDA-4EAA-A65B-C7B408B11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096721"/>
              </p:ext>
            </p:extLst>
          </p:nvPr>
        </p:nvGraphicFramePr>
        <p:xfrm>
          <a:off x="6227655" y="3236958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C0E3420-6B58-44F6-B9B8-3C2C28CEE199}"/>
              </a:ext>
            </a:extLst>
          </p:cNvPr>
          <p:cNvSpPr/>
          <p:nvPr/>
        </p:nvSpPr>
        <p:spPr>
          <a:xfrm>
            <a:off x="7181391" y="3270210"/>
            <a:ext cx="832079" cy="2439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8B80B9-4EA4-4801-9765-0D938BAAD50D}"/>
              </a:ext>
            </a:extLst>
          </p:cNvPr>
          <p:cNvCxnSpPr>
            <a:cxnSpLocks/>
            <a:stCxn id="15" idx="1"/>
            <a:endCxn id="11" idx="0"/>
          </p:cNvCxnSpPr>
          <p:nvPr/>
        </p:nvCxnSpPr>
        <p:spPr>
          <a:xfrm flipH="1">
            <a:off x="3367833" y="4489960"/>
            <a:ext cx="3813558" cy="1200918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3FC5F0-CCFA-4842-9699-04D3A4B8A019}"/>
              </a:ext>
            </a:extLst>
          </p:cNvPr>
          <p:cNvCxnSpPr>
            <a:cxnSpLocks/>
            <a:stCxn id="15" idx="3"/>
            <a:endCxn id="13" idx="0"/>
          </p:cNvCxnSpPr>
          <p:nvPr/>
        </p:nvCxnSpPr>
        <p:spPr>
          <a:xfrm>
            <a:off x="8013470" y="4489960"/>
            <a:ext cx="4990845" cy="1200918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821AEC3-9A65-4B4B-902F-BE3CE5DE5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529576"/>
              </p:ext>
            </p:extLst>
          </p:nvPr>
        </p:nvGraphicFramePr>
        <p:xfrm>
          <a:off x="7181391" y="6971025"/>
          <a:ext cx="914786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531464803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sz="2300" b="1" dirty="0">
                          <a:solidFill>
                            <a:schemeClr val="bg1"/>
                          </a:solidFill>
                        </a:rPr>
                        <a:t>12,25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78266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sz="2300" b="1" dirty="0">
                          <a:solidFill>
                            <a:schemeClr val="bg1"/>
                          </a:solidFill>
                        </a:rPr>
                        <a:t>9,0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52265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sz="23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781936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sz="23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693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sz="23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2262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A562857-4F02-43EE-871C-36083450EAE7}"/>
              </a:ext>
            </a:extLst>
          </p:cNvPr>
          <p:cNvSpPr txBox="1"/>
          <p:nvPr/>
        </p:nvSpPr>
        <p:spPr>
          <a:xfrm>
            <a:off x="1281339" y="4489960"/>
            <a:ext cx="4229043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Square 2nd column: </a:t>
            </a:r>
            <a:r>
              <a:rPr lang="nl-BE" sz="2500" dirty="0" err="1"/>
              <a:t>for</a:t>
            </a:r>
            <a:r>
              <a:rPr lang="nl-BE" sz="2500" dirty="0"/>
              <a:t>-loop</a:t>
            </a:r>
            <a:endParaRPr lang="en-US" sz="2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582ADB-E862-453A-8F15-6EF8D1C2419D}"/>
              </a:ext>
            </a:extLst>
          </p:cNvPr>
          <p:cNvSpPr txBox="1"/>
          <p:nvPr/>
        </p:nvSpPr>
        <p:spPr>
          <a:xfrm>
            <a:off x="10466600" y="4489960"/>
            <a:ext cx="5476179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/>
              <a:t>Square 2nd column: </a:t>
            </a:r>
            <a:r>
              <a:rPr lang="nl-BE" sz="2500" dirty="0" err="1"/>
              <a:t>vectorized</a:t>
            </a:r>
            <a:r>
              <a:rPr lang="nl-BE" sz="2500" dirty="0"/>
              <a:t>/</a:t>
            </a:r>
            <a:r>
              <a:rPr lang="nl-BE" sz="2500" dirty="0" err="1"/>
              <a:t>ufunc</a:t>
            </a:r>
            <a:endParaRPr lang="en-US" sz="25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44BD022-B1AD-4C0C-90DC-BB31A5C2BE5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367833" y="7260538"/>
            <a:ext cx="3219675" cy="95101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551269-B7C8-4556-92EE-4A2BAFB313F7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8780931" y="7260538"/>
            <a:ext cx="4223384" cy="95101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12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24" grpId="0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Exploring</a:t>
            </a:r>
            <a:r>
              <a:rPr lang="nl-NL" dirty="0"/>
              <a:t> </a:t>
            </a:r>
            <a:r>
              <a:rPr lang="nl-NL" dirty="0" err="1"/>
              <a:t>numpy</a:t>
            </a:r>
            <a:r>
              <a:rPr lang="nl-NL" dirty="0"/>
              <a:t> </a:t>
            </a:r>
            <a:r>
              <a:rPr lang="nl-NL" dirty="0" err="1"/>
              <a:t>ufuncs</a:t>
            </a:r>
            <a:endParaRPr lang="nl-NL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AE817A8-DFDA-4EAA-A65B-C7B408B11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920831"/>
              </p:ext>
            </p:extLst>
          </p:nvPr>
        </p:nvGraphicFramePr>
        <p:xfrm>
          <a:off x="13299338" y="252000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821AEC3-9A65-4B4B-902F-BE3CE5DE5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79032"/>
              </p:ext>
            </p:extLst>
          </p:nvPr>
        </p:nvGraphicFramePr>
        <p:xfrm>
          <a:off x="6333495" y="2936798"/>
          <a:ext cx="732323" cy="172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323">
                  <a:extLst>
                    <a:ext uri="{9D8B030D-6E8A-4147-A177-3AD203B41FA5}">
                      <a16:colId xmlns:a16="http://schemas.microsoft.com/office/drawing/2014/main" val="3531464803"/>
                    </a:ext>
                  </a:extLst>
                </a:gridCol>
              </a:tblGrid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8,5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78266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8,0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52265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781936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69364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2262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1077275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Classes of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ufuncs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multiplying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…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elementwise</a:t>
            </a: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Absolute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Trigonometric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Exponents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logarithms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9B65F-99AE-4984-B10B-F15D6AC6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097" y="2985975"/>
            <a:ext cx="6266899" cy="325348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425F704-B2DC-41F4-8004-71C2139933B8}"/>
              </a:ext>
            </a:extLst>
          </p:cNvPr>
          <p:cNvSpPr/>
          <p:nvPr/>
        </p:nvSpPr>
        <p:spPr>
          <a:xfrm>
            <a:off x="2243825" y="3771341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[:,1] + 5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466F08-7E25-4CDE-B090-49A4C4453123}"/>
              </a:ext>
            </a:extLst>
          </p:cNvPr>
          <p:cNvSpPr/>
          <p:nvPr/>
        </p:nvSpPr>
        <p:spPr>
          <a:xfrm>
            <a:off x="2243824" y="4750753"/>
            <a:ext cx="27334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[:,1] + X[:,2]</a:t>
            </a:r>
            <a:endParaRPr 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D963F5E-E601-4E1B-8CA7-DA970E674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232147"/>
              </p:ext>
            </p:extLst>
          </p:nvPr>
        </p:nvGraphicFramePr>
        <p:xfrm>
          <a:off x="7421495" y="4014360"/>
          <a:ext cx="732323" cy="172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323">
                  <a:extLst>
                    <a:ext uri="{9D8B030D-6E8A-4147-A177-3AD203B41FA5}">
                      <a16:colId xmlns:a16="http://schemas.microsoft.com/office/drawing/2014/main" val="3531464803"/>
                    </a:ext>
                  </a:extLst>
                </a:gridCol>
              </a:tblGrid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378266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4,4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52265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781936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69364"/>
                  </a:ext>
                </a:extLst>
              </a:tr>
              <a:tr h="344976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22628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EC4D48-29E3-40BC-B467-21244AF324C1}"/>
              </a:ext>
            </a:extLst>
          </p:cNvPr>
          <p:cNvCxnSpPr>
            <a:cxnSpLocks/>
          </p:cNvCxnSpPr>
          <p:nvPr/>
        </p:nvCxnSpPr>
        <p:spPr>
          <a:xfrm>
            <a:off x="4189615" y="4014360"/>
            <a:ext cx="1753985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748C9-FDD5-451D-B358-E85B0624AE20}"/>
              </a:ext>
            </a:extLst>
          </p:cNvPr>
          <p:cNvCxnSpPr>
            <a:cxnSpLocks/>
          </p:cNvCxnSpPr>
          <p:nvPr/>
        </p:nvCxnSpPr>
        <p:spPr>
          <a:xfrm>
            <a:off x="5066607" y="5014658"/>
            <a:ext cx="1753985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51D0D6F-F8EE-48C5-A994-61DD6594B769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+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   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short for </a:t>
            </a:r>
            <a:r>
              <a:rPr lang="en-US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np.add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(X[:,1], 5)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array([8.5, 8. , 8.2, 8.1, 8.6, …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+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   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short for </a:t>
            </a:r>
            <a:r>
              <a:rPr lang="en-US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np.add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(X[:,1], X[:,2])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array([4.9, 4.4, 4.5, 4.6, 5. , </a:t>
            </a:r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…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– 2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subtract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* 2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multiply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/ 2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divide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** 2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square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15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Exploring</a:t>
            </a:r>
            <a:r>
              <a:rPr lang="nl-NL" dirty="0"/>
              <a:t> </a:t>
            </a:r>
            <a:r>
              <a:rPr lang="nl-NL" dirty="0" err="1"/>
              <a:t>numpy</a:t>
            </a:r>
            <a:r>
              <a:rPr lang="nl-NL" dirty="0"/>
              <a:t> </a:t>
            </a:r>
            <a:r>
              <a:rPr lang="nl-NL" dirty="0" err="1"/>
              <a:t>ufuncs</a:t>
            </a:r>
            <a:endParaRPr lang="nl-NL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AE817A8-DFDA-4EAA-A65B-C7B408B117D1}"/>
              </a:ext>
            </a:extLst>
          </p:cNvPr>
          <p:cNvGraphicFramePr>
            <a:graphicFrameLocks noGrp="1"/>
          </p:cNvGraphicFramePr>
          <p:nvPr/>
        </p:nvGraphicFramePr>
        <p:xfrm>
          <a:off x="13299338" y="252000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C45605D7-74B7-49F1-8795-CB2BE4C76F6C}"/>
              </a:ext>
            </a:extLst>
          </p:cNvPr>
          <p:cNvSpPr/>
          <p:nvPr/>
        </p:nvSpPr>
        <p:spPr>
          <a:xfrm>
            <a:off x="424825" y="6433111"/>
            <a:ext cx="16200000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.array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([-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1.25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.abs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absolute value of each element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array([1. , 0.5 , 1.25, 2. 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.sin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sine of each element (angle assumed in radians)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.cos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cosine of each element (angle assumed in radians)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.exp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exponential function: </a:t>
            </a:r>
            <a:r>
              <a:rPr lang="en-US" sz="2400" dirty="0" err="1">
                <a:solidFill>
                  <a:srgbClr val="6A9955"/>
                </a:solidFill>
                <a:latin typeface="Consolas" panose="020B0609020204030204" pitchFamily="49" charset="0"/>
              </a:rPr>
              <a:t>e^a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.log(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   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natural logarithm (ln(a))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 nan, -0.69314718, 0.22314355, 0.69314718])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454DF-3F88-427A-902C-8247BFAC675C}"/>
              </a:ext>
            </a:extLst>
          </p:cNvPr>
          <p:cNvSpPr txBox="1"/>
          <p:nvPr/>
        </p:nvSpPr>
        <p:spPr>
          <a:xfrm>
            <a:off x="2326874" y="4434403"/>
            <a:ext cx="4838184" cy="511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500" dirty="0" err="1"/>
              <a:t>abs</a:t>
            </a:r>
            <a:r>
              <a:rPr lang="nl-BE" sz="2500" dirty="0"/>
              <a:t>, </a:t>
            </a:r>
            <a:r>
              <a:rPr lang="nl-BE" sz="2500" dirty="0" err="1"/>
              <a:t>sin</a:t>
            </a:r>
            <a:r>
              <a:rPr lang="nl-BE" sz="2500" dirty="0"/>
              <a:t>, </a:t>
            </a:r>
            <a:r>
              <a:rPr lang="nl-BE" sz="2500" dirty="0" err="1"/>
              <a:t>cos</a:t>
            </a:r>
            <a:r>
              <a:rPr lang="nl-BE" sz="2500" dirty="0"/>
              <a:t>, </a:t>
            </a:r>
            <a:r>
              <a:rPr lang="nl-BE" sz="2500" dirty="0" err="1"/>
              <a:t>exp</a:t>
            </a:r>
            <a:r>
              <a:rPr lang="nl-BE" sz="2500" dirty="0"/>
              <a:t>, log, </a:t>
            </a:r>
            <a:r>
              <a:rPr lang="nl-BE" sz="2500" dirty="0" err="1"/>
              <a:t>arcsin</a:t>
            </a:r>
            <a:r>
              <a:rPr lang="nl-BE" sz="2500" dirty="0"/>
              <a:t>, …</a:t>
            </a:r>
            <a:endParaRPr lang="en-US"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35E96-3A57-4957-B84E-A86B8E03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81" y="2751365"/>
            <a:ext cx="3569535" cy="25558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2713E6-DEB7-4B92-AA06-5148A30B9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9941" y="3488305"/>
            <a:ext cx="4315459" cy="24038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457342-DD33-4E7F-B10D-59B0F0174125}"/>
              </a:ext>
            </a:extLst>
          </p:cNvPr>
          <p:cNvSpPr/>
          <p:nvPr/>
        </p:nvSpPr>
        <p:spPr>
          <a:xfrm>
            <a:off x="830118" y="1278063"/>
            <a:ext cx="1099916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Classes of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ufuncs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Array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arithmetic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multiplying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…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elementwise</a:t>
            </a: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Trigonometric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Exponents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logarithms</a:t>
            </a:r>
            <a:endParaRPr lang="en-US" sz="24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71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B45EC-733D-40C1-8CE4-1C5D6479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40</a:t>
            </a:fld>
            <a:endParaRPr lang="nl-B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176EBAF-9EF9-4165-A8F3-1D6EF7C0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 err="1"/>
              <a:t>Exploring</a:t>
            </a:r>
            <a:r>
              <a:rPr lang="nl-NL" dirty="0"/>
              <a:t> </a:t>
            </a:r>
            <a:r>
              <a:rPr lang="nl-NL" dirty="0" err="1"/>
              <a:t>numpy</a:t>
            </a:r>
            <a:r>
              <a:rPr lang="nl-NL" dirty="0"/>
              <a:t> </a:t>
            </a:r>
            <a:r>
              <a:rPr lang="nl-NL" dirty="0" err="1"/>
              <a:t>ufuncs</a:t>
            </a:r>
            <a:endParaRPr lang="nl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BE9D70-0BB6-49C4-B3F4-A56DD6F14532}"/>
              </a:ext>
            </a:extLst>
          </p:cNvPr>
          <p:cNvGrpSpPr/>
          <p:nvPr/>
        </p:nvGrpSpPr>
        <p:grpSpPr>
          <a:xfrm>
            <a:off x="3811814" y="1973266"/>
            <a:ext cx="8882909" cy="3513133"/>
            <a:chOff x="3883064" y="4152404"/>
            <a:chExt cx="8882909" cy="351313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07E48C7-DB5A-4DA9-8D93-030B97FE8FE3}"/>
                </a:ext>
              </a:extLst>
            </p:cNvPr>
            <p:cNvSpPr/>
            <p:nvPr/>
          </p:nvSpPr>
          <p:spPr>
            <a:xfrm>
              <a:off x="3883064" y="4152404"/>
              <a:ext cx="8882909" cy="3513133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FB48479-1CCC-4F99-AFB2-CC05D27EA02E}"/>
                    </a:ext>
                  </a:extLst>
                </p:cNvPr>
                <p:cNvSpPr txBox="1"/>
                <p:nvPr/>
              </p:nvSpPr>
              <p:spPr>
                <a:xfrm>
                  <a:off x="4027549" y="4349892"/>
                  <a:ext cx="8512794" cy="32017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nl-BE" sz="2200" b="1" dirty="0"/>
                    <a:t>Question: </a:t>
                  </a:r>
                  <a:r>
                    <a:rPr lang="nl-BE" sz="2200" dirty="0"/>
                    <a:t>An (</a:t>
                  </a:r>
                  <a:r>
                    <a:rPr lang="nl-BE" sz="2200" dirty="0" err="1"/>
                    <a:t>ellopsoidal</a:t>
                  </a:r>
                  <a:r>
                    <a:rPr lang="nl-BE" sz="2200" dirty="0"/>
                    <a:t>) </a:t>
                  </a:r>
                  <a:r>
                    <a:rPr lang="nl-BE" sz="2200" dirty="0" err="1"/>
                    <a:t>approximation</a:t>
                  </a:r>
                  <a:r>
                    <a:rPr lang="nl-BE" sz="2200" dirty="0"/>
                    <a:t> of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leaf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area </a:t>
                  </a:r>
                  <a:r>
                    <a:rPr lang="nl-BE" sz="2200" dirty="0"/>
                    <a:t>of a </a:t>
                  </a:r>
                  <a:r>
                    <a:rPr lang="nl-BE" sz="2200" dirty="0" err="1"/>
                    <a:t>flower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can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be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computed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using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following</a:t>
                  </a:r>
                  <a:r>
                    <a:rPr lang="nl-BE" sz="2200" dirty="0"/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formula</a:t>
                  </a:r>
                  <a:r>
                    <a:rPr lang="nl-BE" sz="2200" dirty="0"/>
                    <a:t>: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nl-BE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leaf area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nl-BE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nl-BE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𝜋</m:t>
                          </m:r>
                        </m:num>
                        <m:den>
                          <m:r>
                            <a:rPr lang="nl-BE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4</m:t>
                          </m:r>
                        </m:den>
                      </m:f>
                      <m:r>
                        <a:rPr lang="nl-BE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nl-BE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𝐻</m:t>
                      </m:r>
                      <m:r>
                        <a:rPr lang="nl-BE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nl-BE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𝑊</m:t>
                      </m:r>
                    </m:oMath>
                  </a14:m>
                  <a:endParaRPr lang="nl-BE" sz="2200" dirty="0"/>
                </a:p>
                <a:p>
                  <a:pPr>
                    <a:lnSpc>
                      <a:spcPct val="120000"/>
                    </a:lnSpc>
                  </a:pPr>
                  <a:r>
                    <a:rPr lang="nl-BE" sz="2200" dirty="0"/>
                    <a:t>In </a:t>
                  </a:r>
                  <a:r>
                    <a:rPr lang="nl-BE" sz="2200" dirty="0" err="1"/>
                    <a:t>this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formula</a:t>
                  </a:r>
                  <a:r>
                    <a:rPr lang="nl-BE" sz="2200" dirty="0"/>
                    <a:t>, </a:t>
                  </a:r>
                  <a:r>
                    <a:rPr lang="nl-BE" sz="2200" i="1" dirty="0"/>
                    <a:t>H</a:t>
                  </a:r>
                  <a:r>
                    <a:rPr lang="nl-BE" sz="2200" dirty="0"/>
                    <a:t> is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height</a:t>
                  </a:r>
                  <a:r>
                    <a:rPr lang="nl-BE" sz="2200" dirty="0"/>
                    <a:t> of a </a:t>
                  </a:r>
                  <a:r>
                    <a:rPr lang="nl-BE" sz="2200" dirty="0" err="1"/>
                    <a:t>leaf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and</a:t>
                  </a:r>
                  <a:r>
                    <a:rPr lang="nl-BE" sz="2200" dirty="0"/>
                    <a:t> </a:t>
                  </a:r>
                  <a:r>
                    <a:rPr lang="nl-BE" sz="2200" i="1" dirty="0"/>
                    <a:t>W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its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width</a:t>
                  </a:r>
                  <a:r>
                    <a:rPr lang="nl-BE" sz="2200" dirty="0"/>
                    <a:t>.</a:t>
                  </a:r>
                </a:p>
                <a:p>
                  <a:pPr>
                    <a:lnSpc>
                      <a:spcPct val="120000"/>
                    </a:lnSpc>
                  </a:pPr>
                  <a:endParaRPr lang="nl-BE" sz="2200" dirty="0"/>
                </a:p>
                <a:p>
                  <a:pPr>
                    <a:lnSpc>
                      <a:spcPct val="120000"/>
                    </a:lnSpc>
                  </a:pPr>
                  <a:r>
                    <a:rPr lang="nl-BE" sz="2200" dirty="0" err="1">
                      <a:solidFill>
                        <a:schemeClr val="tx2"/>
                      </a:solidFill>
                    </a:rPr>
                    <a:t>Use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this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>
                      <a:solidFill>
                        <a:schemeClr val="tx2"/>
                      </a:solidFill>
                    </a:rPr>
                    <a:t>formula</a:t>
                  </a:r>
                  <a:r>
                    <a:rPr lang="nl-BE" sz="2200" dirty="0">
                      <a:solidFill>
                        <a:schemeClr val="tx2"/>
                      </a:solidFill>
                    </a:rPr>
                    <a:t> </a:t>
                  </a:r>
                  <a:r>
                    <a:rPr lang="nl-BE" sz="2200" dirty="0" err="1"/>
                    <a:t>to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compute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leaf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areas</a:t>
                  </a:r>
                  <a:r>
                    <a:rPr lang="nl-BE" sz="2200" dirty="0"/>
                    <a:t> of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sepals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and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the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petals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and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add</a:t>
                  </a:r>
                  <a:r>
                    <a:rPr lang="nl-BE" sz="2200" dirty="0"/>
                    <a:t> </a:t>
                  </a:r>
                  <a:r>
                    <a:rPr lang="nl-BE" sz="2200" dirty="0" err="1"/>
                    <a:t>them</a:t>
                  </a:r>
                  <a:r>
                    <a:rPr lang="nl-BE" sz="2200" dirty="0"/>
                    <a:t> as </a:t>
                  </a:r>
                  <a:r>
                    <a:rPr lang="nl-BE" sz="2200" dirty="0" err="1"/>
                    <a:t>two</a:t>
                  </a:r>
                  <a:r>
                    <a:rPr lang="nl-BE" sz="2200" dirty="0"/>
                    <a:t> new columns </a:t>
                  </a:r>
                  <a:r>
                    <a:rPr lang="nl-BE" sz="2200" dirty="0" err="1"/>
                    <a:t>to</a:t>
                  </a:r>
                  <a:r>
                    <a:rPr lang="nl-BE" sz="2200" dirty="0"/>
                    <a:t> X.</a:t>
                  </a:r>
                </a:p>
                <a:p>
                  <a:pPr>
                    <a:lnSpc>
                      <a:spcPct val="120000"/>
                    </a:lnSpc>
                  </a:pPr>
                  <a:endParaRPr lang="nl-BE" sz="5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FB48479-1CCC-4F99-AFB2-CC05D27EA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7549" y="4349892"/>
                  <a:ext cx="8512794" cy="3201710"/>
                </a:xfrm>
                <a:prstGeom prst="rect">
                  <a:avLst/>
                </a:prstGeom>
                <a:blipFill>
                  <a:blip r:embed="rId2"/>
                  <a:stretch>
                    <a:fillRect l="-931" t="-1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96515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 err="1"/>
              <a:t>Aggregations</a:t>
            </a:r>
            <a:r>
              <a:rPr lang="nl-NL" sz="4000" dirty="0"/>
              <a:t> &amp; </a:t>
            </a:r>
            <a:r>
              <a:rPr lang="nl-NL" sz="4000" dirty="0" err="1"/>
              <a:t>broadcasting</a:t>
            </a:r>
            <a:endParaRPr lang="nl-NL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41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48349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Aggregations</a:t>
            </a:r>
            <a:r>
              <a:rPr lang="nl-NL" dirty="0"/>
              <a:t>: min, max,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1035379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Aggregation: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Summarizing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in array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Most summary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statistics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product,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min, max,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quantiles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etc.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Multidimensional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aggregates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D1517D-33E3-4A8F-AA0E-7CC1CBEC2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179" y="3217055"/>
            <a:ext cx="4331767" cy="4357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668172-D620-434E-8F3F-5AB4AD9C5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18" y="4081549"/>
            <a:ext cx="7609132" cy="528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681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Aggregations</a:t>
            </a:r>
            <a:r>
              <a:rPr lang="nl-NL" dirty="0"/>
              <a:t>: min, max,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1035379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Aggregation: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Summarizing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in array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Most 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statistics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product,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, min, max,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quantiles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etc.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Multidimensional</a:t>
            </a:r>
            <a:r>
              <a:rPr lang="nl-BE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aggregates</a:t>
            </a:r>
            <a:endParaRPr lang="en-US" sz="24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CA8536-3BC0-4583-804E-76FB55E2E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646143"/>
              </p:ext>
            </p:extLst>
          </p:nvPr>
        </p:nvGraphicFramePr>
        <p:xfrm>
          <a:off x="6007016" y="3527215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871F0F-CDFD-4728-A436-4747E32EAFB1}"/>
              </a:ext>
            </a:extLst>
          </p:cNvPr>
          <p:cNvCxnSpPr>
            <a:cxnSpLocks/>
          </p:cNvCxnSpPr>
          <p:nvPr/>
        </p:nvCxnSpPr>
        <p:spPr>
          <a:xfrm flipV="1">
            <a:off x="9750829" y="3117273"/>
            <a:ext cx="556953" cy="302843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93297-BB4D-4406-9BEE-4A079E29DF79}"/>
              </a:ext>
            </a:extLst>
          </p:cNvPr>
          <p:cNvSpPr/>
          <p:nvPr/>
        </p:nvSpPr>
        <p:spPr>
          <a:xfrm>
            <a:off x="5876293" y="3420116"/>
            <a:ext cx="3874536" cy="2664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BEE81-2589-42B6-97F6-6E4EA99545D5}"/>
              </a:ext>
            </a:extLst>
          </p:cNvPr>
          <p:cNvSpPr/>
          <p:nvPr/>
        </p:nvSpPr>
        <p:spPr>
          <a:xfrm>
            <a:off x="10506676" y="2779260"/>
            <a:ext cx="61318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X.mean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() -&gt;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of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all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values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in X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7B2B54-14BF-4BC4-AFF7-ECBC129294A7}"/>
              </a:ext>
            </a:extLst>
          </p:cNvPr>
          <p:cNvCxnSpPr>
            <a:cxnSpLocks/>
          </p:cNvCxnSpPr>
          <p:nvPr/>
        </p:nvCxnSpPr>
        <p:spPr>
          <a:xfrm>
            <a:off x="6461759" y="5941644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529E7D-99BA-4BDE-ADE2-30B45874E92C}"/>
              </a:ext>
            </a:extLst>
          </p:cNvPr>
          <p:cNvCxnSpPr>
            <a:cxnSpLocks/>
          </p:cNvCxnSpPr>
          <p:nvPr/>
        </p:nvCxnSpPr>
        <p:spPr>
          <a:xfrm>
            <a:off x="7387242" y="5941644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E3C192-BF7A-44FB-AF2B-864F5AF37D2C}"/>
              </a:ext>
            </a:extLst>
          </p:cNvPr>
          <p:cNvCxnSpPr>
            <a:cxnSpLocks/>
          </p:cNvCxnSpPr>
          <p:nvPr/>
        </p:nvCxnSpPr>
        <p:spPr>
          <a:xfrm>
            <a:off x="8301643" y="5941644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72BA84-0075-4D56-8FF4-E564D310C068}"/>
              </a:ext>
            </a:extLst>
          </p:cNvPr>
          <p:cNvCxnSpPr>
            <a:cxnSpLocks/>
          </p:cNvCxnSpPr>
          <p:nvPr/>
        </p:nvCxnSpPr>
        <p:spPr>
          <a:xfrm>
            <a:off x="9199418" y="5941644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0B4C0F9-4321-4F08-8121-365F8C59C847}"/>
              </a:ext>
            </a:extLst>
          </p:cNvPr>
          <p:cNvSpPr/>
          <p:nvPr/>
        </p:nvSpPr>
        <p:spPr>
          <a:xfrm>
            <a:off x="9888967" y="6250326"/>
            <a:ext cx="69813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X.mean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axis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= 0) -&gt; column-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wise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                  (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aggregate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0-th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axis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206E437-B6D1-4FED-A683-B74C8B5C7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4122"/>
              </p:ext>
            </p:extLst>
          </p:nvPr>
        </p:nvGraphicFramePr>
        <p:xfrm>
          <a:off x="6007016" y="6417719"/>
          <a:ext cx="3659144" cy="49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169640453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068797702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574512438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1048266229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5,84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3,75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1,20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208084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14B369-32A9-41F2-9BFB-A151251BD54C}"/>
              </a:ext>
            </a:extLst>
          </p:cNvPr>
          <p:cNvCxnSpPr>
            <a:cxnSpLocks/>
          </p:cNvCxnSpPr>
          <p:nvPr/>
        </p:nvCxnSpPr>
        <p:spPr>
          <a:xfrm rot="5400000">
            <a:off x="5871538" y="3577347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34B040-F8F6-479F-9246-BC8420157CFE}"/>
              </a:ext>
            </a:extLst>
          </p:cNvPr>
          <p:cNvCxnSpPr>
            <a:cxnSpLocks/>
          </p:cNvCxnSpPr>
          <p:nvPr/>
        </p:nvCxnSpPr>
        <p:spPr>
          <a:xfrm rot="5400000">
            <a:off x="5871538" y="4073695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972A09-4469-4405-9D19-2407C60A030A}"/>
              </a:ext>
            </a:extLst>
          </p:cNvPr>
          <p:cNvCxnSpPr>
            <a:cxnSpLocks/>
          </p:cNvCxnSpPr>
          <p:nvPr/>
        </p:nvCxnSpPr>
        <p:spPr>
          <a:xfrm rot="5400000">
            <a:off x="5871538" y="5583714"/>
            <a:ext cx="0" cy="417592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19C8607-1A73-4498-8815-84137E42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455395"/>
              </p:ext>
            </p:extLst>
          </p:nvPr>
        </p:nvGraphicFramePr>
        <p:xfrm>
          <a:off x="4621491" y="3527214"/>
          <a:ext cx="914786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41216738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2,55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2951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2,37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7390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731716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5509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515263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B1F4A15C-2C16-4568-8566-6D67B7AF9F97}"/>
              </a:ext>
            </a:extLst>
          </p:cNvPr>
          <p:cNvSpPr/>
          <p:nvPr/>
        </p:nvSpPr>
        <p:spPr>
          <a:xfrm>
            <a:off x="318526" y="3866992"/>
            <a:ext cx="426270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X.mean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axis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= 1) </a:t>
            </a:r>
          </a:p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 -&gt;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row-wise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mean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  (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aggregate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1-st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axis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A95161-2371-4F68-AF4B-06F8C78A051D}"/>
              </a:ext>
            </a:extLst>
          </p:cNvPr>
          <p:cNvSpPr/>
          <p:nvPr/>
        </p:nvSpPr>
        <p:spPr>
          <a:xfrm>
            <a:off x="438483" y="7414127"/>
            <a:ext cx="16200000" cy="1938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.mean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array([5.84333333, 3.05733333, 3.758 , 1.19933333])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1D array with shape -&gt; (4,)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.mean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array([2.55 , 2.375, 2.35 , 2.35 , 2.55 , …   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1D array with shape -&gt; (150,)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07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9" grpId="0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broadcasting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139152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Broadcasting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simply a set of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applying binary </a:t>
            </a: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ufuncs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(e.g., addition, subtraction, multiplication, etc.) 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arrays of different sizes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A95161-2371-4F68-AF4B-06F8C78A051D}"/>
              </a:ext>
            </a:extLst>
          </p:cNvPr>
          <p:cNvSpPr/>
          <p:nvPr/>
        </p:nvSpPr>
        <p:spPr>
          <a:xfrm>
            <a:off x="438483" y="7239558"/>
            <a:ext cx="16200000" cy="2308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X_standardized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.mean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)) / </a:t>
            </a:r>
            <a:r>
              <a:rPr lang="en-US" sz="2400" dirty="0" err="1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.std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    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                   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2D array with shape -&gt; (150,4)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[[-9.00681170e-01  1.01900435e+00 -1.34022653e+00 -1.31544430e+00]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[-1.14301691e+00 -1.31979479e-01 -1.34022653e+00 -1.31544430e+00]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[-1.38535265e+00  3.28414053e-01 -1.39706395e+00 -1.31544430e+00]</a:t>
            </a:r>
          </a:p>
          <a:p>
            <a:r>
              <a:rPr lang="nl-BE" sz="2400" dirty="0"/>
              <a:t> 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…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9473C-5414-4C43-B95B-10E45CD27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1" y="2223583"/>
            <a:ext cx="6535267" cy="49014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7353EA-8563-4D61-8B24-316608AA8A20}"/>
              </a:ext>
            </a:extLst>
          </p:cNvPr>
          <p:cNvSpPr/>
          <p:nvPr/>
        </p:nvSpPr>
        <p:spPr>
          <a:xfrm>
            <a:off x="10068172" y="3531793"/>
            <a:ext cx="68349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Combined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aggregation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interesting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endParaRPr lang="nl-B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data array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(e.g. </a:t>
            </a:r>
            <a:r>
              <a:rPr lang="nl-B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standardizing</a:t>
            </a:r>
            <a:r>
              <a:rPr lang="nl-BE" sz="2200" dirty="0">
                <a:latin typeface="Calibri" panose="020F0502020204030204" pitchFamily="34" charset="0"/>
                <a:cs typeface="Calibri" panose="020F0502020204030204" pitchFamily="34" charset="0"/>
              </a:rPr>
              <a:t> per column)</a:t>
            </a:r>
            <a:endParaRPr lang="en-US" sz="2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9A3E68B-0AAB-4876-9553-759E24A9B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825489"/>
              </p:ext>
            </p:extLst>
          </p:nvPr>
        </p:nvGraphicFramePr>
        <p:xfrm>
          <a:off x="12091720" y="4612025"/>
          <a:ext cx="278785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963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6970714-35D4-4AB5-B7D2-7A74818D9AAF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>
            <a:off x="11574621" y="5580344"/>
            <a:ext cx="898144" cy="2923907"/>
          </a:xfrm>
          <a:prstGeom prst="bentConnector2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F150D5-391C-4E70-9A9F-EA93D19262CE}"/>
                  </a:ext>
                </a:extLst>
              </p:cNvPr>
              <p:cNvSpPr txBox="1"/>
              <p:nvPr/>
            </p:nvSpPr>
            <p:spPr>
              <a:xfrm>
                <a:off x="13605800" y="6776578"/>
                <a:ext cx="970843" cy="92595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5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BE" sz="25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̅"/>
                              <m:ctrlPr>
                                <a:rPr lang="nl-BE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BE" sz="25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r>
                            <a:rPr lang="nl-BE" sz="25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F150D5-391C-4E70-9A9F-EA93D1926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800" y="6776578"/>
                <a:ext cx="970843" cy="9259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27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8" grpId="0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B45EC-733D-40C1-8CE4-1C5D6479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nl-BE" noProof="0" smtClean="0"/>
              <a:t>45</a:t>
            </a:fld>
            <a:endParaRPr lang="nl-B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176EBAF-9EF9-4165-A8F3-1D6EF7C0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/>
          <a:lstStyle/>
          <a:p>
            <a:r>
              <a:rPr lang="nl-NL" dirty="0" err="1"/>
              <a:t>Exploring</a:t>
            </a:r>
            <a:r>
              <a:rPr lang="nl-NL" dirty="0"/>
              <a:t> </a:t>
            </a:r>
            <a:r>
              <a:rPr lang="nl-NL" dirty="0" err="1"/>
              <a:t>numpy</a:t>
            </a:r>
            <a:r>
              <a:rPr lang="nl-NL" dirty="0"/>
              <a:t> </a:t>
            </a:r>
            <a:r>
              <a:rPr lang="nl-NL" dirty="0" err="1"/>
              <a:t>ufuncs</a:t>
            </a:r>
            <a:endParaRPr lang="nl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BE9D70-0BB6-49C4-B3F4-A56DD6F14532}"/>
              </a:ext>
            </a:extLst>
          </p:cNvPr>
          <p:cNvGrpSpPr/>
          <p:nvPr/>
        </p:nvGrpSpPr>
        <p:grpSpPr>
          <a:xfrm>
            <a:off x="3676555" y="4299828"/>
            <a:ext cx="8882909" cy="2106851"/>
            <a:chOff x="3883064" y="4152404"/>
            <a:chExt cx="8882909" cy="199875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07E48C7-DB5A-4DA9-8D93-030B97FE8FE3}"/>
                </a:ext>
              </a:extLst>
            </p:cNvPr>
            <p:cNvSpPr/>
            <p:nvPr/>
          </p:nvSpPr>
          <p:spPr>
            <a:xfrm>
              <a:off x="3883064" y="4152404"/>
              <a:ext cx="8882909" cy="1998750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B48479-1CCC-4F99-AFB2-CC05D27EA02E}"/>
                </a:ext>
              </a:extLst>
            </p:cNvPr>
            <p:cNvSpPr txBox="1"/>
            <p:nvPr/>
          </p:nvSpPr>
          <p:spPr>
            <a:xfrm>
              <a:off x="4027549" y="4349892"/>
              <a:ext cx="8512794" cy="1801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200" dirty="0" err="1">
                  <a:solidFill>
                    <a:schemeClr val="tx2"/>
                  </a:solidFill>
                </a:rPr>
                <a:t>Row-centering</a:t>
              </a:r>
              <a:r>
                <a:rPr lang="nl-BE" sz="2200" dirty="0"/>
                <a:t> is a </a:t>
              </a:r>
              <a:r>
                <a:rPr lang="nl-BE" sz="2200" dirty="0" err="1"/>
                <a:t>transformation</a:t>
              </a:r>
              <a:r>
                <a:rPr lang="nl-BE" sz="2200" dirty="0"/>
                <a:t> </a:t>
              </a:r>
              <a:r>
                <a:rPr lang="nl-BE" sz="2200" dirty="0" err="1"/>
                <a:t>where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</a:t>
              </a:r>
              <a:r>
                <a:rPr lang="nl-BE" sz="2200" dirty="0" err="1"/>
                <a:t>mean</a:t>
              </a:r>
              <a:r>
                <a:rPr lang="nl-BE" sz="2200" dirty="0"/>
                <a:t> of a </a:t>
              </a:r>
              <a:r>
                <a:rPr lang="nl-BE" sz="2200" dirty="0" err="1"/>
                <a:t>row</a:t>
              </a:r>
              <a:r>
                <a:rPr lang="nl-BE" sz="2200" dirty="0"/>
                <a:t> is </a:t>
              </a:r>
              <a:r>
                <a:rPr lang="nl-BE" sz="2200" dirty="0" err="1"/>
                <a:t>subtracted</a:t>
              </a:r>
              <a:r>
                <a:rPr lang="nl-BE" sz="2200" dirty="0"/>
                <a:t> </a:t>
              </a:r>
              <a:r>
                <a:rPr lang="nl-BE" sz="2200" dirty="0" err="1"/>
                <a:t>from</a:t>
              </a:r>
              <a:r>
                <a:rPr lang="nl-BE" sz="2200" dirty="0"/>
                <a:t> </a:t>
              </a:r>
              <a:r>
                <a:rPr lang="nl-BE" sz="2200" dirty="0" err="1"/>
                <a:t>each</a:t>
              </a:r>
              <a:r>
                <a:rPr lang="nl-BE" sz="2200" dirty="0"/>
                <a:t> </a:t>
              </a:r>
              <a:r>
                <a:rPr lang="nl-BE" sz="2200" dirty="0" err="1"/>
                <a:t>value</a:t>
              </a:r>
              <a:r>
                <a:rPr lang="nl-BE" sz="2200" dirty="0"/>
                <a:t> of </a:t>
              </a:r>
              <a:r>
                <a:rPr lang="nl-BE" sz="2200" dirty="0" err="1"/>
                <a:t>that</a:t>
              </a:r>
              <a:r>
                <a:rPr lang="nl-BE" sz="2200" dirty="0"/>
                <a:t> </a:t>
              </a:r>
              <a:r>
                <a:rPr lang="nl-BE" sz="2200" dirty="0" err="1"/>
                <a:t>row</a:t>
              </a:r>
              <a:r>
                <a:rPr lang="nl-BE" sz="2200" dirty="0"/>
                <a:t>.</a:t>
              </a:r>
            </a:p>
            <a:p>
              <a:pPr>
                <a:lnSpc>
                  <a:spcPct val="120000"/>
                </a:lnSpc>
              </a:pPr>
              <a:endParaRPr lang="nl-BE" sz="2200" dirty="0"/>
            </a:p>
            <a:p>
              <a:pPr>
                <a:lnSpc>
                  <a:spcPct val="120000"/>
                </a:lnSpc>
              </a:pPr>
              <a:r>
                <a:rPr lang="nl-BE" sz="2200" dirty="0" err="1"/>
                <a:t>Use</a:t>
              </a:r>
              <a:r>
                <a:rPr lang="nl-BE" sz="2200" dirty="0"/>
                <a:t> </a:t>
              </a:r>
              <a:r>
                <a:rPr lang="nl-BE" sz="2200" dirty="0" err="1"/>
                <a:t>row-centering</a:t>
              </a:r>
              <a:r>
                <a:rPr lang="nl-BE" sz="2200" dirty="0"/>
                <a:t> </a:t>
              </a:r>
              <a:r>
                <a:rPr lang="nl-BE" sz="2200" dirty="0" err="1"/>
                <a:t>to</a:t>
              </a:r>
              <a:r>
                <a:rPr lang="nl-BE" sz="2200" dirty="0"/>
                <a:t> </a:t>
              </a:r>
              <a:r>
                <a:rPr lang="nl-BE" sz="2200" dirty="0" err="1"/>
                <a:t>tranform</a:t>
              </a:r>
              <a:r>
                <a:rPr lang="nl-BE" sz="2200" dirty="0"/>
                <a:t> </a:t>
              </a:r>
              <a:r>
                <a:rPr lang="nl-BE" sz="2200" dirty="0">
                  <a:latin typeface="Consolas" panose="020B0609020204030204" pitchFamily="49" charset="0"/>
                </a:rPr>
                <a:t>X</a:t>
              </a:r>
              <a:r>
                <a:rPr lang="nl-BE" sz="2200" dirty="0"/>
                <a:t> </a:t>
              </a:r>
              <a:r>
                <a:rPr lang="nl-BE" sz="2200" dirty="0" err="1"/>
                <a:t>into</a:t>
              </a:r>
              <a:r>
                <a:rPr lang="nl-BE" sz="2200" dirty="0"/>
                <a:t> a new array </a:t>
              </a:r>
              <a:r>
                <a:rPr lang="nl-BE" sz="2200" dirty="0" err="1">
                  <a:latin typeface="Consolas" panose="020B0609020204030204" pitchFamily="49" charset="0"/>
                </a:rPr>
                <a:t>X_transformed</a:t>
              </a:r>
              <a:r>
                <a:rPr lang="nl-BE" sz="2200" dirty="0"/>
                <a:t>.</a:t>
              </a:r>
            </a:p>
            <a:p>
              <a:pPr>
                <a:lnSpc>
                  <a:spcPct val="120000"/>
                </a:lnSpc>
              </a:pPr>
              <a:endParaRPr lang="nl-BE" sz="5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2AF047-C329-4ADF-AD9E-0DEDB7A4C537}"/>
              </a:ext>
            </a:extLst>
          </p:cNvPr>
          <p:cNvGrpSpPr/>
          <p:nvPr/>
        </p:nvGrpSpPr>
        <p:grpSpPr>
          <a:xfrm>
            <a:off x="3676555" y="2372551"/>
            <a:ext cx="8882909" cy="1335436"/>
            <a:chOff x="3883064" y="4152405"/>
            <a:chExt cx="8882909" cy="12669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B3924CD-F197-4E1F-BC51-C3C4BDDB7B03}"/>
                </a:ext>
              </a:extLst>
            </p:cNvPr>
            <p:cNvSpPr/>
            <p:nvPr/>
          </p:nvSpPr>
          <p:spPr>
            <a:xfrm>
              <a:off x="3883064" y="4152405"/>
              <a:ext cx="8882909" cy="1266916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0AC409-0F21-48D0-A080-668FDC6D40E1}"/>
                </a:ext>
              </a:extLst>
            </p:cNvPr>
            <p:cNvSpPr txBox="1"/>
            <p:nvPr/>
          </p:nvSpPr>
          <p:spPr>
            <a:xfrm>
              <a:off x="4027549" y="4349892"/>
              <a:ext cx="8512794" cy="9380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200" dirty="0" err="1">
                  <a:solidFill>
                    <a:schemeClr val="tx2"/>
                  </a:solidFill>
                </a:rPr>
                <a:t>Remove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</a:t>
              </a:r>
              <a:r>
                <a:rPr lang="nl-BE" sz="2200" dirty="0" err="1"/>
                <a:t>row</a:t>
              </a:r>
              <a:r>
                <a:rPr lang="nl-BE" sz="2200" dirty="0"/>
                <a:t> </a:t>
              </a:r>
              <a:r>
                <a:rPr lang="nl-BE" sz="2200" dirty="0" err="1"/>
                <a:t>that</a:t>
              </a:r>
              <a:r>
                <a:rPr lang="nl-BE" sz="2200" dirty="0"/>
                <a:t> </a:t>
              </a:r>
              <a:r>
                <a:rPr lang="nl-BE" sz="2200" dirty="0" err="1"/>
                <a:t>corresponds</a:t>
              </a:r>
              <a:r>
                <a:rPr lang="nl-BE" sz="2200" dirty="0"/>
                <a:t> </a:t>
              </a:r>
              <a:r>
                <a:rPr lang="nl-BE" sz="2200" dirty="0" err="1"/>
                <a:t>to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</a:t>
              </a:r>
              <a:r>
                <a:rPr lang="nl-BE" sz="2200" dirty="0" err="1"/>
                <a:t>leaf</a:t>
              </a:r>
              <a:r>
                <a:rPr lang="nl-BE" sz="2200" dirty="0"/>
                <a:t> </a:t>
              </a:r>
              <a:r>
                <a:rPr lang="nl-BE" sz="2200" dirty="0" err="1"/>
                <a:t>with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</a:t>
              </a:r>
              <a:r>
                <a:rPr lang="nl-BE" sz="2200" dirty="0" err="1">
                  <a:solidFill>
                    <a:schemeClr val="tx2"/>
                  </a:solidFill>
                </a:rPr>
                <a:t>largest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>
                  <a:solidFill>
                    <a:schemeClr val="tx2"/>
                  </a:solidFill>
                </a:rPr>
                <a:t>sepal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>
                  <a:solidFill>
                    <a:schemeClr val="tx2"/>
                  </a:solidFill>
                </a:rPr>
                <a:t>length</a:t>
              </a:r>
              <a:r>
                <a:rPr lang="nl-BE" sz="2200" dirty="0">
                  <a:solidFill>
                    <a:schemeClr val="tx2"/>
                  </a:solidFill>
                </a:rPr>
                <a:t> </a:t>
              </a:r>
              <a:r>
                <a:rPr lang="nl-BE" sz="2200" dirty="0" err="1"/>
                <a:t>from</a:t>
              </a:r>
              <a:r>
                <a:rPr lang="nl-BE" sz="2200" dirty="0"/>
                <a:t> </a:t>
              </a:r>
              <a:r>
                <a:rPr lang="nl-BE" sz="2200" dirty="0" err="1"/>
                <a:t>the</a:t>
              </a:r>
              <a:r>
                <a:rPr lang="nl-BE" sz="2200" dirty="0"/>
                <a:t> dataset. (</a:t>
              </a:r>
              <a:r>
                <a:rPr lang="nl-BE" sz="2200" dirty="0" err="1"/>
                <a:t>optional</a:t>
              </a:r>
              <a:r>
                <a:rPr lang="nl-BE" sz="2200" dirty="0"/>
                <a:t>: </a:t>
              </a:r>
              <a:r>
                <a:rPr lang="nl-BE" sz="2200" dirty="0" err="1">
                  <a:latin typeface="Consolas" panose="020B0609020204030204" pitchFamily="49" charset="0"/>
                </a:rPr>
                <a:t>np.delete</a:t>
              </a:r>
              <a:r>
                <a:rPr lang="nl-BE" sz="2200" dirty="0"/>
                <a:t>)</a:t>
              </a:r>
            </a:p>
            <a:p>
              <a:pPr>
                <a:lnSpc>
                  <a:spcPct val="120000"/>
                </a:lnSpc>
              </a:pPr>
              <a:endParaRPr lang="nl-BE" sz="5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2421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 err="1"/>
              <a:t>Comparisons</a:t>
            </a:r>
            <a:r>
              <a:rPr lang="nl-NL" sz="4000" dirty="0"/>
              <a:t>, </a:t>
            </a:r>
            <a:r>
              <a:rPr lang="nl-NL" sz="4000" dirty="0" err="1"/>
              <a:t>masks</a:t>
            </a:r>
            <a:r>
              <a:rPr lang="nl-NL" sz="4000" dirty="0"/>
              <a:t> </a:t>
            </a:r>
            <a:r>
              <a:rPr lang="nl-NL" sz="4000" dirty="0" err="1"/>
              <a:t>and</a:t>
            </a:r>
            <a:r>
              <a:rPr lang="nl-NL" sz="4000" dirty="0"/>
              <a:t> </a:t>
            </a:r>
            <a:r>
              <a:rPr lang="nl-NL" sz="4000" dirty="0" err="1"/>
              <a:t>boolean</a:t>
            </a:r>
            <a:r>
              <a:rPr lang="nl-NL" sz="4000" dirty="0"/>
              <a:t> logic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46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57551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6575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Comparison operators: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&lt;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&gt;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==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!=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&lt;=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&gt;=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A95161-2371-4F68-AF4B-06F8C78A051D}"/>
              </a:ext>
            </a:extLst>
          </p:cNvPr>
          <p:cNvSpPr/>
          <p:nvPr/>
        </p:nvSpPr>
        <p:spPr>
          <a:xfrm>
            <a:off x="438483" y="7239558"/>
            <a:ext cx="16200000" cy="2308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array([False, True, True, True, False, False, ...  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pl-PL" sz="2400" dirty="0">
                <a:solidFill>
                  <a:srgbClr val="4EC9B0"/>
                </a:solidFill>
                <a:latin typeface="Consolas" panose="020B0609020204030204" pitchFamily="49" charset="0"/>
              </a:rPr>
              <a:t> np</a:t>
            </a:r>
            <a:r>
              <a:rPr lang="pl-PL" sz="2400" dirty="0">
                <a:solidFill>
                  <a:srgbClr val="D4D4D4"/>
                </a:solidFill>
                <a:latin typeface="Consolas" panose="020B0609020204030204" pitchFamily="49" charset="0"/>
              </a:rPr>
              <a:t>.sum(</a:t>
            </a:r>
            <a:r>
              <a:rPr lang="nl-BE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l-PL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22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                     </a:t>
            </a:r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9A3E68B-0AAB-4876-9553-759E24A9B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374734"/>
              </p:ext>
            </p:extLst>
          </p:nvPr>
        </p:nvGraphicFramePr>
        <p:xfrm>
          <a:off x="2587516" y="4854219"/>
          <a:ext cx="278785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963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696963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CD328F7-5061-48D1-90DF-16751CCB7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085" y="1991272"/>
            <a:ext cx="6936098" cy="18743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CDFB61-DE17-446C-A707-4DA141ABBACD}"/>
              </a:ext>
            </a:extLst>
          </p:cNvPr>
          <p:cNvSpPr/>
          <p:nvPr/>
        </p:nvSpPr>
        <p:spPr>
          <a:xfrm>
            <a:off x="830118" y="4138573"/>
            <a:ext cx="67056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count number of flowers with short sepals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AD8165-7A84-4B5B-9135-E99CB950BB66}"/>
              </a:ext>
            </a:extLst>
          </p:cNvPr>
          <p:cNvSpPr/>
          <p:nvPr/>
        </p:nvSpPr>
        <p:spPr>
          <a:xfrm>
            <a:off x="2528565" y="4756924"/>
            <a:ext cx="823766" cy="21251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29AF63-919C-4E53-88D7-8C64E25261E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352331" y="5819488"/>
            <a:ext cx="5461462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8D21EE-7E38-42A5-8FCF-BF7E3D2B7003}"/>
              </a:ext>
            </a:extLst>
          </p:cNvPr>
          <p:cNvSpPr/>
          <p:nvPr/>
        </p:nvSpPr>
        <p:spPr>
          <a:xfrm>
            <a:off x="5699132" y="5186983"/>
            <a:ext cx="2945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800" dirty="0">
                <a:solidFill>
                  <a:srgbClr val="FF0000"/>
                </a:solidFill>
                <a:latin typeface="Consolas" panose="020B0609020204030204" pitchFamily="49" charset="0"/>
              </a:rPr>
              <a:t>A = X[:,0] &lt; 5</a:t>
            </a: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F92AA2-C6E4-4699-8214-775F703DE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59507"/>
              </p:ext>
            </p:extLst>
          </p:nvPr>
        </p:nvGraphicFramePr>
        <p:xfrm>
          <a:off x="9127731" y="4854219"/>
          <a:ext cx="696963" cy="193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963">
                  <a:extLst>
                    <a:ext uri="{9D8B030D-6E8A-4147-A177-3AD203B41FA5}">
                      <a16:colId xmlns:a16="http://schemas.microsoft.com/office/drawing/2014/main" val="2690093293"/>
                    </a:ext>
                  </a:extLst>
                </a:gridCol>
              </a:tblGrid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 err="1">
                          <a:solidFill>
                            <a:schemeClr val="bg1"/>
                          </a:solidFill>
                        </a:rPr>
                        <a:t>False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301176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613135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464530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665479"/>
                  </a:ext>
                </a:extLst>
              </a:tr>
              <a:tr h="38779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60522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FB1F30-FBA4-4D92-A3AD-AAFD8FF418DB}"/>
              </a:ext>
            </a:extLst>
          </p:cNvPr>
          <p:cNvCxnSpPr>
            <a:cxnSpLocks/>
          </p:cNvCxnSpPr>
          <p:nvPr/>
        </p:nvCxnSpPr>
        <p:spPr>
          <a:xfrm>
            <a:off x="10013596" y="5844819"/>
            <a:ext cx="2380681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7CFE89B-889A-4392-BB11-A847239F0369}"/>
              </a:ext>
            </a:extLst>
          </p:cNvPr>
          <p:cNvSpPr/>
          <p:nvPr/>
        </p:nvSpPr>
        <p:spPr>
          <a:xfrm>
            <a:off x="10421510" y="5212650"/>
            <a:ext cx="15648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A.sum</a:t>
            </a:r>
            <a:r>
              <a:rPr lang="nl-BE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8D7FD6-1E74-4547-A1D4-721FC73B00D1}"/>
              </a:ext>
            </a:extLst>
          </p:cNvPr>
          <p:cNvSpPr/>
          <p:nvPr/>
        </p:nvSpPr>
        <p:spPr>
          <a:xfrm>
            <a:off x="12728841" y="5588654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alibri" panose="020F0502020204030204" pitchFamily="34" charset="0"/>
              </a:rPr>
              <a:t>22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4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1" grpId="0"/>
      <p:bldP spid="22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6575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Comparison operators: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&lt;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&gt;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==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!=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&lt;=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&gt;=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A95161-2371-4F68-AF4B-06F8C78A051D}"/>
              </a:ext>
            </a:extLst>
          </p:cNvPr>
          <p:cNvSpPr/>
          <p:nvPr/>
        </p:nvSpPr>
        <p:spPr>
          <a:xfrm>
            <a:off x="4709074" y="2844893"/>
            <a:ext cx="11450867" cy="45243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.arange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).reshape((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&gt;=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elements that are greater than or equal to 5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 True,  True],</a:t>
            </a: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 True,  True,  True]])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2D array of Booleans</a:t>
            </a:r>
            <a:endParaRPr lang="en-US" sz="2400" dirty="0"/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 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3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 0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remainder after division by 3 equals zero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True],</a:t>
            </a: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True],</a:t>
            </a:r>
          </a:p>
          <a:p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da-DK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da-DK" sz="2400" dirty="0">
                <a:solidFill>
                  <a:srgbClr val="D4D4D4"/>
                </a:solidFill>
                <a:latin typeface="Consolas" panose="020B0609020204030204" pitchFamily="49" charset="0"/>
              </a:rPr>
              <a:t>, True]])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2D array of Booleans</a:t>
            </a:r>
            <a:endParaRPr lang="en-US" sz="2400" dirty="0"/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  </a:t>
            </a:r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3E33F31-9544-4D9D-AFF6-49D025EE3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56192"/>
              </p:ext>
            </p:extLst>
          </p:nvPr>
        </p:nvGraphicFramePr>
        <p:xfrm>
          <a:off x="1747512" y="4185841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E296145-F61D-4565-9431-186BC667602F}"/>
              </a:ext>
            </a:extLst>
          </p:cNvPr>
          <p:cNvSpPr/>
          <p:nvPr/>
        </p:nvSpPr>
        <p:spPr>
          <a:xfrm>
            <a:off x="2444552" y="3476346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824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9627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 operators: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&amp;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|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~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(and for completeness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^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less important)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3E33F31-9544-4D9D-AFF6-49D025EE3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468437"/>
              </p:ext>
            </p:extLst>
          </p:nvPr>
        </p:nvGraphicFramePr>
        <p:xfrm>
          <a:off x="916878" y="5246594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E296145-F61D-4565-9431-186BC667602F}"/>
              </a:ext>
            </a:extLst>
          </p:cNvPr>
          <p:cNvSpPr/>
          <p:nvPr/>
        </p:nvSpPr>
        <p:spPr>
          <a:xfrm>
            <a:off x="1613918" y="4592933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FDFFA-F020-453F-95A6-406EE13F7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413" y="2031609"/>
            <a:ext cx="5981700" cy="13811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4ABDF1-B497-4D04-8F8D-1FFB8A65054D}"/>
              </a:ext>
            </a:extLst>
          </p:cNvPr>
          <p:cNvSpPr/>
          <p:nvPr/>
        </p:nvSpPr>
        <p:spPr>
          <a:xfrm>
            <a:off x="4185059" y="3596083"/>
            <a:ext cx="1034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 &gt; 5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D26B0-3C94-4D2C-B48A-3E5A79810AF6}"/>
              </a:ext>
            </a:extLst>
          </p:cNvPr>
          <p:cNvSpPr/>
          <p:nvPr/>
        </p:nvSpPr>
        <p:spPr>
          <a:xfrm>
            <a:off x="3760119" y="6557571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 % 2 == 0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3D2EDE4-7481-49F3-90B7-926D84EF7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830494"/>
              </p:ext>
            </p:extLst>
          </p:nvPr>
        </p:nvGraphicFramePr>
        <p:xfrm>
          <a:off x="3803667" y="4169088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430D303-5B44-4742-8E03-D321B24AB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668176"/>
              </p:ext>
            </p:extLst>
          </p:nvPr>
        </p:nvGraphicFramePr>
        <p:xfrm>
          <a:off x="3803667" y="7089012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601BB0E-CA3D-4278-8AD9-1AEE321E34B8}"/>
              </a:ext>
            </a:extLst>
          </p:cNvPr>
          <p:cNvSpPr/>
          <p:nvPr/>
        </p:nvSpPr>
        <p:spPr>
          <a:xfrm>
            <a:off x="7444837" y="3933053"/>
            <a:ext cx="42934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(A &gt; 5)  &amp;  (A % 2 == 0) 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5CD8FD-58CB-4C20-B43F-EBB368B2CC91}"/>
              </a:ext>
            </a:extLst>
          </p:cNvPr>
          <p:cNvSpPr/>
          <p:nvPr/>
        </p:nvSpPr>
        <p:spPr>
          <a:xfrm>
            <a:off x="7444837" y="6011506"/>
            <a:ext cx="42934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(A &gt; 5)  |  (A % 2 == 0) 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0E3A3E-B636-4B11-AD1F-5739345B3612}"/>
              </a:ext>
            </a:extLst>
          </p:cNvPr>
          <p:cNvSpPr/>
          <p:nvPr/>
        </p:nvSpPr>
        <p:spPr>
          <a:xfrm>
            <a:off x="7332508" y="8202402"/>
            <a:ext cx="4405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~(A &gt; 5)  &amp;  (A % 2 == 0)  </a:t>
            </a:r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8A21E4D-CF57-4085-B3B7-A2B5EBA01B66}"/>
              </a:ext>
            </a:extLst>
          </p:cNvPr>
          <p:cNvSpPr/>
          <p:nvPr/>
        </p:nvSpPr>
        <p:spPr>
          <a:xfrm>
            <a:off x="11953702" y="3933053"/>
            <a:ext cx="299258" cy="461665"/>
          </a:xfrm>
          <a:prstGeom prst="right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A7FAA8B-4F7A-411E-A9C1-DAA4ABB2DEA4}"/>
              </a:ext>
            </a:extLst>
          </p:cNvPr>
          <p:cNvSpPr/>
          <p:nvPr/>
        </p:nvSpPr>
        <p:spPr>
          <a:xfrm>
            <a:off x="11953702" y="6011506"/>
            <a:ext cx="299258" cy="461665"/>
          </a:xfrm>
          <a:prstGeom prst="right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035212A-8820-4BBA-AD0B-6BFC93377DF5}"/>
              </a:ext>
            </a:extLst>
          </p:cNvPr>
          <p:cNvSpPr/>
          <p:nvPr/>
        </p:nvSpPr>
        <p:spPr>
          <a:xfrm>
            <a:off x="11953702" y="8202401"/>
            <a:ext cx="299258" cy="461665"/>
          </a:xfrm>
          <a:prstGeom prst="right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2E1BA3F-E42C-426D-AD89-117CAA65C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672279"/>
              </p:ext>
            </p:extLst>
          </p:nvPr>
        </p:nvGraphicFramePr>
        <p:xfrm>
          <a:off x="13331217" y="313653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14E6CC8-2DCD-4F26-A476-D8AE6750F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031943"/>
              </p:ext>
            </p:extLst>
          </p:nvPr>
        </p:nvGraphicFramePr>
        <p:xfrm>
          <a:off x="13331217" y="532112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80A902B-FB2B-45ED-89BF-E10FEFEA7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90737"/>
              </p:ext>
            </p:extLst>
          </p:nvPr>
        </p:nvGraphicFramePr>
        <p:xfrm>
          <a:off x="13331217" y="7512024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45A8C5-1D09-4104-9022-922E598226F9}"/>
              </a:ext>
            </a:extLst>
          </p:cNvPr>
          <p:cNvSpPr txBox="1"/>
          <p:nvPr/>
        </p:nvSpPr>
        <p:spPr>
          <a:xfrm>
            <a:off x="15455061" y="3773842"/>
            <a:ext cx="1736373" cy="62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1500" i="1" dirty="0">
                <a:latin typeface="Consolas" panose="020B0609020204030204" pitchFamily="49" charset="0"/>
              </a:rPr>
              <a:t>&amp;</a:t>
            </a:r>
            <a:r>
              <a:rPr lang="nl-BE" sz="1500" i="1" dirty="0"/>
              <a:t>: Both </a:t>
            </a:r>
            <a:r>
              <a:rPr lang="nl-BE" sz="1500" i="1" dirty="0" err="1"/>
              <a:t>conditions</a:t>
            </a:r>
            <a:endParaRPr lang="nl-BE" sz="1500" i="1" dirty="0"/>
          </a:p>
          <a:p>
            <a:pPr algn="ctr">
              <a:lnSpc>
                <a:spcPct val="120000"/>
              </a:lnSpc>
            </a:pPr>
            <a:r>
              <a:rPr lang="nl-BE" sz="1500" i="1" dirty="0"/>
              <a:t> </a:t>
            </a:r>
            <a:r>
              <a:rPr lang="nl-BE" sz="1500" i="1" dirty="0" err="1"/>
              <a:t>should</a:t>
            </a:r>
            <a:r>
              <a:rPr lang="nl-BE" sz="1500" i="1" dirty="0"/>
              <a:t> </a:t>
            </a:r>
            <a:r>
              <a:rPr lang="nl-BE" sz="1500" i="1" dirty="0" err="1"/>
              <a:t>hold</a:t>
            </a:r>
            <a:endParaRPr lang="en-US" sz="15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5AB750-B29F-4E67-9F46-4D7DB50873CB}"/>
              </a:ext>
            </a:extLst>
          </p:cNvPr>
          <p:cNvSpPr txBox="1"/>
          <p:nvPr/>
        </p:nvSpPr>
        <p:spPr>
          <a:xfrm>
            <a:off x="15627382" y="5936695"/>
            <a:ext cx="1391728" cy="62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1500" i="1" dirty="0">
                <a:latin typeface="Consolas" panose="020B0609020204030204" pitchFamily="49" charset="0"/>
              </a:rPr>
              <a:t>|</a:t>
            </a:r>
            <a:r>
              <a:rPr lang="nl-BE" sz="1500" i="1" dirty="0"/>
              <a:t>: at </a:t>
            </a:r>
            <a:r>
              <a:rPr lang="nl-BE" sz="1500" i="1" dirty="0" err="1"/>
              <a:t>least</a:t>
            </a:r>
            <a:r>
              <a:rPr lang="nl-BE" sz="1500" i="1" dirty="0"/>
              <a:t> </a:t>
            </a:r>
            <a:r>
              <a:rPr lang="nl-BE" sz="1500" i="1" dirty="0" err="1"/>
              <a:t>one</a:t>
            </a:r>
            <a:endParaRPr lang="nl-BE" sz="1500" i="1" dirty="0"/>
          </a:p>
          <a:p>
            <a:pPr algn="ctr">
              <a:lnSpc>
                <a:spcPct val="120000"/>
              </a:lnSpc>
            </a:pPr>
            <a:r>
              <a:rPr lang="nl-BE" sz="1500" i="1" dirty="0"/>
              <a:t> </a:t>
            </a:r>
            <a:r>
              <a:rPr lang="nl-BE" sz="1500" i="1" dirty="0" err="1"/>
              <a:t>should</a:t>
            </a:r>
            <a:r>
              <a:rPr lang="nl-BE" sz="1500" i="1" dirty="0"/>
              <a:t> </a:t>
            </a:r>
            <a:r>
              <a:rPr lang="nl-BE" sz="1500" i="1" dirty="0" err="1"/>
              <a:t>hold</a:t>
            </a:r>
            <a:endParaRPr lang="en-US" sz="150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66FE91-2759-4EED-A714-4A9919B3F1D0}"/>
              </a:ext>
            </a:extLst>
          </p:cNvPr>
          <p:cNvSpPr txBox="1"/>
          <p:nvPr/>
        </p:nvSpPr>
        <p:spPr>
          <a:xfrm>
            <a:off x="15427809" y="8089958"/>
            <a:ext cx="1790875" cy="62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1500" i="1" dirty="0">
                <a:latin typeface="Consolas" panose="020B0609020204030204" pitchFamily="49" charset="0"/>
              </a:rPr>
              <a:t>~</a:t>
            </a:r>
            <a:r>
              <a:rPr lang="nl-BE" sz="1500" i="1" dirty="0"/>
              <a:t>: </a:t>
            </a:r>
            <a:r>
              <a:rPr lang="nl-BE" sz="1500" i="1" dirty="0" err="1"/>
              <a:t>condition</a:t>
            </a:r>
            <a:r>
              <a:rPr lang="nl-BE" sz="1500" i="1" dirty="0"/>
              <a:t> </a:t>
            </a:r>
            <a:r>
              <a:rPr lang="nl-BE" sz="1500" i="1" dirty="0" err="1"/>
              <a:t>should</a:t>
            </a:r>
            <a:endParaRPr lang="nl-BE" sz="1500" i="1" dirty="0"/>
          </a:p>
          <a:p>
            <a:pPr algn="ctr">
              <a:lnSpc>
                <a:spcPct val="120000"/>
              </a:lnSpc>
            </a:pPr>
            <a:r>
              <a:rPr lang="nl-BE" sz="1500" i="1" dirty="0"/>
              <a:t> </a:t>
            </a:r>
            <a:r>
              <a:rPr lang="nl-BE" sz="1500" i="1" dirty="0" err="1"/>
              <a:t>not</a:t>
            </a:r>
            <a:r>
              <a:rPr lang="nl-BE" sz="1500" i="1" dirty="0"/>
              <a:t> </a:t>
            </a:r>
            <a:r>
              <a:rPr lang="nl-BE" sz="1500" i="1" dirty="0" err="1"/>
              <a:t>hold</a:t>
            </a:r>
            <a:endParaRPr lang="en-US" sz="1500" i="1" dirty="0"/>
          </a:p>
        </p:txBody>
      </p:sp>
    </p:spTree>
    <p:extLst>
      <p:ext uri="{BB962C8B-B14F-4D97-AF65-F5344CB8AC3E}">
        <p14:creationId xmlns:p14="http://schemas.microsoft.com/office/powerpoint/2010/main" val="366275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6" grpId="0" animBg="1"/>
      <p:bldP spid="18" grpId="0" animBg="1"/>
      <p:bldP spid="19" grpId="0" animBg="1"/>
      <p:bldP spid="7" grpId="0"/>
      <p:bldP spid="25" grpId="0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9627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 operators: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&amp;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|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~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(and for completeness </a:t>
            </a:r>
            <a:r>
              <a:rPr lang="en-US" sz="2400" b="1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^</a:t>
            </a:r>
            <a:r>
              <a:rPr lang="en-US" sz="2400" b="1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less important)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380668E-EF35-4F0F-A8CD-8CD3B62FE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036710"/>
              </p:ext>
            </p:extLst>
          </p:nvPr>
        </p:nvGraphicFramePr>
        <p:xfrm>
          <a:off x="3600314" y="3103959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11B885B6-A6BE-49B5-B746-C3BC705CC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458" y="3033611"/>
            <a:ext cx="1050875" cy="16513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0B5B2AB-7395-4F5C-9773-05E75AD825C5}"/>
              </a:ext>
            </a:extLst>
          </p:cNvPr>
          <p:cNvSpPr/>
          <p:nvPr/>
        </p:nvSpPr>
        <p:spPr>
          <a:xfrm>
            <a:off x="438483" y="7239558"/>
            <a:ext cx="16200000" cy="2308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&amp; 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1.5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array([False, True, True, False, False, …</a:t>
            </a:r>
            <a:endParaRPr lang="en-US" sz="2400" dirty="0"/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np.sum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 &amp; 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1.5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13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</a:t>
            </a:r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696BF2-9E39-481C-B823-9CD38F8CF19D}"/>
              </a:ext>
            </a:extLst>
          </p:cNvPr>
          <p:cNvSpPr/>
          <p:nvPr/>
        </p:nvSpPr>
        <p:spPr>
          <a:xfrm>
            <a:off x="3650782" y="3166410"/>
            <a:ext cx="823766" cy="2353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14D9CE-F634-459C-8056-18189DD73873}"/>
              </a:ext>
            </a:extLst>
          </p:cNvPr>
          <p:cNvSpPr/>
          <p:nvPr/>
        </p:nvSpPr>
        <p:spPr>
          <a:xfrm>
            <a:off x="5474047" y="3169182"/>
            <a:ext cx="823766" cy="2353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C6071B-C98C-41D9-8187-3BD6EEEAC799}"/>
              </a:ext>
            </a:extLst>
          </p:cNvPr>
          <p:cNvSpPr txBox="1"/>
          <p:nvPr/>
        </p:nvSpPr>
        <p:spPr>
          <a:xfrm>
            <a:off x="10124900" y="4055935"/>
            <a:ext cx="5526777" cy="80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2000" i="1" dirty="0">
                <a:latin typeface="Consolas" panose="020B0609020204030204" pitchFamily="49" charset="0"/>
              </a:rPr>
              <a:t>Short </a:t>
            </a:r>
            <a:r>
              <a:rPr lang="nl-BE" sz="2000" i="1" dirty="0" err="1">
                <a:latin typeface="Consolas" panose="020B0609020204030204" pitchFamily="49" charset="0"/>
              </a:rPr>
              <a:t>sepals</a:t>
            </a:r>
            <a:r>
              <a:rPr lang="nl-BE" sz="2000" i="1" dirty="0">
                <a:latin typeface="Consolas" panose="020B0609020204030204" pitchFamily="49" charset="0"/>
              </a:rPr>
              <a:t> (&lt; 5) AND short (&lt; 1.5) </a:t>
            </a:r>
            <a:r>
              <a:rPr lang="nl-BE" sz="2000" i="1" dirty="0" err="1">
                <a:latin typeface="Consolas" panose="020B0609020204030204" pitchFamily="49" charset="0"/>
              </a:rPr>
              <a:t>petals</a:t>
            </a:r>
            <a:r>
              <a:rPr lang="nl-BE" sz="2000" i="1" dirty="0">
                <a:latin typeface="Consolas" panose="020B0609020204030204" pitchFamily="49" charset="0"/>
              </a:rPr>
              <a:t> ?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20437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89359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 masks (logical indexing):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data using logical expressions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B5B2AB-7395-4F5C-9773-05E75AD825C5}"/>
              </a:ext>
            </a:extLst>
          </p:cNvPr>
          <p:cNvSpPr/>
          <p:nvPr/>
        </p:nvSpPr>
        <p:spPr>
          <a:xfrm>
            <a:off x="438483" y="7239558"/>
            <a:ext cx="16200000" cy="23329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array([2, 4, 6, 8])</a:t>
            </a:r>
            <a:endParaRPr lang="en-US" sz="2400" dirty="0"/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[(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&gt;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) | (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)]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array([2, 4, 6, 7, 8, 9])</a:t>
            </a:r>
            <a:endParaRPr lang="en-US" sz="2400" dirty="0"/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   </a:t>
            </a:r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27ACE5-7BC9-4A61-BE2F-C7698912B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379156"/>
              </p:ext>
            </p:extLst>
          </p:nvPr>
        </p:nvGraphicFramePr>
        <p:xfrm>
          <a:off x="2691235" y="255575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1E8CD45-8134-4F1F-AD56-B1A73C0B458D}"/>
              </a:ext>
            </a:extLst>
          </p:cNvPr>
          <p:cNvSpPr/>
          <p:nvPr/>
        </p:nvSpPr>
        <p:spPr>
          <a:xfrm>
            <a:off x="3388275" y="1902098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515FF-692B-4E83-BEDC-63255F0449A9}"/>
              </a:ext>
            </a:extLst>
          </p:cNvPr>
          <p:cNvSpPr/>
          <p:nvPr/>
        </p:nvSpPr>
        <p:spPr>
          <a:xfrm>
            <a:off x="6066491" y="202431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 % 2 == 0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3A158B0-8F65-43D8-9C37-07C8AD570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37984"/>
              </p:ext>
            </p:extLst>
          </p:nvPr>
        </p:nvGraphicFramePr>
        <p:xfrm>
          <a:off x="6110039" y="255575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35BC283-A201-42F6-8768-13CDE583FCE4}"/>
              </a:ext>
            </a:extLst>
          </p:cNvPr>
          <p:cNvSpPr/>
          <p:nvPr/>
        </p:nvSpPr>
        <p:spPr>
          <a:xfrm>
            <a:off x="10772597" y="2024317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A[A % 2 == 0]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6A7E0-8495-4BC6-86F5-D91741D31803}"/>
              </a:ext>
            </a:extLst>
          </p:cNvPr>
          <p:cNvSpPr/>
          <p:nvPr/>
        </p:nvSpPr>
        <p:spPr>
          <a:xfrm>
            <a:off x="3329266" y="2635729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BD394-D267-46A1-AF7B-A89FF1DB991D}"/>
              </a:ext>
            </a:extLst>
          </p:cNvPr>
          <p:cNvSpPr/>
          <p:nvPr/>
        </p:nvSpPr>
        <p:spPr>
          <a:xfrm>
            <a:off x="2722385" y="3250331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15C4B2-5DB9-47CA-A1EC-331BECC3FE42}"/>
              </a:ext>
            </a:extLst>
          </p:cNvPr>
          <p:cNvSpPr/>
          <p:nvPr/>
        </p:nvSpPr>
        <p:spPr>
          <a:xfrm>
            <a:off x="3939777" y="3258644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290F2-3895-4110-8633-B987A2C44B15}"/>
              </a:ext>
            </a:extLst>
          </p:cNvPr>
          <p:cNvSpPr/>
          <p:nvPr/>
        </p:nvSpPr>
        <p:spPr>
          <a:xfrm>
            <a:off x="3339688" y="3849312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5A4BE-FA94-4888-8074-359B7C4986B6}"/>
              </a:ext>
            </a:extLst>
          </p:cNvPr>
          <p:cNvSpPr/>
          <p:nvPr/>
        </p:nvSpPr>
        <p:spPr>
          <a:xfrm>
            <a:off x="6758491" y="2632493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ED9D5E-8717-4862-B760-DA51E723A893}"/>
              </a:ext>
            </a:extLst>
          </p:cNvPr>
          <p:cNvSpPr/>
          <p:nvPr/>
        </p:nvSpPr>
        <p:spPr>
          <a:xfrm>
            <a:off x="6174990" y="3234645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68215-FF71-4605-91A8-741681EB0AC4}"/>
              </a:ext>
            </a:extLst>
          </p:cNvPr>
          <p:cNvSpPr/>
          <p:nvPr/>
        </p:nvSpPr>
        <p:spPr>
          <a:xfrm>
            <a:off x="7347085" y="3255910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C8123B-C86B-43C2-8244-437DE24D09E5}"/>
              </a:ext>
            </a:extLst>
          </p:cNvPr>
          <p:cNvSpPr/>
          <p:nvPr/>
        </p:nvSpPr>
        <p:spPr>
          <a:xfrm>
            <a:off x="6758491" y="3843367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97BF76-69F2-4757-8CDE-255D94525E69}"/>
              </a:ext>
            </a:extLst>
          </p:cNvPr>
          <p:cNvCxnSpPr>
            <a:cxnSpLocks/>
          </p:cNvCxnSpPr>
          <p:nvPr/>
        </p:nvCxnSpPr>
        <p:spPr>
          <a:xfrm>
            <a:off x="7258338" y="2896698"/>
            <a:ext cx="2929378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173117-481C-4C95-B0EF-9C794B837042}"/>
              </a:ext>
            </a:extLst>
          </p:cNvPr>
          <p:cNvCxnSpPr>
            <a:cxnSpLocks/>
          </p:cNvCxnSpPr>
          <p:nvPr/>
        </p:nvCxnSpPr>
        <p:spPr>
          <a:xfrm>
            <a:off x="7846932" y="3547861"/>
            <a:ext cx="2340784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AE2A9D-45F2-43D5-8192-AF9CB0D301ED}"/>
              </a:ext>
            </a:extLst>
          </p:cNvPr>
          <p:cNvCxnSpPr>
            <a:cxnSpLocks/>
          </p:cNvCxnSpPr>
          <p:nvPr/>
        </p:nvCxnSpPr>
        <p:spPr>
          <a:xfrm>
            <a:off x="7258338" y="4083226"/>
            <a:ext cx="2929378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864EEC-2847-45D2-87A6-6C97E1D47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347826"/>
              </p:ext>
            </p:extLst>
          </p:nvPr>
        </p:nvGraphicFramePr>
        <p:xfrm>
          <a:off x="10799007" y="3094217"/>
          <a:ext cx="2340784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196">
                  <a:extLst>
                    <a:ext uri="{9D8B030D-6E8A-4147-A177-3AD203B41FA5}">
                      <a16:colId xmlns:a16="http://schemas.microsoft.com/office/drawing/2014/main" val="1020634303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1224765183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2472499068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44973078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194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4EB4C436-BAA2-4873-8ED5-8093603FCEA9}"/>
              </a:ext>
            </a:extLst>
          </p:cNvPr>
          <p:cNvSpPr txBox="1"/>
          <p:nvPr/>
        </p:nvSpPr>
        <p:spPr>
          <a:xfrm>
            <a:off x="14020458" y="3197199"/>
            <a:ext cx="2618025" cy="348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1500" i="1" dirty="0">
                <a:latin typeface="Consolas" panose="020B0609020204030204" pitchFamily="49" charset="0"/>
              </a:rPr>
              <a:t>(returns copy, no view)</a:t>
            </a:r>
            <a:endParaRPr lang="en-US" sz="1500" i="1" dirty="0"/>
          </a:p>
        </p:txBody>
      </p:sp>
    </p:spTree>
    <p:extLst>
      <p:ext uri="{BB962C8B-B14F-4D97-AF65-F5344CB8AC3E}">
        <p14:creationId xmlns:p14="http://schemas.microsoft.com/office/powerpoint/2010/main" val="80378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3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89359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 masks (logical indexing):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data using logical expressions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B5B2AB-7395-4F5C-9773-05E75AD825C5}"/>
              </a:ext>
            </a:extLst>
          </p:cNvPr>
          <p:cNvSpPr/>
          <p:nvPr/>
        </p:nvSpPr>
        <p:spPr>
          <a:xfrm>
            <a:off x="438483" y="7458860"/>
            <a:ext cx="16200000" cy="1938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endParaRPr lang="pt-B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nl-BE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27ACE5-7BC9-4A61-BE2F-C7698912B941}"/>
              </a:ext>
            </a:extLst>
          </p:cNvPr>
          <p:cNvGraphicFramePr>
            <a:graphicFrameLocks noGrp="1"/>
          </p:cNvGraphicFramePr>
          <p:nvPr/>
        </p:nvGraphicFramePr>
        <p:xfrm>
          <a:off x="2691235" y="255575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1E8CD45-8134-4F1F-AD56-B1A73C0B458D}"/>
              </a:ext>
            </a:extLst>
          </p:cNvPr>
          <p:cNvSpPr/>
          <p:nvPr/>
        </p:nvSpPr>
        <p:spPr>
          <a:xfrm>
            <a:off x="3388275" y="1902098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515FF-692B-4E83-BEDC-63255F0449A9}"/>
              </a:ext>
            </a:extLst>
          </p:cNvPr>
          <p:cNvSpPr/>
          <p:nvPr/>
        </p:nvSpPr>
        <p:spPr>
          <a:xfrm>
            <a:off x="6066491" y="202431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 % 2 == 0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3A158B0-8F65-43D8-9C37-07C8AD570C5A}"/>
              </a:ext>
            </a:extLst>
          </p:cNvPr>
          <p:cNvGraphicFramePr>
            <a:graphicFrameLocks noGrp="1"/>
          </p:cNvGraphicFramePr>
          <p:nvPr/>
        </p:nvGraphicFramePr>
        <p:xfrm>
          <a:off x="6110039" y="2555759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35BC283-A201-42F6-8768-13CDE583FCE4}"/>
              </a:ext>
            </a:extLst>
          </p:cNvPr>
          <p:cNvSpPr/>
          <p:nvPr/>
        </p:nvSpPr>
        <p:spPr>
          <a:xfrm>
            <a:off x="10772597" y="2024317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A[A % 2 == 0]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6A7E0-8495-4BC6-86F5-D91741D31803}"/>
              </a:ext>
            </a:extLst>
          </p:cNvPr>
          <p:cNvSpPr/>
          <p:nvPr/>
        </p:nvSpPr>
        <p:spPr>
          <a:xfrm>
            <a:off x="3329266" y="2635729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BD394-D267-46A1-AF7B-A89FF1DB991D}"/>
              </a:ext>
            </a:extLst>
          </p:cNvPr>
          <p:cNvSpPr/>
          <p:nvPr/>
        </p:nvSpPr>
        <p:spPr>
          <a:xfrm>
            <a:off x="2722385" y="3250331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15C4B2-5DB9-47CA-A1EC-331BECC3FE42}"/>
              </a:ext>
            </a:extLst>
          </p:cNvPr>
          <p:cNvSpPr/>
          <p:nvPr/>
        </p:nvSpPr>
        <p:spPr>
          <a:xfrm>
            <a:off x="3939777" y="3258644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290F2-3895-4110-8633-B987A2C44B15}"/>
              </a:ext>
            </a:extLst>
          </p:cNvPr>
          <p:cNvSpPr/>
          <p:nvPr/>
        </p:nvSpPr>
        <p:spPr>
          <a:xfrm>
            <a:off x="3339688" y="3849312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5A4BE-FA94-4888-8074-359B7C4986B6}"/>
              </a:ext>
            </a:extLst>
          </p:cNvPr>
          <p:cNvSpPr/>
          <p:nvPr/>
        </p:nvSpPr>
        <p:spPr>
          <a:xfrm>
            <a:off x="6758491" y="2632493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ED9D5E-8717-4862-B760-DA51E723A893}"/>
              </a:ext>
            </a:extLst>
          </p:cNvPr>
          <p:cNvSpPr/>
          <p:nvPr/>
        </p:nvSpPr>
        <p:spPr>
          <a:xfrm>
            <a:off x="6174990" y="3234645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68215-FF71-4605-91A8-741681EB0AC4}"/>
              </a:ext>
            </a:extLst>
          </p:cNvPr>
          <p:cNvSpPr/>
          <p:nvPr/>
        </p:nvSpPr>
        <p:spPr>
          <a:xfrm>
            <a:off x="7347085" y="3255910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C8123B-C86B-43C2-8244-437DE24D09E5}"/>
              </a:ext>
            </a:extLst>
          </p:cNvPr>
          <p:cNvSpPr/>
          <p:nvPr/>
        </p:nvSpPr>
        <p:spPr>
          <a:xfrm>
            <a:off x="6758491" y="3843367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97BF76-69F2-4757-8CDE-255D94525E69}"/>
              </a:ext>
            </a:extLst>
          </p:cNvPr>
          <p:cNvCxnSpPr>
            <a:cxnSpLocks/>
          </p:cNvCxnSpPr>
          <p:nvPr/>
        </p:nvCxnSpPr>
        <p:spPr>
          <a:xfrm>
            <a:off x="7258338" y="2896698"/>
            <a:ext cx="2929378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173117-481C-4C95-B0EF-9C794B837042}"/>
              </a:ext>
            </a:extLst>
          </p:cNvPr>
          <p:cNvCxnSpPr>
            <a:cxnSpLocks/>
          </p:cNvCxnSpPr>
          <p:nvPr/>
        </p:nvCxnSpPr>
        <p:spPr>
          <a:xfrm>
            <a:off x="7846932" y="3547861"/>
            <a:ext cx="2340784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AE2A9D-45F2-43D5-8192-AF9CB0D301ED}"/>
              </a:ext>
            </a:extLst>
          </p:cNvPr>
          <p:cNvCxnSpPr>
            <a:cxnSpLocks/>
          </p:cNvCxnSpPr>
          <p:nvPr/>
        </p:nvCxnSpPr>
        <p:spPr>
          <a:xfrm>
            <a:off x="7258338" y="4083226"/>
            <a:ext cx="2929378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864EEC-2847-45D2-87A6-6C97E1D47765}"/>
              </a:ext>
            </a:extLst>
          </p:cNvPr>
          <p:cNvGraphicFramePr>
            <a:graphicFrameLocks noGrp="1"/>
          </p:cNvGraphicFramePr>
          <p:nvPr/>
        </p:nvGraphicFramePr>
        <p:xfrm>
          <a:off x="10799007" y="3094217"/>
          <a:ext cx="2340784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196">
                  <a:extLst>
                    <a:ext uri="{9D8B030D-6E8A-4147-A177-3AD203B41FA5}">
                      <a16:colId xmlns:a16="http://schemas.microsoft.com/office/drawing/2014/main" val="1020634303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1224765183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2472499068"/>
                    </a:ext>
                  </a:extLst>
                </a:gridCol>
                <a:gridCol w="585196">
                  <a:extLst>
                    <a:ext uri="{9D8B030D-6E8A-4147-A177-3AD203B41FA5}">
                      <a16:colId xmlns:a16="http://schemas.microsoft.com/office/drawing/2014/main" val="44973078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194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4EB4C436-BAA2-4873-8ED5-8093603FCEA9}"/>
              </a:ext>
            </a:extLst>
          </p:cNvPr>
          <p:cNvSpPr txBox="1"/>
          <p:nvPr/>
        </p:nvSpPr>
        <p:spPr>
          <a:xfrm>
            <a:off x="14020458" y="3197199"/>
            <a:ext cx="2618025" cy="348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1500" i="1" dirty="0">
                <a:latin typeface="Consolas" panose="020B0609020204030204" pitchFamily="49" charset="0"/>
              </a:rPr>
              <a:t>(returns copy, no view)</a:t>
            </a:r>
            <a:endParaRPr lang="en-US" sz="15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9D07AA-EAA0-47C7-AB75-9B1D5145EEE6}"/>
              </a:ext>
            </a:extLst>
          </p:cNvPr>
          <p:cNvSpPr txBox="1"/>
          <p:nvPr/>
        </p:nvSpPr>
        <p:spPr>
          <a:xfrm>
            <a:off x="720100" y="5162430"/>
            <a:ext cx="5730575" cy="433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2000" i="1" dirty="0" err="1">
                <a:latin typeface="Consolas" panose="020B0609020204030204" pitchFamily="49" charset="0"/>
              </a:rPr>
              <a:t>Can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be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used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to</a:t>
            </a:r>
            <a:r>
              <a:rPr lang="nl-BE" sz="2000" i="1" dirty="0">
                <a:latin typeface="Consolas" panose="020B0609020204030204" pitchFamily="49" charset="0"/>
              </a:rPr>
              <a:t> change data as well:</a:t>
            </a:r>
            <a:endParaRPr lang="en-US" sz="2000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800D0F-1A46-42A8-BE2B-9D4DCE9CC742}"/>
              </a:ext>
            </a:extLst>
          </p:cNvPr>
          <p:cNvSpPr/>
          <p:nvPr/>
        </p:nvSpPr>
        <p:spPr>
          <a:xfrm>
            <a:off x="3939777" y="6187015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A[A % 2 == 0] = 0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D84FA7A-0799-4958-9797-F64D6B2B4BD5}"/>
              </a:ext>
            </a:extLst>
          </p:cNvPr>
          <p:cNvCxnSpPr>
            <a:cxnSpLocks/>
          </p:cNvCxnSpPr>
          <p:nvPr/>
        </p:nvCxnSpPr>
        <p:spPr>
          <a:xfrm>
            <a:off x="7217995" y="6422295"/>
            <a:ext cx="1464689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3F40350-541B-4084-AAAF-B5AA8C3AC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859876"/>
              </p:ext>
            </p:extLst>
          </p:nvPr>
        </p:nvGraphicFramePr>
        <p:xfrm>
          <a:off x="9900630" y="5397140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33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BE1875D-D255-4880-9B33-C75693C559C9}"/>
              </a:ext>
            </a:extLst>
          </p:cNvPr>
          <p:cNvSpPr/>
          <p:nvPr/>
        </p:nvSpPr>
        <p:spPr>
          <a:xfrm>
            <a:off x="13854892" y="2885105"/>
            <a:ext cx="308783" cy="335534"/>
          </a:xfrm>
          <a:prstGeom prst="rect">
            <a:avLst/>
          </a:prstGeom>
          <a:solidFill>
            <a:schemeClr val="bg2"/>
          </a:solidFill>
          <a:ln w="317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6BBEE-55EF-477C-A3C3-D249DDD68C7A}"/>
              </a:ext>
            </a:extLst>
          </p:cNvPr>
          <p:cNvSpPr/>
          <p:nvPr/>
        </p:nvSpPr>
        <p:spPr>
          <a:xfrm>
            <a:off x="11130742" y="2884516"/>
            <a:ext cx="2509058" cy="335534"/>
          </a:xfrm>
          <a:prstGeom prst="rect">
            <a:avLst/>
          </a:prstGeom>
          <a:solidFill>
            <a:schemeClr val="bg2"/>
          </a:solidFill>
          <a:ln w="317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10126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 masks (logical/</a:t>
            </a: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indexing):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data using logical expressions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B5B2AB-7395-4F5C-9773-05E75AD825C5}"/>
              </a:ext>
            </a:extLst>
          </p:cNvPr>
          <p:cNvSpPr/>
          <p:nvPr/>
        </p:nvSpPr>
        <p:spPr>
          <a:xfrm>
            <a:off x="438483" y="6843978"/>
            <a:ext cx="16200000" cy="26776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] %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, :]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array([[1, 2, 3],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[7, 8, 9]])</a:t>
            </a:r>
            <a:endParaRPr lang="en-US" sz="2400" dirty="0"/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] %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1        </a:t>
            </a:r>
            <a:r>
              <a:rPr 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# using an intermediate variable for readability</a:t>
            </a:r>
            <a:endParaRPr lang="pt-BR" sz="2400" dirty="0">
              <a:solidFill>
                <a:srgbClr val="B5CEA8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</a:t>
            </a:r>
            <a:r>
              <a:rPr lang="pt-BR" sz="2400" dirty="0">
                <a:solidFill>
                  <a:srgbClr val="B5CEA8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, :]</a:t>
            </a:r>
          </a:p>
          <a:p>
            <a:endParaRPr lang="nl-B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27ACE5-7BC9-4A61-BE2F-C7698912B941}"/>
              </a:ext>
            </a:extLst>
          </p:cNvPr>
          <p:cNvGraphicFramePr>
            <a:graphicFrameLocks noGrp="1"/>
          </p:cNvGraphicFramePr>
          <p:nvPr/>
        </p:nvGraphicFramePr>
        <p:xfrm>
          <a:off x="2604361" y="3350491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1E8CD45-8134-4F1F-AD56-B1A73C0B458D}"/>
              </a:ext>
            </a:extLst>
          </p:cNvPr>
          <p:cNvSpPr/>
          <p:nvPr/>
        </p:nvSpPr>
        <p:spPr>
          <a:xfrm>
            <a:off x="3301401" y="2696830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515FF-692B-4E83-BEDC-63255F0449A9}"/>
              </a:ext>
            </a:extLst>
          </p:cNvPr>
          <p:cNvSpPr/>
          <p:nvPr/>
        </p:nvSpPr>
        <p:spPr>
          <a:xfrm>
            <a:off x="5979617" y="2819050"/>
            <a:ext cx="27334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A[:,0] % 2 == 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5BC283-A201-42F6-8768-13CDE583FCE4}"/>
              </a:ext>
            </a:extLst>
          </p:cNvPr>
          <p:cNvSpPr/>
          <p:nvPr/>
        </p:nvSpPr>
        <p:spPr>
          <a:xfrm>
            <a:off x="10685723" y="2819049"/>
            <a:ext cx="4667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nl-BE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A[:,0] % 2 == 1</a:t>
            </a:r>
            <a:r>
              <a:rPr lang="nl-BE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,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:</a:t>
            </a:r>
            <a:r>
              <a:rPr lang="nl-BE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]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6A7E0-8495-4BC6-86F5-D91741D31803}"/>
              </a:ext>
            </a:extLst>
          </p:cNvPr>
          <p:cNvSpPr/>
          <p:nvPr/>
        </p:nvSpPr>
        <p:spPr>
          <a:xfrm>
            <a:off x="2693752" y="3435676"/>
            <a:ext cx="1592006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290F2-3895-4110-8633-B987A2C44B15}"/>
              </a:ext>
            </a:extLst>
          </p:cNvPr>
          <p:cNvSpPr/>
          <p:nvPr/>
        </p:nvSpPr>
        <p:spPr>
          <a:xfrm>
            <a:off x="2693752" y="4644044"/>
            <a:ext cx="1592006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366638-6A2D-4060-9C33-E9D3E3736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69725"/>
              </p:ext>
            </p:extLst>
          </p:nvPr>
        </p:nvGraphicFramePr>
        <p:xfrm>
          <a:off x="6957706" y="3381964"/>
          <a:ext cx="598918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427638744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4845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 err="1">
                          <a:solidFill>
                            <a:srgbClr val="FFC000"/>
                          </a:solidFill>
                        </a:rPr>
                        <a:t>False</a:t>
                      </a:r>
                      <a:endParaRPr lang="en-US" sz="1200" b="1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509376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sz="1200" b="1" dirty="0">
                          <a:solidFill>
                            <a:schemeClr val="bg1"/>
                          </a:solidFill>
                        </a:rPr>
                        <a:t>True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01511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7C51F27-D6F7-4D06-93AC-1B621CEF4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18726"/>
              </p:ext>
            </p:extLst>
          </p:nvPr>
        </p:nvGraphicFramePr>
        <p:xfrm>
          <a:off x="11746688" y="3678905"/>
          <a:ext cx="1796754" cy="1230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DD59A82-0E0D-481A-A6AC-AFEC97ECBCB3}"/>
              </a:ext>
            </a:extLst>
          </p:cNvPr>
          <p:cNvSpPr txBox="1"/>
          <p:nvPr/>
        </p:nvSpPr>
        <p:spPr>
          <a:xfrm>
            <a:off x="4761828" y="2350903"/>
            <a:ext cx="5004262" cy="433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2000" i="1" dirty="0">
                <a:latin typeface="Consolas" panose="020B0609020204030204" pitchFamily="49" charset="0"/>
              </a:rPr>
              <a:t>First column </a:t>
            </a:r>
            <a:r>
              <a:rPr lang="nl-BE" sz="2000" i="1" dirty="0" err="1">
                <a:latin typeface="Consolas" panose="020B0609020204030204" pitchFamily="49" charset="0"/>
              </a:rPr>
              <a:t>should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be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odd</a:t>
            </a:r>
            <a:endParaRPr lang="en-US" sz="20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C36EFE-5A63-45DB-949D-134BC661F3EF}"/>
              </a:ext>
            </a:extLst>
          </p:cNvPr>
          <p:cNvSpPr txBox="1"/>
          <p:nvPr/>
        </p:nvSpPr>
        <p:spPr>
          <a:xfrm>
            <a:off x="10142934" y="2339083"/>
            <a:ext cx="5004262" cy="433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2000" i="1" dirty="0">
                <a:latin typeface="Consolas" panose="020B0609020204030204" pitchFamily="49" charset="0"/>
              </a:rPr>
              <a:t>Select </a:t>
            </a:r>
            <a:r>
              <a:rPr lang="nl-BE" sz="2000" i="1" dirty="0" err="1">
                <a:latin typeface="Consolas" panose="020B0609020204030204" pitchFamily="49" charset="0"/>
              </a:rPr>
              <a:t>rows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for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which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this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holds</a:t>
            </a:r>
            <a:endParaRPr lang="en-US" sz="2000" i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C94D02-A297-4302-99BC-B9CD538E8B53}"/>
              </a:ext>
            </a:extLst>
          </p:cNvPr>
          <p:cNvCxnSpPr>
            <a:cxnSpLocks/>
          </p:cNvCxnSpPr>
          <p:nvPr/>
        </p:nvCxnSpPr>
        <p:spPr>
          <a:xfrm>
            <a:off x="8084255" y="3710826"/>
            <a:ext cx="2340784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8DC937F-30D9-4736-800D-3A39737330F9}"/>
              </a:ext>
            </a:extLst>
          </p:cNvPr>
          <p:cNvCxnSpPr>
            <a:cxnSpLocks/>
          </p:cNvCxnSpPr>
          <p:nvPr/>
        </p:nvCxnSpPr>
        <p:spPr>
          <a:xfrm>
            <a:off x="8084255" y="5007611"/>
            <a:ext cx="2340784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32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9" grpId="0" animBg="1"/>
      <p:bldP spid="12" grpId="0"/>
      <p:bldP spid="14" grpId="0"/>
      <p:bldP spid="15" grpId="0" animBg="1"/>
      <p:bldP spid="18" grpId="0" animBg="1"/>
      <p:bldP spid="28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Comparisons</a:t>
            </a:r>
            <a:r>
              <a:rPr lang="nl-NL" dirty="0"/>
              <a:t>,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boolean</a:t>
            </a:r>
            <a:r>
              <a:rPr lang="nl-NL" dirty="0"/>
              <a:t>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6309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Computing summary statistics on subset of data</a:t>
            </a: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941B3DA-FEB1-4262-8B38-D6213334A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096925"/>
              </p:ext>
            </p:extLst>
          </p:nvPr>
        </p:nvGraphicFramePr>
        <p:xfrm>
          <a:off x="1050290" y="2933552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FACAED2F-66A1-4E0E-B02D-5F1422E6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34" y="2863204"/>
            <a:ext cx="1050875" cy="165137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8B1DCFB-4C15-4FE6-AB32-32460F12FD8F}"/>
              </a:ext>
            </a:extLst>
          </p:cNvPr>
          <p:cNvSpPr/>
          <p:nvPr/>
        </p:nvSpPr>
        <p:spPr>
          <a:xfrm>
            <a:off x="5548164" y="1902098"/>
            <a:ext cx="9151480" cy="67403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Some examples 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sepal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‘short’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sepals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( &lt; 5 )</a:t>
            </a: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sepal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setosa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flowers</a:t>
            </a: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standard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deviation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variables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 ‘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setosa</a:t>
            </a:r>
            <a:r>
              <a:rPr lang="nl-BE" sz="2400" dirty="0"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nl-B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flowers</a:t>
            </a: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07384" lvl="1" indent="-457200">
              <a:buFont typeface="Arial" panose="020B0604020202020204" pitchFamily="34" charset="0"/>
              <a:buChar char="•"/>
            </a:pPr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nl-BE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2F1DA8-9144-41BE-B1F0-22C0CEADBB3C}"/>
              </a:ext>
            </a:extLst>
          </p:cNvPr>
          <p:cNvSpPr/>
          <p:nvPr/>
        </p:nvSpPr>
        <p:spPr>
          <a:xfrm>
            <a:off x="6939037" y="2831213"/>
            <a:ext cx="8688891" cy="14773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 &lt;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endParaRPr lang="en-US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200" dirty="0" err="1">
                <a:solidFill>
                  <a:srgbClr val="D4D4D4"/>
                </a:solidFill>
                <a:latin typeface="Consolas" panose="020B0609020204030204" pitchFamily="49" charset="0"/>
              </a:rPr>
              <a:t>.mean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4.690909090909091</a:t>
            </a:r>
            <a:endParaRPr lang="en-US" sz="2200" dirty="0"/>
          </a:p>
          <a:p>
            <a:endParaRPr lang="nl-BE" sz="22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AF06E-B553-4FC4-AAA9-072EF9D5F8CB}"/>
              </a:ext>
            </a:extLst>
          </p:cNvPr>
          <p:cNvSpPr/>
          <p:nvPr/>
        </p:nvSpPr>
        <p:spPr>
          <a:xfrm>
            <a:off x="6939037" y="5094946"/>
            <a:ext cx="8688891" cy="15019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en-US" sz="2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2200" dirty="0" err="1">
                <a:solidFill>
                  <a:srgbClr val="CE9178"/>
                </a:solidFill>
                <a:latin typeface="Consolas" panose="020B0609020204030204" pitchFamily="49" charset="0"/>
              </a:rPr>
              <a:t>setosa</a:t>
            </a:r>
            <a:r>
              <a:rPr lang="en-US" sz="2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en-US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200" dirty="0" err="1">
                <a:solidFill>
                  <a:srgbClr val="D4D4D4"/>
                </a:solidFill>
                <a:latin typeface="Consolas" panose="020B0609020204030204" pitchFamily="49" charset="0"/>
              </a:rPr>
              <a:t>.mean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5.006</a:t>
            </a:r>
            <a:endParaRPr lang="en-US" sz="2200" dirty="0"/>
          </a:p>
          <a:p>
            <a:endParaRPr lang="nl-BE" sz="22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707798-BC9A-41AE-B8D6-8197AB6A3B9B}"/>
              </a:ext>
            </a:extLst>
          </p:cNvPr>
          <p:cNvSpPr/>
          <p:nvPr/>
        </p:nvSpPr>
        <p:spPr>
          <a:xfrm>
            <a:off x="6939036" y="7302825"/>
            <a:ext cx="8688891" cy="1446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en-US" sz="2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2200" dirty="0" err="1">
                <a:solidFill>
                  <a:srgbClr val="CE9178"/>
                </a:solidFill>
                <a:latin typeface="Consolas" panose="020B0609020204030204" pitchFamily="49" charset="0"/>
              </a:rPr>
              <a:t>setosa</a:t>
            </a:r>
            <a:r>
              <a:rPr lang="en-US" sz="2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en-US" sz="2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200" dirty="0" err="1">
                <a:solidFill>
                  <a:srgbClr val="D4D4D4"/>
                </a:solidFill>
                <a:latin typeface="Consolas" panose="020B0609020204030204" pitchFamily="49" charset="0"/>
              </a:rPr>
              <a:t>.std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mask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], axis = 0)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array([0.34894699, 0.37525458, 0.17191859, 0.10432641])</a:t>
            </a:r>
            <a:endParaRPr lang="en-US" sz="2200" dirty="0"/>
          </a:p>
          <a:p>
            <a:endParaRPr lang="nl-BE" sz="2200" dirty="0">
              <a:solidFill>
                <a:srgbClr val="6A9955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0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/>
              <a:t>Fancy </a:t>
            </a:r>
            <a:r>
              <a:rPr lang="nl-NL" sz="4000" dirty="0" err="1"/>
              <a:t>indexing</a:t>
            </a:r>
            <a:r>
              <a:rPr lang="nl-NL" sz="4000" dirty="0"/>
              <a:t> </a:t>
            </a:r>
            <a:r>
              <a:rPr lang="nl-NL" sz="4000" dirty="0" err="1"/>
              <a:t>and</a:t>
            </a:r>
            <a:r>
              <a:rPr lang="nl-NL" sz="4000" dirty="0"/>
              <a:t> </a:t>
            </a:r>
            <a:r>
              <a:rPr lang="nl-NL" sz="4000" dirty="0" err="1"/>
              <a:t>sorting</a:t>
            </a:r>
            <a:endParaRPr lang="nl-NL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55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55501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/>
              <a:t>Fancy </a:t>
            </a:r>
            <a:r>
              <a:rPr lang="nl-NL" dirty="0" err="1"/>
              <a:t>indexing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sorting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5850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Fancy indexing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== passing an array of indices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7F5262-B62E-4322-8319-E5468D401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517083"/>
              </p:ext>
            </p:extLst>
          </p:nvPr>
        </p:nvGraphicFramePr>
        <p:xfrm>
          <a:off x="3796979" y="4313676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05E0C1-DB92-4D92-A6F5-80303A4FD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38311"/>
              </p:ext>
            </p:extLst>
          </p:nvPr>
        </p:nvGraphicFramePr>
        <p:xfrm>
          <a:off x="3027983" y="2579966"/>
          <a:ext cx="3386256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76">
                  <a:extLst>
                    <a:ext uri="{9D8B030D-6E8A-4147-A177-3AD203B41FA5}">
                      <a16:colId xmlns:a16="http://schemas.microsoft.com/office/drawing/2014/main" val="102498941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423662862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031809245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3519679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40299367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543907546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70415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26987D7-9FB6-48DB-8D30-11CFD83BBE85}"/>
              </a:ext>
            </a:extLst>
          </p:cNvPr>
          <p:cNvSpPr/>
          <p:nvPr/>
        </p:nvSpPr>
        <p:spPr>
          <a:xfrm>
            <a:off x="4475932" y="3790456"/>
            <a:ext cx="402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6ABD7-1B3E-45CE-8BBE-FCDFDA080BC0}"/>
              </a:ext>
            </a:extLst>
          </p:cNvPr>
          <p:cNvSpPr/>
          <p:nvPr/>
        </p:nvSpPr>
        <p:spPr>
          <a:xfrm>
            <a:off x="4527789" y="1925122"/>
            <a:ext cx="386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058351-D411-4F8E-8488-11A3598E2321}"/>
              </a:ext>
            </a:extLst>
          </p:cNvPr>
          <p:cNvSpPr/>
          <p:nvPr/>
        </p:nvSpPr>
        <p:spPr>
          <a:xfrm>
            <a:off x="8930117" y="4511609"/>
            <a:ext cx="5850127" cy="1446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array([4, 7, 8])</a:t>
            </a:r>
            <a:endParaRPr lang="en-US" sz="2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31444A-148D-4541-85DB-92178A0B38F7}"/>
              </a:ext>
            </a:extLst>
          </p:cNvPr>
          <p:cNvSpPr/>
          <p:nvPr/>
        </p:nvSpPr>
        <p:spPr>
          <a:xfrm>
            <a:off x="8930118" y="2264005"/>
            <a:ext cx="5850127" cy="1446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array([8, 7, 1])</a:t>
            </a:r>
          </a:p>
          <a:p>
            <a:endParaRPr 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2119E1-E351-468B-AF3A-4730E7257A79}"/>
              </a:ext>
            </a:extLst>
          </p:cNvPr>
          <p:cNvSpPr/>
          <p:nvPr/>
        </p:nvSpPr>
        <p:spPr>
          <a:xfrm>
            <a:off x="3628472" y="2662688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CAD316-956A-4961-A388-D6325381E80F}"/>
              </a:ext>
            </a:extLst>
          </p:cNvPr>
          <p:cNvSpPr/>
          <p:nvPr/>
        </p:nvSpPr>
        <p:spPr>
          <a:xfrm>
            <a:off x="4195509" y="2662688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A2975B-DC9C-4F69-888C-A20D96641495}"/>
              </a:ext>
            </a:extLst>
          </p:cNvPr>
          <p:cNvSpPr/>
          <p:nvPr/>
        </p:nvSpPr>
        <p:spPr>
          <a:xfrm>
            <a:off x="5304874" y="2662687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D99426-8BF0-4949-A344-5B8567E9C7E2}"/>
              </a:ext>
            </a:extLst>
          </p:cNvPr>
          <p:cNvSpPr/>
          <p:nvPr/>
        </p:nvSpPr>
        <p:spPr>
          <a:xfrm>
            <a:off x="3870378" y="5008248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4071B9-B98C-4DD6-9CFE-801439AA3234}"/>
              </a:ext>
            </a:extLst>
          </p:cNvPr>
          <p:cNvSpPr/>
          <p:nvPr/>
        </p:nvSpPr>
        <p:spPr>
          <a:xfrm>
            <a:off x="3870377" y="5625873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39EE67-8B95-407A-AD96-5C1FC9342113}"/>
              </a:ext>
            </a:extLst>
          </p:cNvPr>
          <p:cNvSpPr/>
          <p:nvPr/>
        </p:nvSpPr>
        <p:spPr>
          <a:xfrm>
            <a:off x="4443622" y="5625872"/>
            <a:ext cx="499847" cy="4532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13CBF9-33E9-4EA5-B75F-87BA07891491}"/>
              </a:ext>
            </a:extLst>
          </p:cNvPr>
          <p:cNvCxnSpPr>
            <a:cxnSpLocks/>
          </p:cNvCxnSpPr>
          <p:nvPr/>
        </p:nvCxnSpPr>
        <p:spPr>
          <a:xfrm>
            <a:off x="6526818" y="2896696"/>
            <a:ext cx="2142519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BD19FB-FDCC-4D52-99A9-EC32C995913F}"/>
              </a:ext>
            </a:extLst>
          </p:cNvPr>
          <p:cNvCxnSpPr>
            <a:cxnSpLocks/>
          </p:cNvCxnSpPr>
          <p:nvPr/>
        </p:nvCxnSpPr>
        <p:spPr>
          <a:xfrm>
            <a:off x="6414239" y="5276906"/>
            <a:ext cx="2142519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BF423C-2398-4C09-A560-AA9A58D4FE8E}"/>
              </a:ext>
            </a:extLst>
          </p:cNvPr>
          <p:cNvSpPr txBox="1"/>
          <p:nvPr/>
        </p:nvSpPr>
        <p:spPr>
          <a:xfrm>
            <a:off x="379278" y="6554917"/>
            <a:ext cx="5730575" cy="433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BE" sz="2000" i="1" dirty="0" err="1">
                <a:latin typeface="Consolas" panose="020B0609020204030204" pitchFamily="49" charset="0"/>
              </a:rPr>
              <a:t>Can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be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combined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with</a:t>
            </a:r>
            <a:r>
              <a:rPr lang="nl-BE" sz="2000" i="1" dirty="0">
                <a:latin typeface="Consolas" panose="020B0609020204030204" pitchFamily="49" charset="0"/>
              </a:rPr>
              <a:t> </a:t>
            </a:r>
            <a:r>
              <a:rPr lang="nl-BE" sz="2000" i="1" dirty="0" err="1">
                <a:latin typeface="Consolas" panose="020B0609020204030204" pitchFamily="49" charset="0"/>
              </a:rPr>
              <a:t>slicing</a:t>
            </a:r>
            <a:r>
              <a:rPr lang="nl-BE" sz="2000" i="1" dirty="0">
                <a:latin typeface="Consolas" panose="020B0609020204030204" pitchFamily="49" charset="0"/>
              </a:rPr>
              <a:t>:</a:t>
            </a:r>
            <a:endParaRPr lang="en-US" sz="2000" i="1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CEA68AB-7A7E-4B9E-8612-8D1948E6D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564931"/>
              </p:ext>
            </p:extLst>
          </p:nvPr>
        </p:nvGraphicFramePr>
        <p:xfrm>
          <a:off x="3755182" y="7263531"/>
          <a:ext cx="1796754" cy="1842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598918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611850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A15C5517-40D3-4632-AB83-41BCE70503A4}"/>
              </a:ext>
            </a:extLst>
          </p:cNvPr>
          <p:cNvSpPr/>
          <p:nvPr/>
        </p:nvSpPr>
        <p:spPr>
          <a:xfrm>
            <a:off x="3805292" y="7308952"/>
            <a:ext cx="1672796" cy="527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3B03A-0904-469C-950D-E1FDE1AA015B}"/>
              </a:ext>
            </a:extLst>
          </p:cNvPr>
          <p:cNvSpPr/>
          <p:nvPr/>
        </p:nvSpPr>
        <p:spPr>
          <a:xfrm>
            <a:off x="3821918" y="8528895"/>
            <a:ext cx="1672796" cy="527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375CD4-1AB7-4155-BA14-04472790938E}"/>
              </a:ext>
            </a:extLst>
          </p:cNvPr>
          <p:cNvSpPr/>
          <p:nvPr/>
        </p:nvSpPr>
        <p:spPr>
          <a:xfrm>
            <a:off x="8930117" y="7489595"/>
            <a:ext cx="5850127" cy="13849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 = [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200" dirty="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array([[1, 2, 3],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      [7, 8, 9]])</a:t>
            </a:r>
            <a:endParaRPr lang="en-US" sz="2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B86C3A-6BFA-471D-A553-22CBA707796B}"/>
              </a:ext>
            </a:extLst>
          </p:cNvPr>
          <p:cNvCxnSpPr>
            <a:cxnSpLocks/>
          </p:cNvCxnSpPr>
          <p:nvPr/>
        </p:nvCxnSpPr>
        <p:spPr>
          <a:xfrm>
            <a:off x="6345798" y="8224182"/>
            <a:ext cx="2142519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8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25" grpId="0" animBg="1"/>
      <p:bldP spid="26" grpId="0" animBg="1"/>
      <p:bldP spid="27" grpId="0" animBg="1"/>
      <p:bldP spid="31" grpId="0"/>
      <p:bldP spid="33" grpId="0" animBg="1"/>
      <p:bldP spid="34" grpId="0" animBg="1"/>
      <p:bldP spid="3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/>
              <a:t>Fancy </a:t>
            </a:r>
            <a:r>
              <a:rPr lang="nl-NL" dirty="0" err="1"/>
              <a:t>indexing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sorting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830118" y="1278063"/>
            <a:ext cx="5724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in DS: select 60 random flowers</a:t>
            </a: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8343AA-A422-4123-A866-3F5C6F27013B}"/>
              </a:ext>
            </a:extLst>
          </p:cNvPr>
          <p:cNvSpPr/>
          <p:nvPr/>
        </p:nvSpPr>
        <p:spPr>
          <a:xfrm>
            <a:off x="1880926" y="4777047"/>
            <a:ext cx="14170950" cy="37856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rand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.random.RandomState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rand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.choice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150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60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replace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rowidx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:]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array([[5.8, 4. , 1.2, 0.2],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[5.1, 2.5, 3. , 1.1],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[6.6, 3. , 4.4, 1.4],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[5.4, 3.9, 1.3, 0.4],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…</a:t>
            </a:r>
            <a:endParaRPr lang="en-US" sz="2400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88D7E8A-1670-4F4F-80F2-FFC0FE53C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954378"/>
              </p:ext>
            </p:extLst>
          </p:nvPr>
        </p:nvGraphicFramePr>
        <p:xfrm>
          <a:off x="6137679" y="1972446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43" name="Picture 42">
            <a:extLst>
              <a:ext uri="{FF2B5EF4-FFF2-40B4-BE49-F238E27FC236}">
                <a16:creationId xmlns:a16="http://schemas.microsoft.com/office/drawing/2014/main" id="{A8F970E6-381D-4BF8-9CF6-7065FAE6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823" y="1902098"/>
            <a:ext cx="1050875" cy="16513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54F722-E434-479F-9B93-579E03135DFB}"/>
              </a:ext>
            </a:extLst>
          </p:cNvPr>
          <p:cNvCxnSpPr>
            <a:cxnSpLocks/>
          </p:cNvCxnSpPr>
          <p:nvPr/>
        </p:nvCxnSpPr>
        <p:spPr>
          <a:xfrm>
            <a:off x="8129847" y="5029200"/>
            <a:ext cx="836554" cy="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653BEC-6CF2-449A-8859-638FF358F5C0}"/>
              </a:ext>
            </a:extLst>
          </p:cNvPr>
          <p:cNvSpPr txBox="1"/>
          <p:nvPr/>
        </p:nvSpPr>
        <p:spPr>
          <a:xfrm>
            <a:off x="9027622" y="4777047"/>
            <a:ext cx="4427815" cy="427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nl-BE" sz="2000" i="1" dirty="0" err="1">
                <a:solidFill>
                  <a:srgbClr val="FF0000"/>
                </a:solidFill>
              </a:rPr>
              <a:t>Create</a:t>
            </a:r>
            <a:r>
              <a:rPr lang="nl-BE" sz="2000" i="1" dirty="0">
                <a:solidFill>
                  <a:srgbClr val="FF0000"/>
                </a:solidFill>
              </a:rPr>
              <a:t> random generator </a:t>
            </a:r>
            <a:r>
              <a:rPr lang="nl-BE" sz="2000" i="1" dirty="0" err="1">
                <a:solidFill>
                  <a:srgbClr val="FF0000"/>
                </a:solidFill>
              </a:rPr>
              <a:t>with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dirty="0" err="1">
                <a:solidFill>
                  <a:srgbClr val="FF0000"/>
                </a:solidFill>
              </a:rPr>
              <a:t>seed</a:t>
            </a:r>
            <a:r>
              <a:rPr lang="nl-BE" sz="2000" i="1" dirty="0">
                <a:solidFill>
                  <a:srgbClr val="FF0000"/>
                </a:solidFill>
              </a:rPr>
              <a:t> 1</a:t>
            </a:r>
            <a:endParaRPr lang="en-US" sz="2000" i="1" dirty="0">
              <a:solidFill>
                <a:srgbClr val="FF000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C41482-44B3-4129-8EC3-EBC8F6062484}"/>
              </a:ext>
            </a:extLst>
          </p:cNvPr>
          <p:cNvCxnSpPr>
            <a:cxnSpLocks/>
          </p:cNvCxnSpPr>
          <p:nvPr/>
        </p:nvCxnSpPr>
        <p:spPr>
          <a:xfrm>
            <a:off x="5555674" y="5954685"/>
            <a:ext cx="0" cy="27154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8771238-6C0F-4756-9F6A-5E988371010B}"/>
              </a:ext>
            </a:extLst>
          </p:cNvPr>
          <p:cNvSpPr/>
          <p:nvPr/>
        </p:nvSpPr>
        <p:spPr>
          <a:xfrm>
            <a:off x="5124234" y="6195785"/>
            <a:ext cx="80345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000" i="1" u="sng" dirty="0" err="1">
                <a:solidFill>
                  <a:srgbClr val="FF0000"/>
                </a:solidFill>
                <a:highlight>
                  <a:srgbClr val="C0C0C0"/>
                </a:highlight>
              </a:rPr>
              <a:t>Randomly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dirty="0" err="1">
                <a:solidFill>
                  <a:srgbClr val="FF0000"/>
                </a:solidFill>
              </a:rPr>
              <a:t>choose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u="sng" dirty="0">
                <a:solidFill>
                  <a:srgbClr val="FF0000"/>
                </a:solidFill>
                <a:highlight>
                  <a:srgbClr val="C0C0C0"/>
                </a:highlight>
              </a:rPr>
              <a:t>60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dirty="0" err="1">
                <a:solidFill>
                  <a:srgbClr val="FF0000"/>
                </a:solidFill>
              </a:rPr>
              <a:t>values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dirty="0" err="1">
                <a:solidFill>
                  <a:srgbClr val="FF0000"/>
                </a:solidFill>
              </a:rPr>
              <a:t>between</a:t>
            </a:r>
            <a:r>
              <a:rPr lang="nl-BE" sz="2000" i="1" dirty="0">
                <a:solidFill>
                  <a:srgbClr val="FF0000"/>
                </a:solidFill>
              </a:rPr>
              <a:t> 0 </a:t>
            </a:r>
            <a:r>
              <a:rPr lang="nl-BE" sz="2000" i="1" dirty="0" err="1">
                <a:solidFill>
                  <a:srgbClr val="FF0000"/>
                </a:solidFill>
              </a:rPr>
              <a:t>and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u="sng" dirty="0">
                <a:solidFill>
                  <a:srgbClr val="FF0000"/>
                </a:solidFill>
                <a:highlight>
                  <a:srgbClr val="C0C0C0"/>
                </a:highlight>
              </a:rPr>
              <a:t>150 </a:t>
            </a:r>
            <a:r>
              <a:rPr lang="nl-BE" sz="2000" i="1" dirty="0">
                <a:solidFill>
                  <a:srgbClr val="FF0000"/>
                </a:solidFill>
              </a:rPr>
              <a:t> </a:t>
            </a:r>
            <a:r>
              <a:rPr lang="nl-BE" sz="2000" i="1" u="sng" dirty="0">
                <a:solidFill>
                  <a:srgbClr val="FF0000"/>
                </a:solidFill>
                <a:highlight>
                  <a:srgbClr val="C0C0C0"/>
                </a:highlight>
              </a:rPr>
              <a:t>without </a:t>
            </a:r>
            <a:r>
              <a:rPr lang="nl-BE" sz="2000" i="1" u="sng" dirty="0" err="1">
                <a:solidFill>
                  <a:srgbClr val="FF0000"/>
                </a:solidFill>
                <a:highlight>
                  <a:srgbClr val="C0C0C0"/>
                </a:highlight>
              </a:rPr>
              <a:t>repacement</a:t>
            </a:r>
            <a:endParaRPr lang="en-US" sz="2000" u="sng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833E93-A456-4FC1-86B7-2FC0EE27F7A9}"/>
              </a:ext>
            </a:extLst>
          </p:cNvPr>
          <p:cNvCxnSpPr>
            <a:cxnSpLocks/>
          </p:cNvCxnSpPr>
          <p:nvPr/>
        </p:nvCxnSpPr>
        <p:spPr>
          <a:xfrm>
            <a:off x="7229303" y="5921435"/>
            <a:ext cx="169024" cy="304799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438B38C-A650-4C7A-8837-91B644AC0183}"/>
              </a:ext>
            </a:extLst>
          </p:cNvPr>
          <p:cNvCxnSpPr>
            <a:cxnSpLocks/>
          </p:cNvCxnSpPr>
          <p:nvPr/>
        </p:nvCxnSpPr>
        <p:spPr>
          <a:xfrm>
            <a:off x="6469673" y="5938059"/>
            <a:ext cx="3852587" cy="354676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13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/>
              <a:t>Fancy </a:t>
            </a:r>
            <a:r>
              <a:rPr lang="nl-NL" dirty="0" err="1"/>
              <a:t>indexing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sorting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996372" y="1452631"/>
            <a:ext cx="10983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C6B49AC-D699-448B-AC5D-E78F053EF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76932"/>
              </p:ext>
            </p:extLst>
          </p:nvPr>
        </p:nvGraphicFramePr>
        <p:xfrm>
          <a:off x="6625186" y="2801107"/>
          <a:ext cx="3386256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76">
                  <a:extLst>
                    <a:ext uri="{9D8B030D-6E8A-4147-A177-3AD203B41FA5}">
                      <a16:colId xmlns:a16="http://schemas.microsoft.com/office/drawing/2014/main" val="102498941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423662862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031809245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3519679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40299367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543907546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7041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4980465B-4EA5-47D9-B0EF-1612C1312BE0}"/>
              </a:ext>
            </a:extLst>
          </p:cNvPr>
          <p:cNvSpPr/>
          <p:nvPr/>
        </p:nvSpPr>
        <p:spPr>
          <a:xfrm>
            <a:off x="8124992" y="2145847"/>
            <a:ext cx="386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4B67C5-2F08-4230-B3B5-8635DFE6F8F7}"/>
              </a:ext>
            </a:extLst>
          </p:cNvPr>
          <p:cNvSpPr/>
          <p:nvPr/>
        </p:nvSpPr>
        <p:spPr>
          <a:xfrm>
            <a:off x="5632190" y="3911855"/>
            <a:ext cx="49423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np.sort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(B) -&gt;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sort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ascending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802A0-F21A-4000-9A3A-3419733AD696}"/>
              </a:ext>
            </a:extLst>
          </p:cNvPr>
          <p:cNvSpPr/>
          <p:nvPr/>
        </p:nvSpPr>
        <p:spPr>
          <a:xfrm>
            <a:off x="5526808" y="5665284"/>
            <a:ext cx="6981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np.argsort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(B) -&gt; indices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sorted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elements</a:t>
            </a:r>
            <a:endParaRPr lang="en-US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D8CFF7A-E7FA-4890-8D3F-E9C1F040E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48835"/>
              </p:ext>
            </p:extLst>
          </p:nvPr>
        </p:nvGraphicFramePr>
        <p:xfrm>
          <a:off x="6625186" y="4694861"/>
          <a:ext cx="3386256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76">
                  <a:extLst>
                    <a:ext uri="{9D8B030D-6E8A-4147-A177-3AD203B41FA5}">
                      <a16:colId xmlns:a16="http://schemas.microsoft.com/office/drawing/2014/main" val="102498941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423662862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031809245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3519679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40299367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543907546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70415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B2C9A80-F28C-4D34-8459-5879C86D2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575842"/>
              </p:ext>
            </p:extLst>
          </p:nvPr>
        </p:nvGraphicFramePr>
        <p:xfrm>
          <a:off x="6625186" y="6478654"/>
          <a:ext cx="3386256" cy="61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76">
                  <a:extLst>
                    <a:ext uri="{9D8B030D-6E8A-4147-A177-3AD203B41FA5}">
                      <a16:colId xmlns:a16="http://schemas.microsoft.com/office/drawing/2014/main" val="102498941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423662862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031809245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35196793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1402993670"/>
                    </a:ext>
                  </a:extLst>
                </a:gridCol>
                <a:gridCol w="564376">
                  <a:extLst>
                    <a:ext uri="{9D8B030D-6E8A-4147-A177-3AD203B41FA5}">
                      <a16:colId xmlns:a16="http://schemas.microsoft.com/office/drawing/2014/main" val="2543907546"/>
                    </a:ext>
                  </a:extLst>
                </a:gridCol>
              </a:tblGrid>
              <a:tr h="618718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70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2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/>
              <a:t>Fancy </a:t>
            </a:r>
            <a:r>
              <a:rPr lang="nl-NL" dirty="0" err="1"/>
              <a:t>indexing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sorting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DA3C2-72C8-444B-8595-2153587B567C}"/>
              </a:ext>
            </a:extLst>
          </p:cNvPr>
          <p:cNvSpPr/>
          <p:nvPr/>
        </p:nvSpPr>
        <p:spPr>
          <a:xfrm>
            <a:off x="996372" y="1452631"/>
            <a:ext cx="6765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Application: 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Sorting rows of a 2D array on a column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797F9F5-E5D3-4BFF-8156-77413E59F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047018"/>
              </p:ext>
            </p:extLst>
          </p:nvPr>
        </p:nvGraphicFramePr>
        <p:xfrm>
          <a:off x="6403687" y="2532535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C9F05E27-7FBB-4E93-809D-BE2814F7A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831" y="2462187"/>
            <a:ext cx="1050875" cy="165137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4D5D749-9EB0-4258-B2A1-79F383AA52B6}"/>
              </a:ext>
            </a:extLst>
          </p:cNvPr>
          <p:cNvSpPr/>
          <p:nvPr/>
        </p:nvSpPr>
        <p:spPr>
          <a:xfrm>
            <a:off x="5505273" y="5829546"/>
            <a:ext cx="5850127" cy="3046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.argsort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[:,</a:t>
            </a:r>
            <a:r>
              <a:rPr lang="en-US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&gt;&gt;&gt; </a:t>
            </a:r>
            <a:r>
              <a:rPr lang="en-US" sz="2400" dirty="0">
                <a:solidFill>
                  <a:srgbClr val="4FC1FF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idx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, :]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array([[5. , 2. , 3.5, 1. 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[6. , 2.2, 4. , 1. 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[6. , 2.2, 5. , 1.5],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[6.2, 2.2, 4.5, 1.5],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[4.5, 2.3, 1.3, 0.3],</a:t>
            </a:r>
          </a:p>
          <a:p>
            <a:r>
              <a:rPr lang="nl-B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…</a:t>
            </a:r>
            <a:endParaRPr lang="en-US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C069A3-01C7-4868-9ECF-956677B3B8DB}"/>
              </a:ext>
            </a:extLst>
          </p:cNvPr>
          <p:cNvSpPr/>
          <p:nvPr/>
        </p:nvSpPr>
        <p:spPr>
          <a:xfrm>
            <a:off x="7365505" y="2554376"/>
            <a:ext cx="814219" cy="2459224"/>
          </a:xfrm>
          <a:prstGeom prst="rect">
            <a:avLst/>
          </a:prstGeom>
          <a:solidFill>
            <a:srgbClr val="FF3300">
              <a:alpha val="27059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83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160445" y="4889240"/>
            <a:ext cx="15183366" cy="1244314"/>
          </a:xfrm>
        </p:spPr>
        <p:txBody>
          <a:bodyPr/>
          <a:lstStyle/>
          <a:p>
            <a:r>
              <a:rPr lang="nl-NL" sz="4000" dirty="0"/>
              <a:t>PART II:</a:t>
            </a:r>
            <a:br>
              <a:rPr lang="nl-NL" sz="4000" dirty="0"/>
            </a:br>
            <a:r>
              <a:rPr lang="nl-NL" sz="4000" dirty="0"/>
              <a:t>DS </a:t>
            </a:r>
            <a:r>
              <a:rPr lang="nl-NL" sz="4000" dirty="0" err="1"/>
              <a:t>applications</a:t>
            </a:r>
            <a:r>
              <a:rPr lang="nl-NL" sz="4000" dirty="0"/>
              <a:t> of </a:t>
            </a:r>
            <a:r>
              <a:rPr lang="nl-NL" sz="4000" dirty="0" err="1"/>
              <a:t>numpy</a:t>
            </a:r>
            <a:endParaRPr lang="nl-NL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nl-BE" smtClean="0"/>
              <a:pPr/>
              <a:t>60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46437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 err="1"/>
              <a:t>Examples</a:t>
            </a:r>
            <a:r>
              <a:rPr lang="nl-NL" dirty="0"/>
              <a:t> of data </a:t>
            </a:r>
            <a:r>
              <a:rPr lang="nl-NL" dirty="0" err="1"/>
              <a:t>preparation</a:t>
            </a:r>
            <a:endParaRPr lang="nl-NL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941B3DA-FEB1-4262-8B38-D6213334A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57208"/>
              </p:ext>
            </p:extLst>
          </p:nvPr>
        </p:nvGraphicFramePr>
        <p:xfrm>
          <a:off x="543214" y="2922133"/>
          <a:ext cx="3659144" cy="248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86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2714022711"/>
                    </a:ext>
                  </a:extLst>
                </a:gridCol>
                <a:gridCol w="914786">
                  <a:extLst>
                    <a:ext uri="{9D8B030D-6E8A-4147-A177-3AD203B41FA5}">
                      <a16:colId xmlns:a16="http://schemas.microsoft.com/office/drawing/2014/main" val="965838927"/>
                    </a:ext>
                  </a:extLst>
                </a:gridCol>
              </a:tblGrid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1,4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0,2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496213"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FACAED2F-66A1-4E0E-B02D-5F1422E6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358" y="2851785"/>
            <a:ext cx="1050875" cy="1651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8B1DCFB-4C15-4FE6-AB32-32460F12FD8F}"/>
                  </a:ext>
                </a:extLst>
              </p:cNvPr>
              <p:cNvSpPr/>
              <p:nvPr/>
            </p:nvSpPr>
            <p:spPr>
              <a:xfrm>
                <a:off x="5380384" y="1620054"/>
                <a:ext cx="11179484" cy="6860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Some examples </a:t>
                </a:r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07384" lvl="1" indent="-457200">
                  <a:buFont typeface="Arial" panose="020B0604020202020204" pitchFamily="34" charset="0"/>
                  <a:buChar char="•"/>
                </a:pPr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07384" lvl="1" indent="-457200">
                  <a:buFont typeface="+mj-lt"/>
                  <a:buAutoNum type="arabicPeriod"/>
                </a:pP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Heights are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usually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larger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widths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check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case here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all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flowers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counting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cases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does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not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hold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1107384" lvl="1" indent="-457200">
                  <a:buFont typeface="+mj-lt"/>
                  <a:buAutoNum type="arabicPeriod"/>
                </a:pPr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07384" lvl="1" indent="-457200">
                  <a:buFont typeface="+mj-lt"/>
                  <a:buAutoNum type="arabicPeriod"/>
                </a:pP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Assuming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5 is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upper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limit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measurement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remove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all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rows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contain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more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observations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violating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limit</a:t>
                </a:r>
              </a:p>
              <a:p>
                <a:pPr marL="1107384" lvl="1" indent="-457200">
                  <a:buFont typeface="+mj-lt"/>
                  <a:buAutoNum type="arabicPeriod"/>
                </a:pPr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07384" lvl="1" indent="-457200">
                  <a:buFont typeface="+mj-lt"/>
                  <a:buAutoNum type="arabicPeriod"/>
                </a:pP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Only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retain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rows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all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four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variables take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within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2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std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devs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their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column means</a:t>
                </a:r>
              </a:p>
              <a:p>
                <a:pPr marL="1107384" lvl="1" indent="-457200">
                  <a:buFont typeface="+mj-lt"/>
                  <a:buAutoNum type="arabicPeriod"/>
                </a:pPr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07384" lvl="1" indent="-457200">
                  <a:buFont typeface="+mj-lt"/>
                  <a:buAutoNum type="arabicPeriod"/>
                </a:pP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Select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rows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corresponding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three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flowers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having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largest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combined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surface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area of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sepals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petals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ellipsoidal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approximation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nl-BE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leaf</a:t>
                </a:r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nl-BE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num>
                      <m:den>
                        <m:r>
                          <a:rPr lang="nl-BE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nl-BE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nl-BE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𝐻</m:t>
                    </m:r>
                    <m:r>
                      <a:rPr lang="nl-BE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nl-BE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𝑊</m:t>
                    </m:r>
                  </m:oMath>
                </a14:m>
                <a:r>
                  <a:rPr lang="nl-BE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nl-BE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8B1DCFB-4C15-4FE6-AB32-32460F12F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384" y="1620054"/>
                <a:ext cx="11179484" cy="6860917"/>
              </a:xfrm>
              <a:prstGeom prst="rect">
                <a:avLst/>
              </a:prstGeom>
              <a:blipFill>
                <a:blip r:embed="rId3"/>
                <a:stretch>
                  <a:fillRect l="-872" t="-711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29AB68C-50A7-4499-9204-A289428B6EA6}"/>
              </a:ext>
            </a:extLst>
          </p:cNvPr>
          <p:cNvSpPr/>
          <p:nvPr/>
        </p:nvSpPr>
        <p:spPr>
          <a:xfrm>
            <a:off x="2815139" y="7671881"/>
            <a:ext cx="12928539" cy="8556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Note: for some of these examples, using 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np.all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or 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np.any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makes life easier.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    as an exercise, try with and without using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481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E59BCD-9A0C-49BD-A5E7-9EC04F68CB03}"/>
              </a:ext>
            </a:extLst>
          </p:cNvPr>
          <p:cNvSpPr/>
          <p:nvPr/>
        </p:nvSpPr>
        <p:spPr>
          <a:xfrm>
            <a:off x="406400" y="8075476"/>
            <a:ext cx="2525486" cy="1344295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6200000" cy="863693"/>
          </a:xfrm>
        </p:spPr>
        <p:txBody>
          <a:bodyPr/>
          <a:lstStyle/>
          <a:p>
            <a:r>
              <a:rPr lang="nl-NL" dirty="0"/>
              <a:t>1NN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3AE792-92BF-4367-830D-5B16CBFD04AB}"/>
              </a:ext>
            </a:extLst>
          </p:cNvPr>
          <p:cNvSpPr/>
          <p:nvPr/>
        </p:nvSpPr>
        <p:spPr>
          <a:xfrm>
            <a:off x="406401" y="6978317"/>
            <a:ext cx="11065164" cy="158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b="1" dirty="0">
                <a:solidFill>
                  <a:schemeClr val="tx2"/>
                </a:solidFill>
              </a:rPr>
              <a:t>1NN</a:t>
            </a:r>
            <a:r>
              <a:rPr lang="en-US" b="1" dirty="0">
                <a:solidFill>
                  <a:schemeClr val="tx2"/>
                </a:solidFill>
              </a:rPr>
              <a:t> classification algorithm (applied to iris dataset)</a:t>
            </a:r>
          </a:p>
          <a:p>
            <a:endParaRPr lang="en-US" sz="1000" dirty="0"/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tx2"/>
                </a:solidFill>
              </a:rPr>
              <a:t>I</a:t>
            </a:r>
            <a:r>
              <a:rPr lang="en-US" b="1" dirty="0" err="1">
                <a:solidFill>
                  <a:schemeClr val="tx2"/>
                </a:solidFill>
              </a:rPr>
              <a:t>nput</a:t>
            </a:r>
            <a:r>
              <a:rPr lang="en-US" dirty="0"/>
              <a:t>: (SL, SW) of a new iris flower with unknown species</a:t>
            </a:r>
          </a:p>
          <a:p>
            <a:pPr lvl="1"/>
            <a:endParaRPr lang="en-US" sz="1000" dirty="0"/>
          </a:p>
          <a:p>
            <a:pPr marL="1107384" lvl="1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tx2"/>
                </a:solidFill>
              </a:rPr>
              <a:t>O</a:t>
            </a:r>
            <a:r>
              <a:rPr lang="en-US" b="1" dirty="0" err="1">
                <a:solidFill>
                  <a:schemeClr val="tx2"/>
                </a:solidFill>
              </a:rPr>
              <a:t>uput</a:t>
            </a:r>
            <a:r>
              <a:rPr lang="en-US" dirty="0"/>
              <a:t>: species of most similar flower (~prediction)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AD188-27AF-4726-BD7D-7FE524FD7894}"/>
              </a:ext>
            </a:extLst>
          </p:cNvPr>
          <p:cNvSpPr/>
          <p:nvPr/>
        </p:nvSpPr>
        <p:spPr>
          <a:xfrm>
            <a:off x="406400" y="6807287"/>
            <a:ext cx="11170557" cy="1975926"/>
          </a:xfrm>
          <a:prstGeom prst="rect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339E-38B5-43C1-9252-E4A3AF5A7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84" y="1155128"/>
            <a:ext cx="8645364" cy="49978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86513B-1146-45E2-B951-69088C0F4D14}"/>
              </a:ext>
            </a:extLst>
          </p:cNvPr>
          <p:cNvSpPr/>
          <p:nvPr/>
        </p:nvSpPr>
        <p:spPr>
          <a:xfrm>
            <a:off x="7658100" y="5314951"/>
            <a:ext cx="2260600" cy="431800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nl-BE" sz="1500" dirty="0" err="1">
                <a:solidFill>
                  <a:schemeClr val="tx1"/>
                </a:solidFill>
              </a:rPr>
              <a:t>Nearest</a:t>
            </a:r>
            <a:r>
              <a:rPr lang="nl-BE" sz="1500" dirty="0">
                <a:solidFill>
                  <a:schemeClr val="tx1"/>
                </a:solidFill>
              </a:rPr>
              <a:t> </a:t>
            </a:r>
            <a:r>
              <a:rPr lang="nl-BE" sz="1500" dirty="0" err="1">
                <a:solidFill>
                  <a:schemeClr val="tx1"/>
                </a:solidFill>
              </a:rPr>
              <a:t>neighbor</a:t>
            </a:r>
            <a:endParaRPr lang="en-US" sz="15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0D9596-D38D-4E2E-9486-8A6330EEB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106603"/>
              </p:ext>
            </p:extLst>
          </p:nvPr>
        </p:nvGraphicFramePr>
        <p:xfrm>
          <a:off x="11180397" y="599306"/>
          <a:ext cx="9309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480">
                  <a:extLst>
                    <a:ext uri="{9D8B030D-6E8A-4147-A177-3AD203B41FA5}">
                      <a16:colId xmlns:a16="http://schemas.microsoft.com/office/drawing/2014/main" val="3766023586"/>
                    </a:ext>
                  </a:extLst>
                </a:gridCol>
                <a:gridCol w="465480">
                  <a:extLst>
                    <a:ext uri="{9D8B030D-6E8A-4147-A177-3AD203B41FA5}">
                      <a16:colId xmlns:a16="http://schemas.microsoft.com/office/drawing/2014/main" val="2120366499"/>
                    </a:ext>
                  </a:extLst>
                </a:gridCol>
              </a:tblGrid>
              <a:tr h="260161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5,1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3,5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2564"/>
                  </a:ext>
                </a:extLst>
              </a:tr>
              <a:tr h="28463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4,9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3,0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20857"/>
                  </a:ext>
                </a:extLst>
              </a:tr>
              <a:tr h="28463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71831"/>
                  </a:ext>
                </a:extLst>
              </a:tr>
              <a:tr h="284639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27732"/>
                  </a:ext>
                </a:extLst>
              </a:tr>
              <a:tr h="260161"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93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216A2AB-9A13-4C19-90A4-AE7534A05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357" y="544740"/>
            <a:ext cx="706491" cy="11102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A478E396-1942-4B61-B9E8-D3F5B8C610B2}"/>
              </a:ext>
            </a:extLst>
          </p:cNvPr>
          <p:cNvSpPr/>
          <p:nvPr/>
        </p:nvSpPr>
        <p:spPr>
          <a:xfrm>
            <a:off x="11576957" y="7492429"/>
            <a:ext cx="639792" cy="605642"/>
          </a:xfrm>
          <a:prstGeom prst="right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FAFB5A-A7B4-410F-B0B6-41946040F515}"/>
              </a:ext>
            </a:extLst>
          </p:cNvPr>
          <p:cNvGrpSpPr/>
          <p:nvPr/>
        </p:nvGrpSpPr>
        <p:grpSpPr>
          <a:xfrm>
            <a:off x="12923241" y="5169635"/>
            <a:ext cx="3764643" cy="2717488"/>
            <a:chOff x="3883064" y="4152404"/>
            <a:chExt cx="8882909" cy="122349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1F3E942-BF16-4F64-9522-5E2381A6F7DB}"/>
                </a:ext>
              </a:extLst>
            </p:cNvPr>
            <p:cNvSpPr/>
            <p:nvPr/>
          </p:nvSpPr>
          <p:spPr>
            <a:xfrm>
              <a:off x="3883064" y="4152404"/>
              <a:ext cx="8882909" cy="1223491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6D620E-7AA3-49FA-B370-C2D34A567CC2}"/>
                </a:ext>
              </a:extLst>
            </p:cNvPr>
            <p:cNvSpPr txBox="1"/>
            <p:nvPr/>
          </p:nvSpPr>
          <p:spPr>
            <a:xfrm>
              <a:off x="4068120" y="4235591"/>
              <a:ext cx="8512795" cy="10936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000" dirty="0" err="1"/>
                <a:t>Implement</a:t>
              </a:r>
              <a:r>
                <a:rPr lang="nl-BE" sz="2000" dirty="0"/>
                <a:t> a script in </a:t>
              </a:r>
              <a:r>
                <a:rPr lang="nl-BE" sz="2000" dirty="0" err="1"/>
                <a:t>which</a:t>
              </a:r>
              <a:r>
                <a:rPr lang="nl-BE" sz="2000" dirty="0"/>
                <a:t> a user </a:t>
              </a:r>
              <a:r>
                <a:rPr lang="nl-BE" sz="2000" dirty="0" err="1"/>
                <a:t>can</a:t>
              </a:r>
              <a:r>
                <a:rPr lang="nl-BE" sz="2000" dirty="0"/>
                <a:t> </a:t>
              </a:r>
              <a:r>
                <a:rPr lang="nl-BE" sz="2000" dirty="0" err="1"/>
                <a:t>insert</a:t>
              </a:r>
              <a:r>
                <a:rPr lang="nl-BE" sz="2000" dirty="0"/>
                <a:t> </a:t>
              </a:r>
              <a:r>
                <a:rPr lang="nl-BE" sz="2000" dirty="0" err="1"/>
                <a:t>values</a:t>
              </a:r>
              <a:r>
                <a:rPr lang="nl-BE" sz="2000" dirty="0"/>
                <a:t> </a:t>
              </a:r>
              <a:r>
                <a:rPr lang="nl-BE" sz="2000" dirty="0" err="1"/>
                <a:t>for</a:t>
              </a:r>
              <a:r>
                <a:rPr lang="nl-BE" sz="2000" dirty="0"/>
                <a:t> SL </a:t>
              </a:r>
              <a:r>
                <a:rPr lang="nl-BE" sz="2000" dirty="0" err="1"/>
                <a:t>and</a:t>
              </a:r>
              <a:r>
                <a:rPr lang="nl-BE" sz="2000"/>
                <a:t> SW. </a:t>
              </a:r>
              <a:r>
                <a:rPr lang="nl-BE" sz="2000" dirty="0"/>
                <a:t>The script </a:t>
              </a:r>
              <a:r>
                <a:rPr lang="nl-BE" sz="2000" dirty="0" err="1"/>
                <a:t>should</a:t>
              </a:r>
              <a:r>
                <a:rPr lang="nl-BE" sz="2000" dirty="0"/>
                <a:t> return </a:t>
              </a:r>
              <a:r>
                <a:rPr lang="nl-BE" sz="2000" dirty="0" err="1"/>
                <a:t>the</a:t>
              </a:r>
              <a:r>
                <a:rPr lang="nl-BE" sz="2000" dirty="0"/>
                <a:t> </a:t>
              </a:r>
              <a:r>
                <a:rPr lang="nl-BE" sz="2000" dirty="0" err="1"/>
                <a:t>predicted</a:t>
              </a:r>
              <a:r>
                <a:rPr lang="nl-BE" sz="2000" dirty="0"/>
                <a:t> species </a:t>
              </a:r>
              <a:r>
                <a:rPr lang="nl-BE" sz="2000" dirty="0" err="1"/>
                <a:t>using</a:t>
              </a:r>
              <a:r>
                <a:rPr lang="nl-BE" sz="2000" dirty="0"/>
                <a:t> </a:t>
              </a:r>
              <a:r>
                <a:rPr lang="nl-BE" sz="2000" dirty="0" err="1"/>
                <a:t>the</a:t>
              </a:r>
              <a:r>
                <a:rPr lang="nl-BE" sz="2000" dirty="0"/>
                <a:t> 1NN approach.</a:t>
              </a:r>
            </a:p>
            <a:p>
              <a:pPr>
                <a:lnSpc>
                  <a:spcPct val="120000"/>
                </a:lnSpc>
              </a:pPr>
              <a:endParaRPr lang="nl-BE" sz="5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423969-A23D-4578-B13B-3C64EF1E113F}"/>
              </a:ext>
            </a:extLst>
          </p:cNvPr>
          <p:cNvGrpSpPr/>
          <p:nvPr/>
        </p:nvGrpSpPr>
        <p:grpSpPr>
          <a:xfrm>
            <a:off x="12923240" y="8103457"/>
            <a:ext cx="3764643" cy="1136568"/>
            <a:chOff x="3883064" y="4152403"/>
            <a:chExt cx="8882909" cy="51171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1A1B3E5-508A-4631-AD11-B2F892EAEF6E}"/>
                </a:ext>
              </a:extLst>
            </p:cNvPr>
            <p:cNvSpPr/>
            <p:nvPr/>
          </p:nvSpPr>
          <p:spPr>
            <a:xfrm>
              <a:off x="3883064" y="4152403"/>
              <a:ext cx="8882909" cy="511714"/>
            </a:xfrm>
            <a:prstGeom prst="roundRect">
              <a:avLst>
                <a:gd name="adj" fmla="val 6123"/>
              </a:avLst>
            </a:prstGeom>
            <a:solidFill>
              <a:srgbClr val="FFFFFF"/>
            </a:solidFill>
            <a:ln w="31750">
              <a:solidFill>
                <a:srgbClr val="1E64C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653D0A-7A82-479E-9B7E-A44F4BEB941E}"/>
                </a:ext>
              </a:extLst>
            </p:cNvPr>
            <p:cNvSpPr txBox="1"/>
            <p:nvPr/>
          </p:nvSpPr>
          <p:spPr>
            <a:xfrm>
              <a:off x="4068120" y="4235591"/>
              <a:ext cx="8512795" cy="4285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200" b="1" dirty="0"/>
                <a:t>Question: </a:t>
              </a:r>
              <a:r>
                <a:rPr lang="nl-BE" sz="2000" dirty="0" err="1"/>
                <a:t>Did</a:t>
              </a:r>
              <a:r>
                <a:rPr lang="nl-BE" sz="2000" dirty="0"/>
                <a:t> </a:t>
              </a:r>
              <a:r>
                <a:rPr lang="nl-BE" sz="2000" dirty="0" err="1"/>
                <a:t>you</a:t>
              </a:r>
              <a:r>
                <a:rPr lang="nl-BE" sz="2000" dirty="0"/>
                <a:t> </a:t>
              </a:r>
              <a:r>
                <a:rPr lang="nl-BE" sz="2000" dirty="0" err="1"/>
                <a:t>consider</a:t>
              </a:r>
              <a:r>
                <a:rPr lang="nl-BE" sz="2000" dirty="0"/>
                <a:t> </a:t>
              </a:r>
              <a:r>
                <a:rPr lang="nl-BE" sz="2000" dirty="0" err="1"/>
                <a:t>scaling</a:t>
              </a:r>
              <a:r>
                <a:rPr lang="nl-BE" sz="2000" dirty="0"/>
                <a:t> </a:t>
              </a:r>
              <a:r>
                <a:rPr lang="nl-BE" sz="2000" dirty="0" err="1"/>
                <a:t>the</a:t>
              </a:r>
              <a:r>
                <a:rPr lang="nl-BE" sz="2000" dirty="0"/>
                <a:t> data?</a:t>
              </a:r>
            </a:p>
            <a:p>
              <a:pPr>
                <a:lnSpc>
                  <a:spcPct val="120000"/>
                </a:lnSpc>
              </a:pPr>
              <a:endParaRPr lang="nl-BE" sz="5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57393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85725" indent="0">
              <a:buNone/>
            </a:pPr>
            <a:r>
              <a:rPr lang="nl-NL" sz="2400" dirty="0"/>
              <a:t>Universiteit Gent</a:t>
            </a:r>
            <a:br>
              <a:rPr lang="nl-NL" sz="2400" dirty="0"/>
            </a:br>
            <a:r>
              <a:rPr lang="nl-NL" sz="2400" dirty="0"/>
              <a:t>@</a:t>
            </a:r>
            <a:r>
              <a:rPr lang="nl-NL" sz="2400" dirty="0" err="1"/>
              <a:t>ugent</a:t>
            </a:r>
            <a:endParaRPr lang="nl-NL" sz="2400" dirty="0"/>
          </a:p>
          <a:p>
            <a:pPr marL="85725" indent="0">
              <a:buNone/>
            </a:pPr>
            <a:r>
              <a:rPr lang="nl-NL" dirty="0"/>
              <a:t>@</a:t>
            </a:r>
            <a:r>
              <a:rPr lang="nl-NL" dirty="0" err="1"/>
              <a:t>ugent</a:t>
            </a:r>
            <a:br>
              <a:rPr lang="nl-NL" sz="2400" dirty="0"/>
            </a:br>
            <a:r>
              <a:rPr lang="nl-NL" sz="2400" dirty="0" err="1"/>
              <a:t>Ghent</a:t>
            </a:r>
            <a:r>
              <a:rPr lang="nl-NL" sz="2400" dirty="0"/>
              <a:t> University</a:t>
            </a:r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sz="3500" dirty="0"/>
              <a:t>Prof. dr. Ir. Jan Verwaeren</a:t>
            </a:r>
            <a:br>
              <a:rPr lang="nl-BE" dirty="0"/>
            </a:br>
            <a:br>
              <a:rPr lang="nl-BE" dirty="0"/>
            </a:br>
            <a:br>
              <a:rPr lang="nl-BE" dirty="0"/>
            </a:br>
            <a:r>
              <a:rPr lang="nl-BE" dirty="0"/>
              <a:t>VAKGROEP DATA-ANALYSE EN WISKUNDIGE MODELLERING</a:t>
            </a:r>
            <a:br>
              <a:rPr lang="nl-BE" cap="all" dirty="0"/>
            </a:br>
            <a:br>
              <a:rPr lang="nl-BE" dirty="0"/>
            </a:br>
            <a:r>
              <a:rPr lang="nl-BE" dirty="0"/>
              <a:t>E	Jan.Verwaeren@ugent.be</a:t>
            </a:r>
            <a:br>
              <a:rPr lang="nl-BE" dirty="0"/>
            </a:br>
            <a:br>
              <a:rPr lang="nl-BE" dirty="0"/>
            </a:br>
            <a:br>
              <a:rPr lang="nl-BE" dirty="0"/>
            </a:br>
            <a:r>
              <a:rPr lang="nl-BE" dirty="0"/>
              <a:t>www.ugent.be</a:t>
            </a:r>
            <a:br>
              <a:rPr lang="nl-BE" dirty="0"/>
            </a:br>
            <a:br>
              <a:rPr lang="nl-BE" dirty="0"/>
            </a:br>
            <a:endParaRPr lang="nl-BE" dirty="0"/>
          </a:p>
        </p:txBody>
      </p:sp>
      <p:pic>
        <p:nvPicPr>
          <p:cNvPr id="5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19" y="3175459"/>
            <a:ext cx="280417" cy="335281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18" y="3592583"/>
            <a:ext cx="280417" cy="356617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C74520F6-8707-4FEE-BDE0-9EEF14E525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351" y="4122000"/>
            <a:ext cx="280643" cy="280800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689CBBB3-E8FD-4305-9EB5-F97F617124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351" y="4560042"/>
            <a:ext cx="280417" cy="28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Gent BW">
      <a:dk1>
        <a:sysClr val="windowText" lastClr="000000"/>
      </a:dk1>
      <a:lt1>
        <a:sysClr val="window" lastClr="FFFFFF"/>
      </a:lt1>
      <a:dk2>
        <a:srgbClr val="1E64C8"/>
      </a:dk2>
      <a:lt2>
        <a:srgbClr val="E9F0FA"/>
      </a:lt2>
      <a:accent1>
        <a:srgbClr val="27ABAD"/>
      </a:accent1>
      <a:accent2>
        <a:srgbClr val="3DB3B5"/>
      </a:accent2>
      <a:accent3>
        <a:srgbClr val="52BCBD"/>
      </a:accent3>
      <a:accent4>
        <a:srgbClr val="68C4C6"/>
      </a:accent4>
      <a:accent5>
        <a:srgbClr val="7DCDCE"/>
      </a:accent5>
      <a:accent6>
        <a:srgbClr val="93D5D6"/>
      </a:accent6>
      <a:hlink>
        <a:srgbClr val="1E64C8"/>
      </a:hlink>
      <a:folHlink>
        <a:srgbClr val="1E64C8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342900" indent="-342900" algn="l">
          <a:lnSpc>
            <a:spcPct val="120000"/>
          </a:lnSpc>
          <a:buFont typeface="Arial" panose="020B0604020202020204" pitchFamily="34" charset="0"/>
          <a:buChar char="–"/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UGent_NL_BW.potx" id="{FF19E9F5-2D6A-42F0-ABCF-BF644E32CFD4}" vid="{7EA86850-3E40-4102-ADC6-991EEE5456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339CAC3FE5A9439143D9B4DD3762DA" ma:contentTypeVersion="13" ma:contentTypeDescription="Een nieuw document maken." ma:contentTypeScope="" ma:versionID="b4e706af01e0bde9c939817249c51f26">
  <xsd:schema xmlns:xsd="http://www.w3.org/2001/XMLSchema" xmlns:xs="http://www.w3.org/2001/XMLSchema" xmlns:p="http://schemas.microsoft.com/office/2006/metadata/properties" xmlns:ns3="e9eefd5e-eb8a-4690-b8a3-e9c1d5bacbad" xmlns:ns4="accf210d-3568-470d-bc24-8f84c293f95d" targetNamespace="http://schemas.microsoft.com/office/2006/metadata/properties" ma:root="true" ma:fieldsID="c4ecd7980e1b85e9d3029b8bff1ecb5f" ns3:_="" ns4:_="">
    <xsd:import namespace="e9eefd5e-eb8a-4690-b8a3-e9c1d5bacbad"/>
    <xsd:import namespace="accf210d-3568-470d-bc24-8f84c293f9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efd5e-eb8a-4690-b8a3-e9c1d5bac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cf210d-3568-470d-bc24-8f84c293f95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E3B5CC-67FF-4383-BDDD-97DA6B22B7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eefd5e-eb8a-4690-b8a3-e9c1d5bacbad"/>
    <ds:schemaRef ds:uri="accf210d-3568-470d-bc24-8f84c293f9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51B2C7-1D72-4CDC-A3F2-06078ACAE4F9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accf210d-3568-470d-bc24-8f84c293f95d"/>
    <ds:schemaRef ds:uri="http://schemas.microsoft.com/office/infopath/2007/PartnerControls"/>
    <ds:schemaRef ds:uri="http://schemas.openxmlformats.org/package/2006/metadata/core-properties"/>
    <ds:schemaRef ds:uri="e9eefd5e-eb8a-4690-b8a3-e9c1d5bacba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5F95DF7-62EF-4155-9E85-73162D80D1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PowerPoint_UGent_NL_BW</Template>
  <TotalTime>0</TotalTime>
  <Words>5726</Words>
  <Application>Microsoft Office PowerPoint</Application>
  <PresentationFormat>Aangepast</PresentationFormat>
  <Paragraphs>1770</Paragraphs>
  <Slides>63</Slides>
  <Notes>9</Notes>
  <HiddenSlides>14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Cambria Math</vt:lpstr>
      <vt:lpstr>Consolas</vt:lpstr>
      <vt:lpstr>Courier New</vt:lpstr>
      <vt:lpstr>Office Theme</vt:lpstr>
      <vt:lpstr>PowerPoint-presentatie</vt:lpstr>
      <vt:lpstr>numpy</vt:lpstr>
      <vt:lpstr>Lecture overview</vt:lpstr>
      <vt:lpstr>contents of this lecture</vt:lpstr>
      <vt:lpstr>Numpy arrays</vt:lpstr>
      <vt:lpstr>Why numpy arrays?</vt:lpstr>
      <vt:lpstr>The 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Basics of Numpy arrays</vt:lpstr>
      <vt:lpstr>Attributes of arrays</vt:lpstr>
      <vt:lpstr>Array indexing</vt:lpstr>
      <vt:lpstr>Array indexing: changing values</vt:lpstr>
      <vt:lpstr>Array indexing: Array slicing</vt:lpstr>
      <vt:lpstr>Array indexing: Array slicing</vt:lpstr>
      <vt:lpstr>Array indexing: Array slicing</vt:lpstr>
      <vt:lpstr>Array indexing: Array slicing</vt:lpstr>
      <vt:lpstr>Array indexing: changing multiple values</vt:lpstr>
      <vt:lpstr>Array indexing: copying arrays</vt:lpstr>
      <vt:lpstr>Basics of Numpy arrays</vt:lpstr>
      <vt:lpstr>Basics of numpy: hidden topics</vt:lpstr>
      <vt:lpstr>Array indexing: reshaping arrays</vt:lpstr>
      <vt:lpstr>Array indexing: reshaping arrays</vt:lpstr>
      <vt:lpstr>Array indexing: reshaping arrays</vt:lpstr>
      <vt:lpstr>Array indexing: concatenating arrays</vt:lpstr>
      <vt:lpstr>Array indexing: concatenating arrays</vt:lpstr>
      <vt:lpstr>Basics of Numpy arrays</vt:lpstr>
      <vt:lpstr>ComputationS on numpy arrays</vt:lpstr>
      <vt:lpstr>Numpy universal functions</vt:lpstr>
      <vt:lpstr>Exploring numpy ufuncs</vt:lpstr>
      <vt:lpstr>Exploring numpy ufuncs</vt:lpstr>
      <vt:lpstr>Exploring numpy ufuncs</vt:lpstr>
      <vt:lpstr>Aggregations &amp; broadcasting</vt:lpstr>
      <vt:lpstr>Aggregations: min, max, etc.</vt:lpstr>
      <vt:lpstr>Aggregations: min, max, etc.</vt:lpstr>
      <vt:lpstr>broadcasting</vt:lpstr>
      <vt:lpstr>Exploring numpy ufuncs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Comparisons, masks and boolean logic</vt:lpstr>
      <vt:lpstr>Fancy indexing and sorting</vt:lpstr>
      <vt:lpstr>Fancy indexing and sorting</vt:lpstr>
      <vt:lpstr>Fancy indexing and sorting</vt:lpstr>
      <vt:lpstr>Fancy indexing and sorting</vt:lpstr>
      <vt:lpstr>Fancy indexing and sorting</vt:lpstr>
      <vt:lpstr>PART II: DS applications of numpy</vt:lpstr>
      <vt:lpstr>Examples of data preparation</vt:lpstr>
      <vt:lpstr>1NN</vt:lpstr>
      <vt:lpstr>Prof. dr. Ir. Jan Verwaeren   VAKGROEP DATA-ANALYSE EN WISKUNDIGE MODELLERING  E Jan.Verwaeren@ugent.be   www.ugent.be  </vt:lpstr>
    </vt:vector>
  </TitlesOfParts>
  <Manager/>
  <Company>UGent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Jan Verwaeren</dc:creator>
  <cp:keywords/>
  <dc:description/>
  <cp:lastModifiedBy>Demir Ali Köse</cp:lastModifiedBy>
  <cp:revision>166</cp:revision>
  <dcterms:created xsi:type="dcterms:W3CDTF">2021-09-23T10:13:31Z</dcterms:created>
  <dcterms:modified xsi:type="dcterms:W3CDTF">2025-12-04T16:51:26Z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1.1</vt:lpwstr>
  </property>
  <property fmtid="{D5CDD505-2E9C-101B-9397-08002B2CF9AE}" pid="4" name="Date">
    <vt:filetime>2019-05-23T22:00:00Z</vt:filetime>
  </property>
  <property fmtid="{D5CDD505-2E9C-101B-9397-08002B2CF9AE}" pid="5" name="Build">
    <vt:lpwstr>20</vt:lpwstr>
  </property>
  <property fmtid="{D5CDD505-2E9C-101B-9397-08002B2CF9AE}" pid="6" name="ContentTypeId">
    <vt:lpwstr>0x010100C9339CAC3FE5A9439143D9B4DD3762DA</vt:lpwstr>
  </property>
</Properties>
</file>